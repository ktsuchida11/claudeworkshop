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51" r:id="rId2"/>
  </p:sldMasterIdLst>
  <p:notesMasterIdLst>
    <p:notesMasterId r:id="rId45"/>
  </p:notesMasterIdLst>
  <p:sldIdLst>
    <p:sldId id="257" r:id="rId3"/>
    <p:sldId id="323" r:id="rId33"/>
    <p:sldId id="306" r:id="rId4"/>
    <p:sldId id="317" r:id="rId5"/>
    <p:sldId id="261" r:id="rId6"/>
    <p:sldId id="262" r:id="rId7"/>
    <p:sldId id="268" r:id="rId8"/>
    <p:sldId id="321" r:id="rId9"/>
    <p:sldId id="273" r:id="rId10"/>
    <p:sldId id="272" r:id="rId11"/>
    <p:sldId id="307" r:id="rId12"/>
    <p:sldId id="274" r:id="rId13"/>
    <p:sldId id="266" r:id="rId14"/>
    <p:sldId id="281" r:id="rId17"/>
    <p:sldId id="320" r:id="rId21"/>
    <p:sldId id="282" r:id="rId22"/>
    <p:sldId id="284" r:id="rId24"/>
    <p:sldId id="288" r:id="rId26"/>
    <p:sldId id="290" r:id="rId27"/>
    <p:sldId id="325" r:id="rId35"/>
    <p:sldId id="326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ED8"/>
    <a:srgbClr val="F0E8DB"/>
    <a:srgbClr val="EFE8D8"/>
    <a:srgbClr val="EDEDED"/>
    <a:srgbClr val="F2F1DD"/>
    <a:srgbClr val="F9FDE6"/>
    <a:srgbClr val="F1FDE4"/>
    <a:srgbClr val="93FF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73"/>
    <p:restoredTop sz="94610"/>
  </p:normalViewPr>
  <p:slideViewPr>
    <p:cSldViewPr snapToGrid="0" snapToObjects="1">
      <p:cViewPr varScale="1">
        <p:scale>
          <a:sx n="183" d="100"/>
          <a:sy n="183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7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4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33" Type="http://schemas.openxmlformats.org/officeDocument/2006/relationships/slide" Target="slides/slide2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91B0E"/>
                </a:solidFill>
              </a:defRPr>
            </a:pPr>
            <a:r>
              <a:rPr lang="ja-JP" sz="1600" b="1">
                <a:solidFill>
                  <a:srgbClr val="191B0E"/>
                </a:solidFill>
              </a:rPr>
              <a:t>総合スコアの推移（15点満点）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スコア</c:v>
          </c:tx>
          <c:spPr>
            <a:solidFill>
              <a:srgbClr val="897B61"/>
            </a:solidFill>
          </c:spPr>
          <c:invertIfNegative val="1"/>
          <c:dLbls>
            <c:numFmt formatCode="General" sourceLinked="0"/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191B0E"/>
                    </a:solidFill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1周目</c:v>
              </c:pt>
              <c:pt idx="1">
                <c:v>2周目</c:v>
              </c:pt>
              <c:pt idx="2">
                <c:v>3周目</c:v>
              </c:pt>
              <c:pt idx="3">
                <c:v>4周目</c:v>
              </c:pt>
              <c:pt idx="4">
                <c:v>5周目</c:v>
              </c:pt>
            </c:strLit>
          </c:cat>
          <c:val>
            <c:numLit>
              <c:formatCode>General</c:formatCode>
              <c:ptCount val="5"/>
              <c:pt idx="0">
                <c:v>7</c:v>
              </c:pt>
              <c:pt idx="1">
                <c:v>11</c:v>
              </c:pt>
              <c:pt idx="2">
                <c:v>12</c:v>
              </c:pt>
              <c:pt idx="3">
                <c:v>13</c:v>
              </c:pt>
              <c:pt idx="4">
                <c:v>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2AD-BD4C-8022-4A75B8392D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3A3A2E"/>
                </a:solidFill>
              </a:defRPr>
            </a:pPr>
            <a:endParaRPr lang="ja-JP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5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A3A2E"/>
                </a:solidFill>
              </a:defRPr>
            </a:pPr>
            <a:endParaRPr lang="ja-JP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22533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TL"/>
          <p:cNvSpPr/>
          <p:nvPr/>
        </p:nvSpPr>
        <p:spPr>
          <a:xfrm>
            <a:off x="317500" y="317500"/>
            <a:ext cx="50800" cy="5461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BracketBRv"/>
          <p:cNvSpPr/>
          <p:nvPr/>
        </p:nvSpPr>
        <p:spPr>
          <a:xfrm>
            <a:off x="8699500" y="3835400"/>
            <a:ext cx="76200" cy="10033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BracketBRh"/>
          <p:cNvSpPr/>
          <p:nvPr/>
        </p:nvSpPr>
        <p:spPr>
          <a:xfrm>
            <a:off x="7912100" y="4775200"/>
            <a:ext cx="863600" cy="508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A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AccentBarTL"/>
          <p:cNvSpPr/>
          <p:nvPr/>
        </p:nvSpPr>
        <p:spPr>
          <a:xfrm>
            <a:off x="317500" y="317500"/>
            <a:ext cx="50800" cy="5461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2" name="BracketBRv"/>
          <p:cNvSpPr/>
          <p:nvPr/>
        </p:nvSpPr>
        <p:spPr>
          <a:xfrm>
            <a:off x="8699500" y="3835400"/>
            <a:ext cx="76200" cy="10033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3" name="BracketBRh"/>
          <p:cNvSpPr/>
          <p:nvPr/>
        </p:nvSpPr>
        <p:spPr>
          <a:xfrm>
            <a:off x="7912100" y="4775200"/>
            <a:ext cx="863600" cy="50800"/>
          </a:xfrm>
          <a:prstGeom prst="rect">
            <a:avLst/>
          </a:prstGeom>
          <a:solidFill>
            <a:srgbClr val="191B0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xStyles>
    <p:titleStyle>
      <a:lvl1pPr>
        <a:defRPr sz="4400">
          <a:solidFill>
            <a:srgbClr val="191B0E"/>
          </a:solidFill>
        </a:defRPr>
      </a:lvl1pPr>
    </p:titleStyle>
    <p:bodyStyle>
      <a:lvl1pPr>
        <a:defRPr sz="1800">
          <a:solidFill>
            <a:srgbClr val="191B0E"/>
          </a:solidFill>
        </a:defRPr>
      </a:lvl1pPr>
    </p:bodyStyle>
    <p:otherStyle>
      <a:lvl1pPr>
        <a:defRPr sz="1800"/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Arial"/>
              </a:rPr>
              <a:t>CLAUDE CODE 勉強会  /  全10回シリーズ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CADCFC"/>
                </a:solidFill>
                <a:latin typeface="Arial Black"/>
              </a:rPr>
              <a:t>第 8 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8229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Meiryo"/>
              </a:rPr>
              <a:t>自己改善ループ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80360"/>
            <a:ext cx="731520" cy="5486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ADCFC"/>
                </a:solidFill>
                <a:latin typeface="Meiryo"/>
              </a:rPr>
              <a:t>AI が毎日、自分で賢くなっていく仕組み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Meiryo"/>
              </a:rPr>
              <a:t>今日のテーマ:  自己改善エージェントが回る仕組みと、ループが破綻しない前提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61104"/>
            <a:ext cx="8229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C800"/>
                </a:solidFill>
                <a:latin typeface="Meiryo"/>
              </a:rPr>
              <a:t>★ 覚えて帰る一言: 「正解があれば毎日賢くなる」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Meiryo"/>
              </a:rPr>
              <a:t>土田　晃司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6634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CADCFC"/>
                </a:solidFill>
                <a:latin typeface="Arial"/>
              </a:rPr>
              <a:t>● ● ● ● ● ● ● ● ○ ○</a:t>
            </a:r>
          </a:p>
        </p:txBody>
      </p:sp>
    </p:spTree>
    <p:extLst>
      <p:ext uri="{BB962C8B-B14F-4D97-AF65-F5344CB8AC3E}">
        <p14:creationId xmlns:p14="http://schemas.microsoft.com/office/powerpoint/2010/main" val="273631863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46888"/>
            <a:ext cx="64008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Meiryo"/>
              </a:rPr>
              <a:t>用語ミニ辞典 ― 迷ったらここに戻る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eiryo"/>
              </a:rPr>
              <a:t>この回で初めて出てくる用語を1行で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822960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ハーネス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LLM に仕事をさせる「足場」。道具・検証・完了条件をひとまとめにした実行環境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エージェント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目標に向けて自分で手順を選び、道具を使って動く AI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gold_standard（教師データ）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採点の基準となる「正解」。ここでは筆者の実レポート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Generator / Evaluator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生成する役と採点する役。物理的に分けて回す（カンニング防止）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Cron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決まった時刻に処理を自動起動する仕組み（定時実行）</a:t>
            </a:r>
          </a:p>
          <a:p>
            <a:pPr algn="l">
              <a:spcAft>
                <a:spcPts val="900"/>
              </a:spcAft>
            </a:pPr>
            <a:r>
              <a:rPr sz="1300" b="1">
                <a:solidFill>
                  <a:srgbClr val="1E2761"/>
                </a:solidFill>
                <a:latin typeface="Meiryo"/>
              </a:rPr>
              <a:t>●  </a:t>
            </a:r>
            <a:r>
              <a:rPr sz="1300" b="1">
                <a:solidFill>
                  <a:srgbClr val="1E2761"/>
                </a:solidFill>
                <a:latin typeface="Meiryo"/>
              </a:rPr>
              <a:t>Overfitting（過学習）</a:t>
            </a:r>
            <a:r>
              <a:rPr sz="1200" b="0">
                <a:solidFill>
                  <a:srgbClr val="2D3748"/>
                </a:solidFill>
                <a:latin typeface="Meiryo"/>
              </a:rPr>
              <a:t>　＝　</a:t>
            </a:r>
            <a:r>
              <a:rPr sz="1200" b="0">
                <a:solidFill>
                  <a:srgbClr val="2D3748"/>
                </a:solidFill>
                <a:latin typeface="Meiryo"/>
              </a:rPr>
              <a:t>その日だけ効くルールを覚えてしまい、他の日で使えなくなること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8229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eiryo"/>
              </a:rPr>
              <a:t>★ 用語が分からなくなったらここへ戻ってください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" y="246888"/>
            <a:ext cx="64008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229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Meiryo"/>
              </a:rPr>
              <a:t>今日の位置と、本日の流れ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8412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eiryo"/>
              </a:rPr>
              <a:t>前回の続き ― 今日の到達点とアジェンダ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eiryo"/>
              </a:rPr>
              <a:t>シリーズの中の位置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291840" cy="566928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746504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4748B"/>
                </a:solidFill>
                <a:latin typeface="Meiryo"/>
              </a:rPr>
              <a:t>前回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D3748"/>
                </a:solidFill>
                <a:latin typeface="Meiryo"/>
              </a:rPr>
              <a:t>第7回  ユースケース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691640"/>
            <a:ext cx="457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96167"/>
                </a:solidFill>
                <a:latin typeface="Meiryo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691640"/>
            <a:ext cx="3291840" cy="566928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746504"/>
            <a:ext cx="3017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Meiryo"/>
              </a:rPr>
              <a:t>今回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947672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"/>
              </a:rPr>
              <a:t>第8回  自己改善エージェント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9748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64748B"/>
                </a:solidFill>
                <a:latin typeface="Meiryo"/>
              </a:rPr>
              <a:t>本日の流れ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8183879" cy="402336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" y="3108960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063240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eiryo"/>
              </a:rPr>
              <a:t>コンセプトと全体像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063240"/>
            <a:ext cx="3520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iryo"/>
              </a:rPr>
              <a:t>何をする・なぜ毎日回るのか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538728"/>
            <a:ext cx="8183879" cy="402336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76656" y="3584448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" y="3538728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eiryo"/>
              </a:rPr>
              <a:t>アーキテクチャ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538728"/>
            <a:ext cx="3520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iryo"/>
              </a:rPr>
              <a:t>標準機能でどう実装したか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014216"/>
            <a:ext cx="8183879" cy="402336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6656" y="405993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0432" y="4014216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eiryo"/>
              </a:rPr>
              <a:t>まとめ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014216"/>
            <a:ext cx="3520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iryo"/>
              </a:rPr>
              <a:t>転用できる「設計の型」5つ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89704"/>
            <a:ext cx="8183879" cy="402336"/>
          </a:xfrm>
          <a:prstGeom prst="roundRect">
            <a:avLst/>
          </a:prstGeom>
          <a:solidFill>
            <a:srgbClr val="F8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6656" y="4535424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4489704"/>
            <a:ext cx="42062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Meiryo"/>
              </a:rPr>
              <a:t>Q &amp;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4489704"/>
            <a:ext cx="35204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eiryo"/>
              </a:rPr>
              <a:t>質疑応答・参照ファイル</a:t>
            </a:r>
          </a:p>
        </p:txBody>
      </p:sp>
    </p:spTree>
    <p:extLst>
      <p:ext uri="{BB962C8B-B14F-4D97-AF65-F5344CB8AC3E}">
        <p14:creationId xmlns:p14="http://schemas.microsoft.com/office/powerpoint/2010/main" val="1191036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A9BC3A-A72C-1841-BE1C-5849DBA2113F}"/>
              </a:ext>
            </a:extLst>
          </p:cNvPr>
          <p:cNvSpPr txBox="1"/>
          <p:nvPr/>
        </p:nvSpPr>
        <p:spPr>
          <a:xfrm>
            <a:off x="762000" y="14986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b="1">
                <a:solidFill>
                  <a:srgbClr val="CADCFC"/>
                </a:solidFill>
              </a:rPr>
              <a:t>PART 1</a:t>
            </a:r>
            <a:endParaRPr lang="ja-JP" altLang="en-US" b="1">
              <a:solidFill>
                <a:srgbClr val="64748B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8E4C27C-E1CC-AE4C-99AB-9E64F7B29FC2}"/>
              </a:ext>
            </a:extLst>
          </p:cNvPr>
          <p:cNvSpPr txBox="1"/>
          <p:nvPr/>
        </p:nvSpPr>
        <p:spPr>
          <a:xfrm>
            <a:off x="762000" y="1905000"/>
            <a:ext cx="7620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4000" b="1">
                <a:solidFill>
                  <a:srgbClr val="FFFFFF"/>
                </a:solidFill>
              </a:rPr>
              <a:t>コンセプトと全体像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7AAB413-0523-974E-A1DC-1F73567E036C}"/>
              </a:ext>
            </a:extLst>
          </p:cNvPr>
          <p:cNvSpPr/>
          <p:nvPr/>
        </p:nvSpPr>
        <p:spPr>
          <a:xfrm>
            <a:off x="4191000" y="2794000"/>
            <a:ext cx="762000" cy="38100"/>
          </a:xfrm>
          <a:prstGeom prst="rect">
            <a:avLst/>
          </a:prstGeom>
          <a:solidFill>
            <a:srgbClr val="F9616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68E620A-A8F8-FE49-8BCA-C1D7D8A34207}"/>
              </a:ext>
            </a:extLst>
          </p:cNvPr>
          <p:cNvSpPr txBox="1"/>
          <p:nvPr/>
        </p:nvSpPr>
        <p:spPr>
          <a:xfrm>
            <a:off x="762000" y="3098800"/>
            <a:ext cx="7620000" cy="1219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600" i="1">
                <a:solidFill>
                  <a:srgbClr val="CADCFC"/>
                </a:solidFill>
              </a:rPr>
              <a:t>ここでは「何をするものか」「なぜうまく回るのか」を、非エンジニアも含めて共有する。</a:t>
            </a:r>
          </a:p>
          <a:p>
            <a:pPr algn="l">
              <a:spcBef>
                <a:spcPts val="600"/>
              </a:spcBef>
            </a:pPr>
            <a:r>
              <a:rPr lang="ja-JP" altLang="en-US" sz="1500" i="1">
                <a:solidFill>
                  <a:srgbClr val="CADCFC"/>
                </a:solidFill>
              </a:rPr>
              <a:t>題材は市場レポート（為替など）の日次配信だが、肝は「正解（教師データ）が既にある業務」だという点 ― あなたの仕事でも「正解を定義できるか」が出発点になる。</a:t>
            </a:r>
          </a:p>
        </p:txBody>
      </p:sp>
    </p:spTree>
    <p:extLst>
      <p:ext uri="{BB962C8B-B14F-4D97-AF65-F5344CB8AC3E}">
        <p14:creationId xmlns:p14="http://schemas.microsoft.com/office/powerpoint/2010/main" val="291054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16EBF59-F2A8-A74E-B1B4-2F7CE3503764}"/>
              </a:ext>
            </a:extLst>
          </p:cNvPr>
          <p:cNvSpPr txBox="1"/>
          <p:nvPr/>
        </p:nvSpPr>
        <p:spPr>
          <a:xfrm>
            <a:off x="546100" y="228600"/>
            <a:ext cx="8026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一言でいうと</a:t>
            </a:r>
          </a:p>
        </p:txBody>
      </p:sp>
      <p:sp>
        <p:nvSpPr>
          <p:cNvPr id="3" name="角丸四角形 2">
            <a:extLst>
              <a:ext uri="{FF2B5EF4-FFF2-40B4-BE49-F238E27FC236}">
                <a16:creationId xmlns:a16="http://schemas.microsoft.com/office/drawing/2014/main" id="{07EDC92C-E141-C443-84DA-C3331BE3D937}"/>
              </a:ext>
            </a:extLst>
          </p:cNvPr>
          <p:cNvSpPr/>
          <p:nvPr/>
        </p:nvSpPr>
        <p:spPr>
          <a:xfrm>
            <a:off x="546100" y="889000"/>
            <a:ext cx="8026400" cy="1066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836A3A0-8EB5-434D-A551-32E82861FF30}"/>
              </a:ext>
            </a:extLst>
          </p:cNvPr>
          <p:cNvSpPr txBox="1"/>
          <p:nvPr/>
        </p:nvSpPr>
        <p:spPr>
          <a:xfrm>
            <a:off x="736600" y="1016000"/>
            <a:ext cx="7645400" cy="838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700" b="1">
                <a:solidFill>
                  <a:srgbClr val="1E2761"/>
                </a:solidFill>
              </a:rPr>
              <a:t>市場レポート（為替など）の「全体総括＋本日の注目ポイント」を AI が下書きし、筆者が配信した実レポート（＝正解）と毎日突き合わせて、自分の書き方ルールを自動更新するエージェント。</a:t>
            </a:r>
            <a:r>
              <a:rPr lang="en" altLang="ja-JP" sz="1700" b="1">
                <a:solidFill>
                  <a:srgbClr val="1E2761"/>
                </a:solidFill>
              </a:rPr>
              <a:t/>
            </a:r>
            <a:r>
              <a:rPr lang="ja-JP" altLang="en-US" sz="1700" b="1">
                <a:solidFill>
                  <a:srgbClr val="1E2761"/>
                </a:solidFill>
              </a:rPr>
              <a:t/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F5B65578-A1F7-7C43-9B6D-6F2FEF11F589}"/>
              </a:ext>
            </a:extLst>
          </p:cNvPr>
          <p:cNvSpPr/>
          <p:nvPr/>
        </p:nvSpPr>
        <p:spPr>
          <a:xfrm>
            <a:off x="673100" y="2260600"/>
            <a:ext cx="2286000" cy="838200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 dirty="0">
                <a:solidFill>
                  <a:srgbClr val="1E2761"/>
                </a:solidFill>
              </a:rPr>
              <a:t>【</a:t>
            </a:r>
            <a:r>
              <a:rPr lang="ja-JP" altLang="en-US" sz="1400" b="1">
                <a:solidFill>
                  <a:srgbClr val="1E2761"/>
                </a:solidFill>
              </a:rPr>
              <a:t>朝</a:t>
            </a:r>
            <a:r>
              <a:rPr lang="en-US" altLang="ja-JP" sz="1400" b="1" dirty="0">
                <a:solidFill>
                  <a:srgbClr val="1E2761"/>
                </a:solidFill>
              </a:rPr>
              <a:t>】</a:t>
            </a:r>
            <a:r>
              <a:rPr lang="en" altLang="ja-JP" sz="1400" b="1" dirty="0">
                <a:solidFill>
                  <a:srgbClr val="1E2761"/>
                </a:solidFill>
              </a:rPr>
              <a:t>AI </a:t>
            </a:r>
            <a:r>
              <a:rPr lang="ja-JP" altLang="en-US" sz="1400" b="1">
                <a:solidFill>
                  <a:srgbClr val="1E2761"/>
                </a:solidFill>
              </a:rPr>
              <a:t>がドラフトを書く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BA9D8A5D-D0CE-C44A-A3F9-2AF2213A3D38}"/>
              </a:ext>
            </a:extLst>
          </p:cNvPr>
          <p:cNvSpPr/>
          <p:nvPr/>
        </p:nvSpPr>
        <p:spPr>
          <a:xfrm>
            <a:off x="3175000" y="2260600"/>
            <a:ext cx="2286000" cy="8382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【</a:t>
            </a:r>
            <a:r>
              <a:rPr lang="ja-JP" altLang="en-US" sz="1400" b="1">
                <a:solidFill>
                  <a:srgbClr val="FFFFFF"/>
                </a:solidFill>
              </a:rPr>
              <a:t>昼</a:t>
            </a:r>
            <a:r>
              <a:rPr lang="en-US" altLang="ja-JP" sz="1400" b="1">
                <a:solidFill>
                  <a:srgbClr val="FFFFFF"/>
                </a:solidFill>
              </a:rPr>
              <a:t>】</a:t>
            </a:r>
            <a:r>
              <a:rPr lang="ja-JP" altLang="en-US" sz="1400" b="1">
                <a:solidFill>
                  <a:srgbClr val="FFFFFF"/>
                </a:solidFill>
              </a:rPr>
              <a:t>実レポートと比べ採点・反省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2E0CB1B4-41B2-8549-861B-C2C3D04DC302}"/>
              </a:ext>
            </a:extLst>
          </p:cNvPr>
          <p:cNvSpPr/>
          <p:nvPr/>
        </p:nvSpPr>
        <p:spPr>
          <a:xfrm>
            <a:off x="5676900" y="2260600"/>
            <a:ext cx="2286000" cy="8382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【</a:t>
            </a:r>
            <a:r>
              <a:rPr lang="ja-JP" altLang="en-US" sz="1400" b="1">
                <a:solidFill>
                  <a:srgbClr val="FFFFFF"/>
                </a:solidFill>
              </a:rPr>
              <a:t>翌朝</a:t>
            </a:r>
            <a:r>
              <a:rPr lang="en-US" altLang="ja-JP" sz="1400" b="1">
                <a:solidFill>
                  <a:srgbClr val="FFFFFF"/>
                </a:solidFill>
              </a:rPr>
              <a:t>】</a:t>
            </a:r>
            <a:r>
              <a:rPr lang="ja-JP" altLang="en-US" sz="1400" b="1">
                <a:solidFill>
                  <a:srgbClr val="FFFFFF"/>
                </a:solidFill>
              </a:rPr>
              <a:t>反省を踏まえてまた書く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E08321E-6986-4B4D-9594-6FC1357ECC89}"/>
              </a:ext>
            </a:extLst>
          </p:cNvPr>
          <p:cNvSpPr txBox="1"/>
          <p:nvPr/>
        </p:nvSpPr>
        <p:spPr>
          <a:xfrm>
            <a:off x="2861096" y="2489200"/>
            <a:ext cx="279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0B21C7B-B9C5-3147-8588-232D738ABD4A}"/>
              </a:ext>
            </a:extLst>
          </p:cNvPr>
          <p:cNvSpPr txBox="1"/>
          <p:nvPr/>
        </p:nvSpPr>
        <p:spPr>
          <a:xfrm>
            <a:off x="5374740" y="2489200"/>
            <a:ext cx="279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4409593-A93A-3A4B-9E1A-F5BC64658989}"/>
              </a:ext>
            </a:extLst>
          </p:cNvPr>
          <p:cNvSpPr txBox="1"/>
          <p:nvPr/>
        </p:nvSpPr>
        <p:spPr>
          <a:xfrm>
            <a:off x="546100" y="3687552"/>
            <a:ext cx="80264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700" b="1">
                <a:solidFill>
                  <a:srgbClr val="1E2761"/>
                </a:solidFill>
              </a:rPr>
              <a:t>ポイントは「生成」と「評価・学習」を別々の役割に分けて回していること。</a:t>
            </a: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F9FE3F3A-7043-1546-BB7C-9039C11AF840}"/>
              </a:ext>
            </a:extLst>
          </p:cNvPr>
          <p:cNvSpPr/>
          <p:nvPr/>
        </p:nvSpPr>
        <p:spPr>
          <a:xfrm>
            <a:off x="546100" y="4114800"/>
            <a:ext cx="80264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i="1">
                <a:solidFill>
                  <a:srgbClr val="2D3748"/>
                </a:solidFill>
              </a:rPr>
              <a:t>「書く役」と「採点する役」を分けるのが、このシステム全体を貫く設計思想。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F8850FA2-EDFF-BF44-8323-B797C6322AA1}"/>
              </a:ext>
            </a:extLst>
          </p:cNvPr>
          <p:cNvSpPr/>
          <p:nvPr/>
        </p:nvSpPr>
        <p:spPr>
          <a:xfrm>
            <a:off x="736600" y="3209026"/>
            <a:ext cx="7226300" cy="254000"/>
          </a:xfrm>
          <a:prstGeom prst="roundRect">
            <a:avLst/>
          </a:prstGeom>
          <a:solidFill>
            <a:srgbClr val="E2E8F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200" i="1">
                <a:solidFill>
                  <a:srgbClr val="2D3748"/>
                </a:solidFill>
              </a:rPr>
              <a:t>↺ 毎日くり返す（昨日の反省 → 今日の生成）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6888"/>
            <a:ext cx="64008" cy="4714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989012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23C25DF-710C-C248-A309-C744ADA78B51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生成ルールの明確化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F5CD31-8BA7-0144-BF85-693C2455E26C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>
                <a:solidFill>
                  <a:srgbClr val="F96167"/>
                </a:solidFill>
              </a:rPr>
              <a:t>誰のための、何を満たせば成功のレポートなのか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C2EC68-5758-1C44-A9AC-E2E08DC58FFE}"/>
              </a:ext>
            </a:extLst>
          </p:cNvPr>
          <p:cNvSpPr txBox="1"/>
          <p:nvPr/>
        </p:nvSpPr>
        <p:spPr>
          <a:xfrm>
            <a:off x="546100" y="1092200"/>
            <a:ext cx="8026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500">
                <a:solidFill>
                  <a:srgbClr val="2D3748"/>
                </a:solidFill>
              </a:rPr>
              <a:t>•　主読者は、為替などの市場リスクにさらされる企業の リスクマネジメント担当者（purpose.md）</a:t>
            </a:r>
            <a:r>
              <a:rPr lang="ja-JP" altLang="en-US" sz="1500">
                <a:solidFill>
                  <a:srgbClr val="2D3748"/>
                </a:solidFill>
              </a:rPr>
              <a:t/>
            </a:r>
            <a:r>
              <a:rPr lang="en" altLang="ja-JP" sz="1500">
                <a:solidFill>
                  <a:srgbClr val="2D3748"/>
                </a:solidFill>
              </a:rPr>
              <a:t/>
            </a:r>
            <a:r>
              <a:rPr lang="ja-JP" altLang="en" sz="1500">
                <a:solidFill>
                  <a:srgbClr val="2D3748"/>
                </a:solidFill>
              </a:rPr>
              <a:t/>
            </a:r>
            <a:endParaRPr lang="ja-JP" altLang="en-US" sz="1500">
              <a:solidFill>
                <a:srgbClr val="2D3748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2E18D2-0CB2-314D-8E72-88C9D00E2B10}"/>
              </a:ext>
            </a:extLst>
          </p:cNvPr>
          <p:cNvSpPr txBox="1"/>
          <p:nvPr/>
        </p:nvSpPr>
        <p:spPr>
          <a:xfrm>
            <a:off x="546100" y="1422400"/>
            <a:ext cx="8026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500" dirty="0">
                <a:solidFill>
                  <a:srgbClr val="2D3748"/>
                </a:solidFill>
              </a:rPr>
              <a:t>•</a:t>
            </a:r>
            <a:r>
              <a:rPr lang="ja-JP" altLang="en-US" sz="1500">
                <a:solidFill>
                  <a:srgbClr val="2D3748"/>
                </a:solidFill>
              </a:rPr>
              <a:t>　だから速報性より「何が起き得るか・自社のリスクにどう波及するか」を重視する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09F1656-5C46-7C47-9CDB-7AD11B1AB808}"/>
              </a:ext>
            </a:extLst>
          </p:cNvPr>
          <p:cNvSpPr/>
          <p:nvPr/>
        </p:nvSpPr>
        <p:spPr>
          <a:xfrm>
            <a:off x="546100" y="1828800"/>
            <a:ext cx="8026400" cy="406400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600" b="1">
                <a:solidFill>
                  <a:srgbClr val="FFFFFF"/>
                </a:solidFill>
              </a:rPr>
              <a:t>成功の定義は ＝「今日考え得るリスクシナリオを提示できている」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7EFD52DE-429E-554C-B521-5602F2987D75}"/>
              </a:ext>
            </a:extLst>
          </p:cNvPr>
          <p:cNvSpPr/>
          <p:nvPr/>
        </p:nvSpPr>
        <p:spPr>
          <a:xfrm>
            <a:off x="546100" y="2413000"/>
            <a:ext cx="1930400" cy="1473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2387C7D-CA53-E44A-A4D5-687D5D995430}"/>
              </a:ext>
            </a:extLst>
          </p:cNvPr>
          <p:cNvSpPr txBox="1"/>
          <p:nvPr/>
        </p:nvSpPr>
        <p:spPr>
          <a:xfrm>
            <a:off x="673100" y="2540000"/>
            <a:ext cx="16764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1E2761"/>
                </a:solidFill>
              </a:rPr>
              <a:t>① </a:t>
            </a:r>
            <a:r>
              <a:rPr lang="ja-JP" altLang="en-US" sz="1600" b="1">
                <a:solidFill>
                  <a:srgbClr val="1E2761"/>
                </a:solidFill>
              </a:rPr>
              <a:t>連続性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2571337-4436-C64C-9FC4-F057496AA0AD}"/>
              </a:ext>
            </a:extLst>
          </p:cNvPr>
          <p:cNvSpPr txBox="1"/>
          <p:nvPr/>
        </p:nvSpPr>
        <p:spPr>
          <a:xfrm>
            <a:off x="673100" y="3073400"/>
            <a:ext cx="16764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50">
                <a:solidFill>
                  <a:srgbClr val="2D3748"/>
                </a:solidFill>
              </a:rPr>
              <a:t>前日見通しの答え合わせ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73A3197A-04F8-C743-99BF-AD59F6A752BD}"/>
              </a:ext>
            </a:extLst>
          </p:cNvPr>
          <p:cNvSpPr/>
          <p:nvPr/>
        </p:nvSpPr>
        <p:spPr>
          <a:xfrm>
            <a:off x="2616200" y="2413000"/>
            <a:ext cx="1930400" cy="1473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6FE722E-7D2B-D046-B154-77832EF90E6E}"/>
              </a:ext>
            </a:extLst>
          </p:cNvPr>
          <p:cNvSpPr txBox="1"/>
          <p:nvPr/>
        </p:nvSpPr>
        <p:spPr>
          <a:xfrm>
            <a:off x="2743200" y="2540000"/>
            <a:ext cx="16764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600" b="1" dirty="0">
                <a:solidFill>
                  <a:srgbClr val="1E2761"/>
                </a:solidFill>
              </a:rPr>
              <a:t>② </a:t>
            </a:r>
            <a:r>
              <a:rPr lang="ja-JP" altLang="en-US" sz="1600" b="1">
                <a:solidFill>
                  <a:srgbClr val="1E2761"/>
                </a:solidFill>
              </a:rPr>
              <a:t>根拠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8A6F624-2B9A-E24F-914D-2F673BE70ED0}"/>
              </a:ext>
            </a:extLst>
          </p:cNvPr>
          <p:cNvSpPr txBox="1"/>
          <p:nvPr/>
        </p:nvSpPr>
        <p:spPr>
          <a:xfrm>
            <a:off x="2743200" y="3073400"/>
            <a:ext cx="16764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50">
                <a:solidFill>
                  <a:srgbClr val="2D3748"/>
                </a:solidFill>
              </a:rPr>
              <a:t>事実とセットの要因提示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99366712-F2FF-0C40-8B3E-4D0520ED0A5D}"/>
              </a:ext>
            </a:extLst>
          </p:cNvPr>
          <p:cNvSpPr/>
          <p:nvPr/>
        </p:nvSpPr>
        <p:spPr>
          <a:xfrm>
            <a:off x="4686300" y="2413000"/>
            <a:ext cx="1930400" cy="1473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1E6E149-30B9-064A-B33E-DB6BD8FAE928}"/>
              </a:ext>
            </a:extLst>
          </p:cNvPr>
          <p:cNvSpPr txBox="1"/>
          <p:nvPr/>
        </p:nvSpPr>
        <p:spPr>
          <a:xfrm>
            <a:off x="4813300" y="2540000"/>
            <a:ext cx="16764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600" b="1" dirty="0">
                <a:solidFill>
                  <a:srgbClr val="1E2761"/>
                </a:solidFill>
              </a:rPr>
              <a:t>③ </a:t>
            </a:r>
            <a:r>
              <a:rPr lang="ja-JP" altLang="en-US" sz="1600" b="1">
                <a:solidFill>
                  <a:srgbClr val="1E2761"/>
                </a:solidFill>
              </a:rPr>
              <a:t>アクショナブル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ED144C1-83C6-BC4A-81C2-847C003BDBA8}"/>
              </a:ext>
            </a:extLst>
          </p:cNvPr>
          <p:cNvSpPr txBox="1"/>
          <p:nvPr/>
        </p:nvSpPr>
        <p:spPr>
          <a:xfrm>
            <a:off x="4813300" y="3073400"/>
            <a:ext cx="16764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50">
                <a:solidFill>
                  <a:srgbClr val="2D3748"/>
                </a:solidFill>
              </a:rPr>
              <a:t>備えるべきか判断できる粒度</a:t>
            </a:r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2AAA8935-FA7B-7046-897C-536993D0632D}"/>
              </a:ext>
            </a:extLst>
          </p:cNvPr>
          <p:cNvSpPr/>
          <p:nvPr/>
        </p:nvSpPr>
        <p:spPr>
          <a:xfrm>
            <a:off x="6756400" y="2413000"/>
            <a:ext cx="1930400" cy="1473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8CBAC1F-CA21-104F-8C40-5AED5A85418F}"/>
              </a:ext>
            </a:extLst>
          </p:cNvPr>
          <p:cNvSpPr txBox="1"/>
          <p:nvPr/>
        </p:nvSpPr>
        <p:spPr>
          <a:xfrm>
            <a:off x="6883400" y="2540000"/>
            <a:ext cx="16764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600" b="1">
                <a:solidFill>
                  <a:srgbClr val="1E2761"/>
                </a:solidFill>
              </a:rPr>
              <a:t>④ </a:t>
            </a:r>
            <a:r>
              <a:rPr lang="ja-JP" altLang="en-US" sz="1600" b="1">
                <a:solidFill>
                  <a:srgbClr val="1E2761"/>
                </a:solidFill>
              </a:rPr>
              <a:t>因果の明示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4E6CBEE-424E-FA4B-9288-DFE4D1A98EE4}"/>
              </a:ext>
            </a:extLst>
          </p:cNvPr>
          <p:cNvSpPr txBox="1"/>
          <p:nvPr/>
        </p:nvSpPr>
        <p:spPr>
          <a:xfrm>
            <a:off x="6883400" y="3073400"/>
            <a:ext cx="16764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50">
                <a:solidFill>
                  <a:srgbClr val="2D3748"/>
                </a:solidFill>
              </a:rPr>
              <a:t>事実の羅列でなく波及経路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780534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B3E426E-766E-2648-9507-1E81C720BAC6}"/>
              </a:ext>
            </a:extLst>
          </p:cNvPr>
          <p:cNvSpPr txBox="1"/>
          <p:nvPr/>
        </p:nvSpPr>
        <p:spPr>
          <a:xfrm>
            <a:off x="546100" y="228600"/>
            <a:ext cx="80264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600" b="1">
                <a:solidFill>
                  <a:srgbClr val="1E2761"/>
                </a:solidFill>
              </a:rPr>
              <a:t>なぜ破綻せず回るのか </a:t>
            </a:r>
            <a:r>
              <a:rPr lang="en-US" altLang="ja-JP" sz="2600" b="1">
                <a:solidFill>
                  <a:srgbClr val="1E2761"/>
                </a:solidFill>
              </a:rPr>
              <a:t>― 2 </a:t>
            </a:r>
            <a:r>
              <a:rPr lang="ja-JP" altLang="en-US" sz="2600" b="1">
                <a:solidFill>
                  <a:srgbClr val="1E2761"/>
                </a:solidFill>
              </a:rPr>
              <a:t>つの前提と </a:t>
            </a:r>
            <a:r>
              <a:rPr lang="en-US" altLang="ja-JP" sz="2600" b="1">
                <a:solidFill>
                  <a:srgbClr val="1E2761"/>
                </a:solidFill>
              </a:rPr>
              <a:t>4 </a:t>
            </a:r>
            <a:r>
              <a:rPr lang="ja-JP" altLang="en-US" sz="2600" b="1">
                <a:solidFill>
                  <a:srgbClr val="1E2761"/>
                </a:solidFill>
              </a:rPr>
              <a:t>原則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0E0C9A2-D19E-8342-B3D6-AF9F6AD0F277}"/>
              </a:ext>
            </a:extLst>
          </p:cNvPr>
          <p:cNvSpPr txBox="1"/>
          <p:nvPr/>
        </p:nvSpPr>
        <p:spPr>
          <a:xfrm>
            <a:off x="546100" y="660400"/>
            <a:ext cx="8026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>
                <a:solidFill>
                  <a:srgbClr val="64748B"/>
                </a:solidFill>
              </a:rPr>
              <a:t>ループが回る「条件（前提）」と、暴走を防ぐ「設計（憲法）」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3C59137-B816-864A-B04A-CF9B1BE0476D}"/>
              </a:ext>
            </a:extLst>
          </p:cNvPr>
          <p:cNvSpPr txBox="1"/>
          <p:nvPr/>
        </p:nvSpPr>
        <p:spPr>
          <a:xfrm>
            <a:off x="546100" y="965200"/>
            <a:ext cx="8026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64748B"/>
                </a:solidFill>
              </a:rPr>
              <a:t>ループが回る </a:t>
            </a:r>
            <a:r>
              <a:rPr lang="en-US" altLang="ja-JP" sz="1400" b="1">
                <a:solidFill>
                  <a:srgbClr val="64748B"/>
                </a:solidFill>
              </a:rPr>
              <a:t>2 </a:t>
            </a:r>
            <a:r>
              <a:rPr lang="ja-JP" altLang="en-US" sz="1400" b="1">
                <a:solidFill>
                  <a:srgbClr val="64748B"/>
                </a:solidFill>
              </a:rPr>
              <a:t>つの前提</a:t>
            </a:r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4F3C4B9B-2FC1-F740-BAF2-51D9EA1F3AF0}"/>
              </a:ext>
            </a:extLst>
          </p:cNvPr>
          <p:cNvSpPr/>
          <p:nvPr/>
        </p:nvSpPr>
        <p:spPr>
          <a:xfrm>
            <a:off x="546100" y="1320800"/>
            <a:ext cx="3987800" cy="914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DEDA6F6-7F0E-324A-B33C-91108A902A74}"/>
              </a:ext>
            </a:extLst>
          </p:cNvPr>
          <p:cNvSpPr txBox="1"/>
          <p:nvPr/>
        </p:nvSpPr>
        <p:spPr>
          <a:xfrm>
            <a:off x="698500" y="13970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1E2761"/>
                </a:solidFill>
              </a:rPr>
              <a:t>前提</a:t>
            </a:r>
            <a:r>
              <a:rPr lang="en-US" altLang="ja-JP" sz="1500" b="1">
                <a:solidFill>
                  <a:srgbClr val="1E2761"/>
                </a:solidFill>
              </a:rPr>
              <a:t>① </a:t>
            </a:r>
            <a:r>
              <a:rPr lang="ja-JP" altLang="en-US" sz="1500" b="1">
                <a:solidFill>
                  <a:srgbClr val="1E2761"/>
                </a:solidFill>
              </a:rPr>
              <a:t>評価基準が明確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A116BA38-D709-3D44-8762-DFEB60E4FC1B}"/>
              </a:ext>
            </a:extLst>
          </p:cNvPr>
          <p:cNvSpPr txBox="1"/>
          <p:nvPr/>
        </p:nvSpPr>
        <p:spPr>
          <a:xfrm>
            <a:off x="698500" y="1676400"/>
            <a:ext cx="3708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「何を良しとするか」を再現可能に定義（誰が採点しても近い点）。欠けると採点がブレる。</a:t>
            </a:r>
          </a:p>
        </p:txBody>
      </p:sp>
      <p:sp>
        <p:nvSpPr>
          <p:cNvPr id="26" name="角丸四角形 25">
            <a:extLst>
              <a:ext uri="{FF2B5EF4-FFF2-40B4-BE49-F238E27FC236}">
                <a16:creationId xmlns:a16="http://schemas.microsoft.com/office/drawing/2014/main" id="{A8A26123-15C0-D445-8860-D5A54003D3FC}"/>
              </a:ext>
            </a:extLst>
          </p:cNvPr>
          <p:cNvSpPr/>
          <p:nvPr/>
        </p:nvSpPr>
        <p:spPr>
          <a:xfrm>
            <a:off x="4673600" y="1320800"/>
            <a:ext cx="3987800" cy="914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2EFE2B9-7D8F-CA49-91CF-934F52616BA3}"/>
              </a:ext>
            </a:extLst>
          </p:cNvPr>
          <p:cNvSpPr txBox="1"/>
          <p:nvPr/>
        </p:nvSpPr>
        <p:spPr>
          <a:xfrm>
            <a:off x="4826000" y="1397000"/>
            <a:ext cx="3683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1E2761"/>
                </a:solidFill>
              </a:rPr>
              <a:t>前提</a:t>
            </a:r>
            <a:r>
              <a:rPr lang="en-US" altLang="ja-JP" sz="1500" b="1" dirty="0">
                <a:solidFill>
                  <a:srgbClr val="1E2761"/>
                </a:solidFill>
              </a:rPr>
              <a:t>② </a:t>
            </a:r>
            <a:r>
              <a:rPr lang="ja-JP" altLang="en-US" sz="1500" b="1">
                <a:solidFill>
                  <a:srgbClr val="1E2761"/>
                </a:solidFill>
              </a:rPr>
              <a:t>評価情報が定期的に届く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DC0AA55-1CB1-A54D-96AD-E8A7B7F6A458}"/>
              </a:ext>
            </a:extLst>
          </p:cNvPr>
          <p:cNvSpPr txBox="1"/>
          <p:nvPr/>
        </p:nvSpPr>
        <p:spPr>
          <a:xfrm>
            <a:off x="4826000" y="1676400"/>
            <a:ext cx="3708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正解＝筆者の実レポート（毎営業日）＋筆者の直接</a:t>
            </a:r>
            <a:r>
              <a:rPr lang="en" altLang="ja-JP" sz="1300" dirty="0">
                <a:solidFill>
                  <a:srgbClr val="2D3748"/>
                </a:solidFill>
              </a:rPr>
              <a:t>FB</a:t>
            </a:r>
            <a:r>
              <a:rPr lang="ja-JP" altLang="en" sz="1300">
                <a:solidFill>
                  <a:srgbClr val="2D3748"/>
                </a:solidFill>
              </a:rPr>
              <a:t>（</a:t>
            </a:r>
            <a:r>
              <a:rPr lang="ja-JP" altLang="en-US" sz="1300">
                <a:solidFill>
                  <a:srgbClr val="2D3748"/>
                </a:solidFill>
              </a:rPr>
              <a:t>不定期・最優先）。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CAB86A0-6FCF-CE44-8FD8-428000E857CF}"/>
              </a:ext>
            </a:extLst>
          </p:cNvPr>
          <p:cNvSpPr txBox="1"/>
          <p:nvPr/>
        </p:nvSpPr>
        <p:spPr>
          <a:xfrm>
            <a:off x="546100" y="2336800"/>
            <a:ext cx="80264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64748B"/>
                </a:solidFill>
              </a:rPr>
              <a:t>破綻を防ぐ設計 </a:t>
            </a:r>
            <a:r>
              <a:rPr lang="en-US" altLang="ja-JP" sz="1400" b="1">
                <a:solidFill>
                  <a:srgbClr val="64748B"/>
                </a:solidFill>
              </a:rPr>
              <a:t>4 </a:t>
            </a:r>
            <a:r>
              <a:rPr lang="ja-JP" altLang="en-US" sz="1400" b="1">
                <a:solidFill>
                  <a:srgbClr val="64748B"/>
                </a:solidFill>
              </a:rPr>
              <a:t>原則（＝憲法 </a:t>
            </a:r>
            <a:r>
              <a:rPr lang="en" altLang="ja-JP" sz="1400" b="1">
                <a:solidFill>
                  <a:srgbClr val="64748B"/>
                </a:solidFill>
              </a:rPr>
              <a:t>harness_design.md</a:t>
            </a:r>
            <a:r>
              <a:rPr lang="ja-JP" altLang="en" sz="1400" b="1">
                <a:solidFill>
                  <a:srgbClr val="64748B"/>
                </a:solidFill>
              </a:rPr>
              <a:t>）</a:t>
            </a:r>
            <a:endParaRPr lang="ja-JP" altLang="en-US" sz="1400" b="1">
              <a:solidFill>
                <a:srgbClr val="64748B"/>
              </a:solidFill>
            </a:endParaRP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46395DEB-8CC2-004F-8DE3-6E7AA82C0FEC}"/>
              </a:ext>
            </a:extLst>
          </p:cNvPr>
          <p:cNvSpPr/>
          <p:nvPr/>
        </p:nvSpPr>
        <p:spPr>
          <a:xfrm>
            <a:off x="546100" y="2616200"/>
            <a:ext cx="3987800" cy="838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1" name="円/楕円 30">
            <a:extLst>
              <a:ext uri="{FF2B5EF4-FFF2-40B4-BE49-F238E27FC236}">
                <a16:creationId xmlns:a16="http://schemas.microsoft.com/office/drawing/2014/main" id="{D7738D3E-AC34-F947-B9B0-94A6F237A19C}"/>
              </a:ext>
            </a:extLst>
          </p:cNvPr>
          <p:cNvSpPr/>
          <p:nvPr/>
        </p:nvSpPr>
        <p:spPr>
          <a:xfrm>
            <a:off x="698500" y="2844800"/>
            <a:ext cx="381000" cy="3810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</a:rPr>
              <a:t>1</a:t>
            </a:r>
            <a:endParaRPr lang="ja-JP" altLang="en-US" sz="1300" b="1">
              <a:solidFill>
                <a:srgbClr val="FFFFFF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C46CAB4-6D3E-1D44-AE4F-124FF8FB5174}"/>
              </a:ext>
            </a:extLst>
          </p:cNvPr>
          <p:cNvSpPr txBox="1"/>
          <p:nvPr/>
        </p:nvSpPr>
        <p:spPr>
          <a:xfrm>
            <a:off x="1206500" y="27432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1E2761"/>
                </a:solidFill>
              </a:rPr>
              <a:t>生成層と改善層を分離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6A73EDAB-94F2-544D-97E0-7C318E25827B}"/>
              </a:ext>
            </a:extLst>
          </p:cNvPr>
          <p:cNvSpPr txBox="1"/>
          <p:nvPr/>
        </p:nvSpPr>
        <p:spPr>
          <a:xfrm>
            <a:off x="1206500" y="30226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採点者へのメタ最適化を防ぐ</a:t>
            </a:r>
          </a:p>
        </p:txBody>
      </p: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F86F8DE6-A832-D24E-A940-5F677893299B}"/>
              </a:ext>
            </a:extLst>
          </p:cNvPr>
          <p:cNvSpPr/>
          <p:nvPr/>
        </p:nvSpPr>
        <p:spPr>
          <a:xfrm>
            <a:off x="4673600" y="2616200"/>
            <a:ext cx="3987800" cy="838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5" name="円/楕円 34">
            <a:extLst>
              <a:ext uri="{FF2B5EF4-FFF2-40B4-BE49-F238E27FC236}">
                <a16:creationId xmlns:a16="http://schemas.microsoft.com/office/drawing/2014/main" id="{3EDF84B7-6C6B-114E-ABBB-F62E7CABB250}"/>
              </a:ext>
            </a:extLst>
          </p:cNvPr>
          <p:cNvSpPr/>
          <p:nvPr/>
        </p:nvSpPr>
        <p:spPr>
          <a:xfrm>
            <a:off x="4826000" y="2844800"/>
            <a:ext cx="381000" cy="3810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</a:rPr>
              <a:t>2</a:t>
            </a:r>
            <a:endParaRPr lang="ja-JP" altLang="en-US" sz="1300" b="1">
              <a:solidFill>
                <a:srgbClr val="FFFFFF"/>
              </a:solidFill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174AAB8-DA2D-4747-8B17-0A6BC17B3F0A}"/>
              </a:ext>
            </a:extLst>
          </p:cNvPr>
          <p:cNvSpPr txBox="1"/>
          <p:nvPr/>
        </p:nvSpPr>
        <p:spPr>
          <a:xfrm>
            <a:off x="5334000" y="27432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450" b="1">
                <a:solidFill>
                  <a:srgbClr val="1E2761"/>
                </a:solidFill>
              </a:rPr>
              <a:t>Baseline-first</a:t>
            </a:r>
            <a:endParaRPr lang="ja-JP" altLang="en-US" sz="1450" b="1">
              <a:solidFill>
                <a:srgbClr val="1E2761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ED825DE-016E-5349-B4ED-0CD28AC471AF}"/>
              </a:ext>
            </a:extLst>
          </p:cNvPr>
          <p:cNvSpPr txBox="1"/>
          <p:nvPr/>
        </p:nvSpPr>
        <p:spPr>
          <a:xfrm>
            <a:off x="5334000" y="30226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評価基準を元に基準に満たない場合は改善はしない（先に基準スコア）</a:t>
            </a:r>
          </a:p>
        </p:txBody>
      </p: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3750DD41-A2A1-954B-A70A-42A9A6914488}"/>
              </a:ext>
            </a:extLst>
          </p:cNvPr>
          <p:cNvSpPr/>
          <p:nvPr/>
        </p:nvSpPr>
        <p:spPr>
          <a:xfrm>
            <a:off x="546100" y="3530600"/>
            <a:ext cx="3987800" cy="838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9" name="円/楕円 38">
            <a:extLst>
              <a:ext uri="{FF2B5EF4-FFF2-40B4-BE49-F238E27FC236}">
                <a16:creationId xmlns:a16="http://schemas.microsoft.com/office/drawing/2014/main" id="{86E70F6D-2A04-E842-9B27-DEBF275C8B87}"/>
              </a:ext>
            </a:extLst>
          </p:cNvPr>
          <p:cNvSpPr/>
          <p:nvPr/>
        </p:nvSpPr>
        <p:spPr>
          <a:xfrm>
            <a:off x="698500" y="3759200"/>
            <a:ext cx="381000" cy="3810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</a:rPr>
              <a:t>3</a:t>
            </a:r>
            <a:endParaRPr lang="ja-JP" altLang="en-US" sz="1300" b="1">
              <a:solidFill>
                <a:srgbClr val="FFFFFF"/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9078F2A-ADFA-A542-AAF5-BF20FB976F28}"/>
              </a:ext>
            </a:extLst>
          </p:cNvPr>
          <p:cNvSpPr txBox="1"/>
          <p:nvPr/>
        </p:nvSpPr>
        <p:spPr>
          <a:xfrm>
            <a:off x="1206500" y="36576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450" b="1">
                <a:solidFill>
                  <a:srgbClr val="1E2761"/>
                </a:solidFill>
              </a:rPr>
              <a:t>Simplicity Criterion</a:t>
            </a:r>
            <a:endParaRPr lang="ja-JP" altLang="en-US" sz="1450" b="1">
              <a:solidFill>
                <a:srgbClr val="1E2761"/>
              </a:solidFill>
            </a:endParaRP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8A7D320-38B7-8D40-BFE2-E5B5F032702C}"/>
              </a:ext>
            </a:extLst>
          </p:cNvPr>
          <p:cNvSpPr txBox="1"/>
          <p:nvPr/>
        </p:nvSpPr>
        <p:spPr>
          <a:xfrm>
            <a:off x="1206500" y="39370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同品質ならルールは少ない方が勝ち</a:t>
            </a:r>
          </a:p>
        </p:txBody>
      </p:sp>
      <p:sp>
        <p:nvSpPr>
          <p:cNvPr id="42" name="角丸四角形 41">
            <a:extLst>
              <a:ext uri="{FF2B5EF4-FFF2-40B4-BE49-F238E27FC236}">
                <a16:creationId xmlns:a16="http://schemas.microsoft.com/office/drawing/2014/main" id="{CB383D75-6568-E149-A4F3-FBC6DFB38E86}"/>
              </a:ext>
            </a:extLst>
          </p:cNvPr>
          <p:cNvSpPr/>
          <p:nvPr/>
        </p:nvSpPr>
        <p:spPr>
          <a:xfrm>
            <a:off x="4673600" y="3530600"/>
            <a:ext cx="3987800" cy="838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3" name="円/楕円 42">
            <a:extLst>
              <a:ext uri="{FF2B5EF4-FFF2-40B4-BE49-F238E27FC236}">
                <a16:creationId xmlns:a16="http://schemas.microsoft.com/office/drawing/2014/main" id="{D457F20D-F95E-0F48-9BB0-59A7BD00F07C}"/>
              </a:ext>
            </a:extLst>
          </p:cNvPr>
          <p:cNvSpPr/>
          <p:nvPr/>
        </p:nvSpPr>
        <p:spPr>
          <a:xfrm>
            <a:off x="4826000" y="3759200"/>
            <a:ext cx="381000" cy="3810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300" b="1">
                <a:solidFill>
                  <a:srgbClr val="FFFFFF"/>
                </a:solidFill>
              </a:rPr>
              <a:t>4</a:t>
            </a:r>
            <a:endParaRPr lang="ja-JP" altLang="en-US" sz="1300" b="1">
              <a:solidFill>
                <a:srgbClr val="FFFFFF"/>
              </a:solidFill>
            </a:endParaRP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70A1828-8C20-3A41-B48C-FE6E6EC7B493}"/>
              </a:ext>
            </a:extLst>
          </p:cNvPr>
          <p:cNvSpPr txBox="1"/>
          <p:nvPr/>
        </p:nvSpPr>
        <p:spPr>
          <a:xfrm>
            <a:off x="5334000" y="3657600"/>
            <a:ext cx="3175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450" b="1">
                <a:solidFill>
                  <a:srgbClr val="1E2761"/>
                </a:solidFill>
              </a:rPr>
              <a:t>Overfitting Rule</a:t>
            </a:r>
            <a:endParaRPr lang="ja-JP" altLang="en-US" sz="1450" b="1">
              <a:solidFill>
                <a:srgbClr val="1E2761"/>
              </a:solidFill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A6900EF1-DE8C-E146-B396-87C7BB9EF269}"/>
              </a:ext>
            </a:extLst>
          </p:cNvPr>
          <p:cNvSpPr txBox="1"/>
          <p:nvPr/>
        </p:nvSpPr>
        <p:spPr>
          <a:xfrm>
            <a:off x="5334000" y="3937000"/>
            <a:ext cx="3175000" cy="355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「他の日も効くか」を自問してから追加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46888"/>
            <a:ext cx="64008" cy="3444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398523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59E5314-1A3E-3540-87B0-4044F31F5758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前提</a:t>
            </a:r>
            <a:r>
              <a:rPr lang="en-US" altLang="ja-JP" sz="2800" b="1" dirty="0">
                <a:solidFill>
                  <a:srgbClr val="1E2761"/>
                </a:solidFill>
              </a:rPr>
              <a:t>① </a:t>
            </a:r>
            <a:r>
              <a:rPr lang="ja-JP" altLang="en-US" sz="2800" b="1">
                <a:solidFill>
                  <a:srgbClr val="1E2761"/>
                </a:solidFill>
              </a:rPr>
              <a:t>評価基準はどう作ったか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54F695D-DBCD-394C-9277-E75C937B24DB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>
                <a:solidFill>
                  <a:srgbClr val="64748B"/>
                </a:solidFill>
              </a:rPr>
              <a:t>過去レポートから逆算 </a:t>
            </a:r>
            <a:r>
              <a:rPr lang="en-US" altLang="ja-JP" sz="1500">
                <a:solidFill>
                  <a:srgbClr val="64748B"/>
                </a:solidFill>
              </a:rPr>
              <a:t>― 4 </a:t>
            </a:r>
            <a:r>
              <a:rPr lang="ja-JP" altLang="en-US" sz="1500">
                <a:solidFill>
                  <a:srgbClr val="64748B"/>
                </a:solidFill>
              </a:rPr>
              <a:t>ステップで物差しを設計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897B27CC-836E-D74F-A5B4-D796AD5517A0}"/>
              </a:ext>
            </a:extLst>
          </p:cNvPr>
          <p:cNvSpPr/>
          <p:nvPr/>
        </p:nvSpPr>
        <p:spPr>
          <a:xfrm>
            <a:off x="546100" y="1092200"/>
            <a:ext cx="1016000" cy="584200"/>
          </a:xfrm>
          <a:prstGeom prst="round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FFFFFF"/>
                </a:solidFill>
              </a:rPr>
              <a:t>STEP 1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2C7C98-5CDE-B645-8862-54F694DB3D5C}"/>
              </a:ext>
            </a:extLst>
          </p:cNvPr>
          <p:cNvSpPr txBox="1"/>
          <p:nvPr/>
        </p:nvSpPr>
        <p:spPr>
          <a:xfrm>
            <a:off x="1714500" y="1117600"/>
            <a:ext cx="685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1E2761"/>
                </a:solidFill>
              </a:rPr>
              <a:t>目的から評価軸を導出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FAE553F-405D-F34C-8514-896C9BAC76E4}"/>
              </a:ext>
            </a:extLst>
          </p:cNvPr>
          <p:cNvSpPr txBox="1"/>
          <p:nvPr/>
        </p:nvSpPr>
        <p:spPr>
          <a:xfrm>
            <a:off x="1714500" y="1384300"/>
            <a:ext cx="6959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250">
                <a:solidFill>
                  <a:srgbClr val="2D3748"/>
                </a:solidFill>
              </a:rPr>
              <a:t>purpose.md </a:t>
            </a:r>
            <a:r>
              <a:rPr lang="ja-JP" altLang="en-US" sz="1250">
                <a:solidFill>
                  <a:srgbClr val="2D3748"/>
                </a:solidFill>
              </a:rPr>
              <a:t>の成功</a:t>
            </a:r>
            <a:r>
              <a:rPr lang="en-US" altLang="ja-JP" sz="1250">
                <a:solidFill>
                  <a:srgbClr val="2D3748"/>
                </a:solidFill>
              </a:rPr>
              <a:t>4</a:t>
            </a:r>
            <a:r>
              <a:rPr lang="ja-JP" altLang="en-US" sz="1250">
                <a:solidFill>
                  <a:srgbClr val="2D3748"/>
                </a:solidFill>
              </a:rPr>
              <a:t>条件（連続性</a:t>
            </a:r>
            <a:r>
              <a:rPr lang="en-US" altLang="ja-JP" sz="1250">
                <a:solidFill>
                  <a:srgbClr val="2D3748"/>
                </a:solidFill>
              </a:rPr>
              <a:t>/</a:t>
            </a:r>
            <a:r>
              <a:rPr lang="ja-JP" altLang="en-US" sz="1250">
                <a:solidFill>
                  <a:srgbClr val="2D3748"/>
                </a:solidFill>
              </a:rPr>
              <a:t>根拠</a:t>
            </a:r>
            <a:r>
              <a:rPr lang="en-US" altLang="ja-JP" sz="1250">
                <a:solidFill>
                  <a:srgbClr val="2D3748"/>
                </a:solidFill>
              </a:rPr>
              <a:t>/</a:t>
            </a:r>
            <a:r>
              <a:rPr lang="ja-JP" altLang="en-US" sz="1250">
                <a:solidFill>
                  <a:srgbClr val="2D3748"/>
                </a:solidFill>
              </a:rPr>
              <a:t>アクショナブル</a:t>
            </a:r>
            <a:r>
              <a:rPr lang="en-US" altLang="ja-JP" sz="1250">
                <a:solidFill>
                  <a:srgbClr val="2D3748"/>
                </a:solidFill>
              </a:rPr>
              <a:t>/</a:t>
            </a:r>
            <a:r>
              <a:rPr lang="ja-JP" altLang="en-US" sz="1250">
                <a:solidFill>
                  <a:srgbClr val="2D3748"/>
                </a:solidFill>
              </a:rPr>
              <a:t>因果）→ </a:t>
            </a:r>
            <a:r>
              <a:rPr lang="en" altLang="ja-JP" sz="1250">
                <a:solidFill>
                  <a:srgbClr val="2D3748"/>
                </a:solidFill>
              </a:rPr>
              <a:t>S1 </a:t>
            </a:r>
            <a:r>
              <a:rPr lang="ja-JP" altLang="en-US" sz="1250">
                <a:solidFill>
                  <a:srgbClr val="2D3748"/>
                </a:solidFill>
              </a:rPr>
              <a:t>情報網羅性・</a:t>
            </a:r>
            <a:r>
              <a:rPr lang="en" altLang="ja-JP" sz="1250">
                <a:solidFill>
                  <a:srgbClr val="2D3748"/>
                </a:solidFill>
              </a:rPr>
              <a:t>S2 </a:t>
            </a:r>
            <a:r>
              <a:rPr lang="ja-JP" altLang="en-US" sz="1250">
                <a:solidFill>
                  <a:srgbClr val="2D3748"/>
                </a:solidFill>
              </a:rPr>
              <a:t>時系列接続・</a:t>
            </a:r>
            <a:r>
              <a:rPr lang="en" altLang="ja-JP" sz="1250">
                <a:solidFill>
                  <a:srgbClr val="2D3748"/>
                </a:solidFill>
              </a:rPr>
              <a:t>S3 </a:t>
            </a:r>
            <a:r>
              <a:rPr lang="ja-JP" altLang="en-US" sz="1250">
                <a:solidFill>
                  <a:srgbClr val="2D3748"/>
                </a:solidFill>
              </a:rPr>
              <a:t>文体表現（各 </a:t>
            </a:r>
            <a:r>
              <a:rPr lang="en-US" altLang="ja-JP" sz="1250">
                <a:solidFill>
                  <a:srgbClr val="2D3748"/>
                </a:solidFill>
              </a:rPr>
              <a:t>0–5 </a:t>
            </a:r>
            <a:r>
              <a:rPr lang="ja-JP" altLang="en-US" sz="1250">
                <a:solidFill>
                  <a:srgbClr val="2D3748"/>
                </a:solidFill>
              </a:rPr>
              <a:t>アンカー）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D8E31970-5314-D649-A9C7-7DE83C0A7BB0}"/>
              </a:ext>
            </a:extLst>
          </p:cNvPr>
          <p:cNvSpPr/>
          <p:nvPr/>
        </p:nvSpPr>
        <p:spPr>
          <a:xfrm>
            <a:off x="546100" y="1803400"/>
            <a:ext cx="1016000" cy="5842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FFFFFF"/>
                </a:solidFill>
              </a:rPr>
              <a:t>STEP 2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F51072A-4CC2-724C-94FA-FF018E189DA0}"/>
              </a:ext>
            </a:extLst>
          </p:cNvPr>
          <p:cNvSpPr txBox="1"/>
          <p:nvPr/>
        </p:nvSpPr>
        <p:spPr>
          <a:xfrm>
            <a:off x="1714500" y="1828800"/>
            <a:ext cx="685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1E2761"/>
                </a:solidFill>
              </a:rPr>
              <a:t>過去レポート </a:t>
            </a:r>
            <a:r>
              <a:rPr lang="en-US" altLang="ja-JP" sz="1400" b="1">
                <a:solidFill>
                  <a:srgbClr val="1E2761"/>
                </a:solidFill>
              </a:rPr>
              <a:t>15 </a:t>
            </a:r>
            <a:r>
              <a:rPr lang="ja-JP" altLang="en-US" sz="1400" b="1">
                <a:solidFill>
                  <a:srgbClr val="1E2761"/>
                </a:solidFill>
              </a:rPr>
              <a:t>本を分析（</a:t>
            </a:r>
            <a:r>
              <a:rPr lang="en-US" altLang="ja-JP" sz="1400" b="1">
                <a:solidFill>
                  <a:srgbClr val="1E2761"/>
                </a:solidFill>
              </a:rPr>
              <a:t>2026-03〜04</a:t>
            </a:r>
            <a:r>
              <a:rPr lang="ja-JP" altLang="en-US" sz="1400" b="1">
                <a:solidFill>
                  <a:srgbClr val="1E2761"/>
                </a:solidFill>
              </a:rPr>
              <a:t>・</a:t>
            </a:r>
            <a:r>
              <a:rPr lang="en-US" altLang="ja-JP" sz="1400" b="1">
                <a:solidFill>
                  <a:srgbClr val="1E2761"/>
                </a:solidFill>
              </a:rPr>
              <a:t>#3180〜3207</a:t>
            </a:r>
            <a:r>
              <a:rPr lang="ja-JP" altLang="en-US" sz="1400" b="1">
                <a:solidFill>
                  <a:srgbClr val="1E2761"/>
                </a:solidFill>
              </a:rPr>
              <a:t>）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861A277-CF85-FE4E-84B6-5EC2D60327C1}"/>
              </a:ext>
            </a:extLst>
          </p:cNvPr>
          <p:cNvSpPr txBox="1"/>
          <p:nvPr/>
        </p:nvSpPr>
        <p:spPr>
          <a:xfrm>
            <a:off x="1714500" y="2095500"/>
            <a:ext cx="6959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250">
                <a:solidFill>
                  <a:srgbClr val="2D3748"/>
                </a:solidFill>
              </a:rPr>
              <a:t>author_analysis_patterns.md </a:t>
            </a:r>
            <a:r>
              <a:rPr lang="ja-JP" altLang="en" sz="1250">
                <a:solidFill>
                  <a:srgbClr val="2D3748"/>
                </a:solidFill>
              </a:rPr>
              <a:t>＝ </a:t>
            </a:r>
            <a:r>
              <a:rPr lang="ja-JP" altLang="en-US" sz="1250">
                <a:solidFill>
                  <a:srgbClr val="2D3748"/>
                </a:solidFill>
              </a:rPr>
              <a:t>軸</a:t>
            </a:r>
            <a:r>
              <a:rPr lang="en" altLang="ja-JP" sz="1250">
                <a:solidFill>
                  <a:srgbClr val="2D3748"/>
                </a:solidFill>
              </a:rPr>
              <a:t>A </a:t>
            </a:r>
            <a:r>
              <a:rPr lang="ja-JP" altLang="en-US" sz="1250">
                <a:solidFill>
                  <a:srgbClr val="2D3748"/>
                </a:solidFill>
              </a:rPr>
              <a:t>マクロテーマ＋閾値 </a:t>
            </a:r>
            <a:r>
              <a:rPr lang="en-US" altLang="ja-JP" sz="1250">
                <a:solidFill>
                  <a:srgbClr val="2D3748"/>
                </a:solidFill>
              </a:rPr>
              <a:t>/ </a:t>
            </a:r>
            <a:r>
              <a:rPr lang="ja-JP" altLang="en-US" sz="1250">
                <a:solidFill>
                  <a:srgbClr val="2D3748"/>
                </a:solidFill>
              </a:rPr>
              <a:t>軸</a:t>
            </a:r>
            <a:r>
              <a:rPr lang="en" altLang="ja-JP" sz="1250">
                <a:solidFill>
                  <a:srgbClr val="2D3748"/>
                </a:solidFill>
              </a:rPr>
              <a:t>B </a:t>
            </a:r>
            <a:r>
              <a:rPr lang="ja-JP" altLang="en-US" sz="1250">
                <a:solidFill>
                  <a:srgbClr val="2D3748"/>
                </a:solidFill>
              </a:rPr>
              <a:t>論理型 </a:t>
            </a:r>
            <a:r>
              <a:rPr lang="en-US" altLang="ja-JP" sz="1250">
                <a:solidFill>
                  <a:srgbClr val="2D3748"/>
                </a:solidFill>
              </a:rPr>
              <a:t>/ </a:t>
            </a:r>
            <a:r>
              <a:rPr lang="ja-JP" altLang="en-US" sz="1250">
                <a:solidFill>
                  <a:srgbClr val="2D3748"/>
                </a:solidFill>
              </a:rPr>
              <a:t>軸</a:t>
            </a:r>
            <a:r>
              <a:rPr lang="en" altLang="ja-JP" sz="1250">
                <a:solidFill>
                  <a:srgbClr val="2D3748"/>
                </a:solidFill>
              </a:rPr>
              <a:t>C </a:t>
            </a:r>
            <a:r>
              <a:rPr lang="ja-JP" altLang="en-US" sz="1250">
                <a:solidFill>
                  <a:srgbClr val="2D3748"/>
                </a:solidFill>
              </a:rPr>
              <a:t>固定語彙</a:t>
            </a: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D78D4DAE-7848-714B-963B-25A922676C35}"/>
              </a:ext>
            </a:extLst>
          </p:cNvPr>
          <p:cNvSpPr/>
          <p:nvPr/>
        </p:nvSpPr>
        <p:spPr>
          <a:xfrm>
            <a:off x="546100" y="2514600"/>
            <a:ext cx="1016000" cy="5842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FFFFFF"/>
                </a:solidFill>
              </a:rPr>
              <a:t>STEP 3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61795F1-2282-7843-89D0-62A6F38BF9F0}"/>
              </a:ext>
            </a:extLst>
          </p:cNvPr>
          <p:cNvSpPr txBox="1"/>
          <p:nvPr/>
        </p:nvSpPr>
        <p:spPr>
          <a:xfrm>
            <a:off x="1714500" y="2540000"/>
            <a:ext cx="685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1E2761"/>
                </a:solidFill>
              </a:rPr>
              <a:t>代表 </a:t>
            </a:r>
            <a:r>
              <a:rPr lang="en-US" altLang="ja-JP" sz="1400" b="1">
                <a:solidFill>
                  <a:srgbClr val="1E2761"/>
                </a:solidFill>
              </a:rPr>
              <a:t>1 </a:t>
            </a:r>
            <a:r>
              <a:rPr lang="ja-JP" altLang="en-US" sz="1400" b="1">
                <a:solidFill>
                  <a:srgbClr val="1E2761"/>
                </a:solidFill>
              </a:rPr>
              <a:t>本を「型」解剖（第</a:t>
            </a:r>
            <a:r>
              <a:rPr lang="en-US" altLang="ja-JP" sz="1400" b="1">
                <a:solidFill>
                  <a:srgbClr val="1E2761"/>
                </a:solidFill>
              </a:rPr>
              <a:t>3241</a:t>
            </a:r>
            <a:r>
              <a:rPr lang="ja-JP" altLang="en-US" sz="1400" b="1">
                <a:solidFill>
                  <a:srgbClr val="1E2761"/>
                </a:solidFill>
              </a:rPr>
              <a:t>号）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8A91236-161D-AC48-B7B0-12461D47E732}"/>
              </a:ext>
            </a:extLst>
          </p:cNvPr>
          <p:cNvSpPr txBox="1"/>
          <p:nvPr/>
        </p:nvSpPr>
        <p:spPr>
          <a:xfrm>
            <a:off x="1714500" y="2806700"/>
            <a:ext cx="6959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文章設計の </a:t>
            </a:r>
            <a:r>
              <a:rPr lang="en-US" altLang="ja-JP" sz="1250">
                <a:solidFill>
                  <a:srgbClr val="2D3748"/>
                </a:solidFill>
              </a:rPr>
              <a:t>12 </a:t>
            </a:r>
            <a:r>
              <a:rPr lang="ja-JP" altLang="en-US" sz="1250">
                <a:solidFill>
                  <a:srgbClr val="2D3748"/>
                </a:solidFill>
              </a:rPr>
              <a:t>型（</a:t>
            </a:r>
            <a:r>
              <a:rPr lang="en" altLang="ja-JP" sz="1250">
                <a:solidFill>
                  <a:srgbClr val="2D3748"/>
                </a:solidFill>
              </a:rPr>
              <a:t>A </a:t>
            </a:r>
            <a:r>
              <a:rPr lang="ja-JP" altLang="en-US" sz="1250">
                <a:solidFill>
                  <a:srgbClr val="2D3748"/>
                </a:solidFill>
              </a:rPr>
              <a:t>型</a:t>
            </a:r>
            <a:r>
              <a:rPr lang="en-US" altLang="ja-JP" sz="1250">
                <a:solidFill>
                  <a:srgbClr val="2D3748"/>
                </a:solidFill>
              </a:rPr>
              <a:t>/</a:t>
            </a:r>
            <a:r>
              <a:rPr lang="en" altLang="ja-JP" sz="1250">
                <a:solidFill>
                  <a:srgbClr val="2D3748"/>
                </a:solidFill>
              </a:rPr>
              <a:t>B </a:t>
            </a:r>
            <a:r>
              <a:rPr lang="ja-JP" altLang="en-US" sz="1250">
                <a:solidFill>
                  <a:srgbClr val="2D3748"/>
                </a:solidFill>
              </a:rPr>
              <a:t>型タイトル・番号付きフレーム化 </a:t>
            </a:r>
            <a:r>
              <a:rPr lang="en-US" altLang="ja-JP" sz="1250">
                <a:solidFill>
                  <a:srgbClr val="2D3748"/>
                </a:solidFill>
              </a:rPr>
              <a:t>…</a:t>
            </a:r>
            <a:r>
              <a:rPr lang="ja-JP" altLang="en-US" sz="1250">
                <a:solidFill>
                  <a:srgbClr val="2D3748"/>
                </a:solidFill>
              </a:rPr>
              <a:t>）</a:t>
            </a:r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7569AB42-B741-4740-A598-47C3B327D6AD}"/>
              </a:ext>
            </a:extLst>
          </p:cNvPr>
          <p:cNvSpPr/>
          <p:nvPr/>
        </p:nvSpPr>
        <p:spPr>
          <a:xfrm>
            <a:off x="546100" y="3225800"/>
            <a:ext cx="1016000" cy="584200"/>
          </a:xfrm>
          <a:prstGeom prst="round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FFFFFF"/>
                </a:solidFill>
              </a:rPr>
              <a:t>STEP 4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C418F78-D7EF-414D-87E3-1163049A8F2B}"/>
              </a:ext>
            </a:extLst>
          </p:cNvPr>
          <p:cNvSpPr txBox="1"/>
          <p:nvPr/>
        </p:nvSpPr>
        <p:spPr>
          <a:xfrm>
            <a:off x="1714500" y="3251200"/>
            <a:ext cx="6858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1E2761"/>
                </a:solidFill>
              </a:rPr>
              <a:t>逆引き検証で盲点を塞ぐ（</a:t>
            </a:r>
            <a:r>
              <a:rPr lang="en" altLang="ja-JP" sz="1400" b="1">
                <a:solidFill>
                  <a:srgbClr val="1E2761"/>
                </a:solidFill>
              </a:rPr>
              <a:t>sample_walkthrough_3241</a:t>
            </a:r>
            <a:r>
              <a:rPr lang="ja-JP" altLang="en" sz="1400" b="1">
                <a:solidFill>
                  <a:srgbClr val="1E2761"/>
                </a:solidFill>
              </a:rPr>
              <a:t>）</a:t>
            </a:r>
            <a:endParaRPr lang="ja-JP" altLang="en-US" sz="1400" b="1">
              <a:solidFill>
                <a:srgbClr val="1E2761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64443C4-693D-1940-B95A-0353D49D8FB9}"/>
              </a:ext>
            </a:extLst>
          </p:cNvPr>
          <p:cNvSpPr txBox="1"/>
          <p:nvPr/>
        </p:nvSpPr>
        <p:spPr>
          <a:xfrm>
            <a:off x="1714500" y="3517900"/>
            <a:ext cx="69596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スコアで捕えられない型を「筆者型 </a:t>
            </a:r>
            <a:r>
              <a:rPr lang="en" altLang="ja-JP" sz="1250">
                <a:solidFill>
                  <a:srgbClr val="2D3748"/>
                </a:solidFill>
              </a:rPr>
              <a:t>hit </a:t>
            </a:r>
            <a:r>
              <a:rPr lang="ja-JP" altLang="en-US" sz="1250">
                <a:solidFill>
                  <a:srgbClr val="2D3748"/>
                </a:solidFill>
              </a:rPr>
              <a:t>検査（</a:t>
            </a:r>
            <a:r>
              <a:rPr lang="en-US" altLang="ja-JP" sz="1250">
                <a:solidFill>
                  <a:srgbClr val="2D3748"/>
                </a:solidFill>
              </a:rPr>
              <a:t>11 </a:t>
            </a:r>
            <a:r>
              <a:rPr lang="ja-JP" altLang="en-US" sz="1250">
                <a:solidFill>
                  <a:srgbClr val="2D3748"/>
                </a:solidFill>
              </a:rPr>
              <a:t>型）」として追加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ECAA382C-6A43-7C43-AD72-D41F3AAF4E86}"/>
              </a:ext>
            </a:extLst>
          </p:cNvPr>
          <p:cNvSpPr/>
          <p:nvPr/>
        </p:nvSpPr>
        <p:spPr>
          <a:xfrm>
            <a:off x="482600" y="3962400"/>
            <a:ext cx="8229600" cy="406400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100" b="1">
                <a:solidFill>
                  <a:srgbClr val="FFFFFF"/>
                </a:solidFill>
              </a:rPr>
              <a:t>評価基準そのものは人間承認制で安定（</a:t>
            </a:r>
            <a:r>
              <a:rPr lang="en" altLang="ja-JP" sz="1100" b="1">
                <a:solidFill>
                  <a:srgbClr val="FFFFFF"/>
                </a:solidFill>
              </a:rPr>
              <a:t>FIXED</a:t>
            </a:r>
            <a:r>
              <a:rPr lang="ja-JP" altLang="en" sz="1100" b="1">
                <a:solidFill>
                  <a:srgbClr val="FFFFFF"/>
                </a:solidFill>
              </a:rPr>
              <a:t>）。</a:t>
            </a:r>
            <a:r>
              <a:rPr lang="ja-JP" altLang="en-US" sz="1100" b="1">
                <a:solidFill>
                  <a:srgbClr val="FFFFFF"/>
                </a:solidFill>
              </a:rPr>
              <a:t>学習で動くのはルール（書き方ルール</a:t>
            </a:r>
            <a:r>
              <a:rPr lang="ja-JP" altLang="en" sz="1100" b="1">
                <a:solidFill>
                  <a:srgbClr val="FFFFFF"/>
                </a:solidFill>
              </a:rPr>
              <a:t>）</a:t>
            </a:r>
            <a:r>
              <a:rPr lang="ja-JP" altLang="en-US" sz="1100" b="1">
                <a:solidFill>
                  <a:srgbClr val="FFFFFF"/>
                </a:solidFill>
              </a:rPr>
              <a:t>側 </a:t>
            </a:r>
            <a:r>
              <a:rPr lang="en-US" altLang="ja-JP" sz="1100" b="1">
                <a:solidFill>
                  <a:srgbClr val="FFFFFF"/>
                </a:solidFill>
              </a:rPr>
              <a:t>― </a:t>
            </a:r>
            <a:r>
              <a:rPr lang="ja-JP" altLang="en-US" sz="1100" b="1">
                <a:solidFill>
                  <a:srgbClr val="FFFFFF"/>
                </a:solidFill>
              </a:rPr>
              <a:t>基準が揺れると学習が壊れる。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698828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17D822E-69BC-0B4E-A9EC-D6776BEBC4FE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ja-JP" altLang="en-US" sz="2800" b="1"/>
              <a:t>前提</a:t>
            </a:r>
            <a:r>
              <a:rPr lang="en-US" altLang="ja-JP" sz="2800" b="1" dirty="0"/>
              <a:t>② </a:t>
            </a:r>
            <a:r>
              <a:rPr lang="ja-JP" altLang="en-US" sz="2800" b="1"/>
              <a:t>評価情報が定期的に届く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B6AEB0-F80F-8745-9170-D120167EAC98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ja-JP" altLang="en-US" sz="1600" b="1">
                <a:solidFill>
                  <a:srgbClr val="1E2761"/>
                </a:solidFill>
              </a:rPr>
              <a:t>人間との接点は「メール」　</a:t>
            </a:r>
            <a:r>
              <a:rPr lang="ja-JP" altLang="en-US" sz="1500">
                <a:solidFill>
                  <a:srgbClr val="64748B"/>
                </a:solidFill>
              </a:rPr>
              <a:t>返信に赤を入れるだけで改善指示が学習に入る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C3BB6DDF-7461-714C-B706-E5B172EEF381}"/>
              </a:ext>
            </a:extLst>
          </p:cNvPr>
          <p:cNvSpPr/>
          <p:nvPr/>
        </p:nvSpPr>
        <p:spPr>
          <a:xfrm>
            <a:off x="546100" y="1219200"/>
            <a:ext cx="1498600" cy="838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50" b="1">
                <a:solidFill>
                  <a:srgbClr val="1E2761"/>
                </a:solidFill>
              </a:rPr>
              <a:t>ドラフト作成</a:t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53F9EB30-E717-D348-935C-2D5A334F1152}"/>
              </a:ext>
            </a:extLst>
          </p:cNvPr>
          <p:cNvSpPr/>
          <p:nvPr/>
        </p:nvSpPr>
        <p:spPr>
          <a:xfrm>
            <a:off x="2133600" y="1219200"/>
            <a:ext cx="1498600" cy="838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50" b="1">
                <a:solidFill>
                  <a:srgbClr val="1E2761"/>
                </a:solidFill>
              </a:rPr>
              <a:t>人間が確認＋正解レポートを作成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A2F00595-F184-BD48-87AF-78DFA7B6A7D4}"/>
              </a:ext>
            </a:extLst>
          </p:cNvPr>
          <p:cNvSpPr/>
          <p:nvPr/>
        </p:nvSpPr>
        <p:spPr>
          <a:xfrm>
            <a:off x="3721100" y="1219200"/>
            <a:ext cx="1498600" cy="838200"/>
          </a:xfrm>
          <a:prstGeom prst="round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r>
              <a:rPr lang="ja-JP" altLang="en-US" sz="1250" b="1">
                <a:solidFill>
                  <a:srgbClr val="F8F9FC"/>
                </a:solidFill>
              </a:rPr>
              <a:t>正解レポートを作成</a:t>
            </a:r>
            <a:br>
              <a:rPr lang="en-US" altLang="ja-JP" sz="1250" b="1" dirty="0">
                <a:solidFill>
                  <a:srgbClr val="FFFFFF"/>
                </a:solidFill>
              </a:rPr>
            </a:br>
            <a:r>
              <a:rPr lang="ja-JP" altLang="en-US" sz="1250" b="1">
                <a:solidFill>
                  <a:srgbClr val="FFFFFF"/>
                </a:solidFill>
              </a:rPr>
              <a:t>筆者が返信で </a:t>
            </a:r>
            <a:r>
              <a:rPr lang="en" altLang="ja-JP" sz="1250" b="1" dirty="0">
                <a:solidFill>
                  <a:srgbClr val="FFFFFF"/>
                </a:solidFill>
              </a:rPr>
              <a:t>FB</a:t>
            </a:r>
            <a:r>
              <a:rPr lang="ja-JP" altLang="en" sz="1250" b="1">
                <a:solidFill>
                  <a:srgbClr val="FFFFFF"/>
                </a:solidFill>
              </a:rPr>
              <a:t>（</a:t>
            </a:r>
            <a:r>
              <a:rPr lang="ja-JP" altLang="en-US" sz="1250" b="1">
                <a:solidFill>
                  <a:srgbClr val="FFFFFF"/>
                </a:solidFill>
              </a:rPr>
              <a:t>朱書き）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31E0EAA7-8739-D34E-9F8E-944A4FD3551C}"/>
              </a:ext>
            </a:extLst>
          </p:cNvPr>
          <p:cNvSpPr/>
          <p:nvPr/>
        </p:nvSpPr>
        <p:spPr>
          <a:xfrm>
            <a:off x="5308600" y="1219200"/>
            <a:ext cx="1498600" cy="8382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50" b="1">
                <a:solidFill>
                  <a:srgbClr val="FFFFFF"/>
                </a:solidFill>
              </a:rPr>
              <a:t>Gmail </a:t>
            </a:r>
            <a:r>
              <a:rPr lang="ja-JP" altLang="en-US" sz="1250" b="1">
                <a:solidFill>
                  <a:srgbClr val="FFFFFF"/>
                </a:solidFill>
              </a:rPr>
              <a:t>から取り込み
</a:t>
            </a:r>
            <a:r>
              <a:rPr lang="en" altLang="ja-JP" sz="1250" b="1">
                <a:solidFill>
                  <a:srgbClr val="FFFFFF"/>
                </a:solidFill>
              </a:rPr>
              <a:t>author_feedback.md</a:t>
            </a:r>
            <a:endParaRPr lang="ja-JP" altLang="en-US" sz="1250" b="1">
              <a:solidFill>
                <a:srgbClr val="FFFFFF"/>
              </a:solidFill>
            </a:endParaRP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B210AF99-01C3-2F4F-AB4A-2AF11B9E59D2}"/>
              </a:ext>
            </a:extLst>
          </p:cNvPr>
          <p:cNvSpPr/>
          <p:nvPr/>
        </p:nvSpPr>
        <p:spPr>
          <a:xfrm>
            <a:off x="6896100" y="1219200"/>
            <a:ext cx="1498600" cy="8382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50" b="1" dirty="0">
                <a:solidFill>
                  <a:srgbClr val="FFFFFF"/>
                </a:solidFill>
              </a:rPr>
              <a:t>v2 </a:t>
            </a:r>
            <a:r>
              <a:rPr lang="ja-JP" altLang="en-US" sz="1250" b="1">
                <a:solidFill>
                  <a:srgbClr val="FFFFFF"/>
                </a:solidFill>
              </a:rPr>
              <a:t>再生成＋
書き方ルール</a:t>
            </a:r>
            <a:r>
              <a:rPr lang="en" altLang="ja-JP" sz="1250" b="1" dirty="0">
                <a:solidFill>
                  <a:srgbClr val="FFFFFF"/>
                </a:solidFill>
              </a:rPr>
              <a:t> </a:t>
            </a:r>
            <a:r>
              <a:rPr lang="ja-JP" altLang="en-US" sz="1250" b="1">
                <a:solidFill>
                  <a:srgbClr val="FFFFFF"/>
                </a:solidFill>
              </a:rPr>
              <a:t>ルール化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DA81B4E-9EBE-6242-90EB-DA3A64DD06ED}"/>
              </a:ext>
            </a:extLst>
          </p:cNvPr>
          <p:cNvSpPr txBox="1"/>
          <p:nvPr/>
        </p:nvSpPr>
        <p:spPr>
          <a:xfrm>
            <a:off x="2044700" y="1447800"/>
            <a:ext cx="152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CB03756-74A8-4848-888D-C08E31CAA17D}"/>
              </a:ext>
            </a:extLst>
          </p:cNvPr>
          <p:cNvSpPr txBox="1"/>
          <p:nvPr/>
        </p:nvSpPr>
        <p:spPr>
          <a:xfrm>
            <a:off x="3632200" y="1447800"/>
            <a:ext cx="152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77864A2-3052-F149-BDEA-BF5C4AA69A4D}"/>
              </a:ext>
            </a:extLst>
          </p:cNvPr>
          <p:cNvSpPr txBox="1"/>
          <p:nvPr/>
        </p:nvSpPr>
        <p:spPr>
          <a:xfrm>
            <a:off x="5219700" y="1447800"/>
            <a:ext cx="152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9804781-71F1-364A-8D39-053A9BDD6006}"/>
              </a:ext>
            </a:extLst>
          </p:cNvPr>
          <p:cNvSpPr txBox="1"/>
          <p:nvPr/>
        </p:nvSpPr>
        <p:spPr>
          <a:xfrm>
            <a:off x="6807200" y="1447800"/>
            <a:ext cx="152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C2AA38E-2F38-9449-BDC8-2F249ECDD8F9}"/>
              </a:ext>
            </a:extLst>
          </p:cNvPr>
          <p:cNvSpPr/>
          <p:nvPr/>
        </p:nvSpPr>
        <p:spPr>
          <a:xfrm>
            <a:off x="546100" y="2209800"/>
            <a:ext cx="7848600" cy="279400"/>
          </a:xfrm>
          <a:prstGeom prst="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50" b="1">
                <a:solidFill>
                  <a:srgbClr val="1E2761"/>
                </a:solidFill>
              </a:rPr>
              <a:t>↑ 翌日以降のドラフトに反映 </a:t>
            </a:r>
            <a:r>
              <a:rPr lang="en-US" altLang="ja-JP" sz="1250" b="1">
                <a:solidFill>
                  <a:srgbClr val="1E2761"/>
                </a:solidFill>
              </a:rPr>
              <a:t>― </a:t>
            </a:r>
            <a:r>
              <a:rPr lang="ja-JP" altLang="en-US" sz="1250" b="1">
                <a:solidFill>
                  <a:srgbClr val="1E2761"/>
                </a:solidFill>
              </a:rPr>
              <a:t>専用</a:t>
            </a:r>
            <a:r>
              <a:rPr lang="en" altLang="ja-JP" sz="1250" b="1">
                <a:solidFill>
                  <a:srgbClr val="1E2761"/>
                </a:solidFill>
              </a:rPr>
              <a:t>UI</a:t>
            </a:r>
            <a:r>
              <a:rPr lang="ja-JP" altLang="en-US" sz="1250" b="1">
                <a:solidFill>
                  <a:srgbClr val="1E2761"/>
                </a:solidFill>
              </a:rPr>
              <a:t>を作らず </a:t>
            </a:r>
            <a:r>
              <a:rPr lang="en" altLang="ja-JP" sz="1250" b="1">
                <a:solidFill>
                  <a:srgbClr val="1E2761"/>
                </a:solidFill>
              </a:rPr>
              <a:t>Gmail </a:t>
            </a:r>
            <a:r>
              <a:rPr lang="ja-JP" altLang="en-US" sz="1250" b="1">
                <a:solidFill>
                  <a:srgbClr val="1E2761"/>
                </a:solidFill>
              </a:rPr>
              <a:t>だけで学習ループが回る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8FE0ECF-F1E6-1B47-A2D1-72A327D1D847}"/>
              </a:ext>
            </a:extLst>
          </p:cNvPr>
          <p:cNvSpPr txBox="1"/>
          <p:nvPr/>
        </p:nvSpPr>
        <p:spPr>
          <a:xfrm>
            <a:off x="546100" y="2692400"/>
            <a:ext cx="80264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500" dirty="0">
                <a:solidFill>
                  <a:srgbClr val="1E2761"/>
                </a:solidFill>
              </a:rPr>
              <a:t>•</a:t>
            </a:r>
            <a:r>
              <a:rPr lang="ja-JP" altLang="en-US" sz="1500">
                <a:solidFill>
                  <a:srgbClr val="1E2761"/>
                </a:solidFill>
              </a:rPr>
              <a:t>　ドラフトの「返信に赤を入れる」だけで改善指示が回る </a:t>
            </a:r>
            <a:r>
              <a:rPr lang="en-US" altLang="ja-JP" sz="1500" dirty="0">
                <a:solidFill>
                  <a:srgbClr val="1E2761"/>
                </a:solidFill>
              </a:rPr>
              <a:t>― </a:t>
            </a:r>
            <a:r>
              <a:rPr lang="ja-JP" altLang="en-US" sz="1500">
                <a:solidFill>
                  <a:srgbClr val="1E2761"/>
                </a:solidFill>
              </a:rPr>
              <a:t>自然な業務フローに乗る。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1B98842-8A7A-6F4A-A5CA-0EECCCBBF053}"/>
              </a:ext>
            </a:extLst>
          </p:cNvPr>
          <p:cNvSpPr txBox="1"/>
          <p:nvPr/>
        </p:nvSpPr>
        <p:spPr>
          <a:xfrm>
            <a:off x="546100" y="3073400"/>
            <a:ext cx="80264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500" dirty="0">
                <a:solidFill>
                  <a:srgbClr val="1E2761"/>
                </a:solidFill>
              </a:rPr>
              <a:t>•　筆者フィードバック（通貨ペア表記・答え合わせのトーン等5点）→ レポート品質改善</a:t>
            </a:r>
            <a:r>
              <a:rPr lang="ja-JP" altLang="en-US" sz="1500">
                <a:solidFill>
                  <a:srgbClr val="1E2761"/>
                </a:solidFill>
              </a:rPr>
              <a:t/>
            </a:r>
            <a:r>
              <a:rPr lang="ja-JP" altLang="en" sz="1500">
                <a:solidFill>
                  <a:srgbClr val="1E2761"/>
                </a:solidFill>
              </a:rPr>
              <a:t/>
            </a:r>
            <a:r>
              <a:rPr lang="en" altLang="ja-JP" sz="1500" dirty="0">
                <a:solidFill>
                  <a:srgbClr val="1E2761"/>
                </a:solidFill>
              </a:rPr>
              <a:t/>
            </a:r>
            <a:r>
              <a:rPr lang="ja-JP" altLang="en-US" sz="1500">
                <a:solidFill>
                  <a:srgbClr val="1E2761"/>
                </a:solidFill>
              </a:rPr>
              <a:t/>
            </a:r>
            <a:r>
              <a:rPr lang="en-US" altLang="ja-JP" sz="1500" dirty="0">
                <a:solidFill>
                  <a:srgbClr val="1E2761"/>
                </a:solidFill>
              </a:rPr>
              <a:t/>
            </a:r>
            <a:r>
              <a:rPr lang="ja-JP" altLang="en-US" sz="1500">
                <a:solidFill>
                  <a:srgbClr val="1E2761"/>
                </a:solidFill>
              </a:rPr>
              <a:t/>
            </a:r>
            <a:r>
              <a:rPr lang="en-US" altLang="ja-JP" sz="1500" dirty="0">
                <a:solidFill>
                  <a:srgbClr val="1E2761"/>
                </a:solidFill>
              </a:rPr>
              <a:t/>
            </a:r>
            <a:r>
              <a:rPr lang="ja-JP" altLang="en-US" sz="1500">
                <a:solidFill>
                  <a:srgbClr val="1E2761"/>
                </a:solidFill>
              </a:rPr>
              <a:t/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4B04C2E-D0BA-C246-A604-020144269C5D}"/>
              </a:ext>
            </a:extLst>
          </p:cNvPr>
          <p:cNvSpPr txBox="1"/>
          <p:nvPr/>
        </p:nvSpPr>
        <p:spPr>
          <a:xfrm>
            <a:off x="546100" y="3454400"/>
            <a:ext cx="80264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500" dirty="0">
                <a:solidFill>
                  <a:srgbClr val="1E2761"/>
                </a:solidFill>
              </a:rPr>
              <a:t>•</a:t>
            </a:r>
            <a:r>
              <a:rPr lang="ja-JP" altLang="en-US" sz="1500">
                <a:solidFill>
                  <a:srgbClr val="1E2761"/>
                </a:solidFill>
              </a:rPr>
              <a:t>　取り込みは </a:t>
            </a:r>
            <a:r>
              <a:rPr lang="en" altLang="ja-JP" sz="1500" dirty="0">
                <a:solidFill>
                  <a:srgbClr val="1E2761"/>
                </a:solidFill>
              </a:rPr>
              <a:t>Gmail </a:t>
            </a:r>
            <a:r>
              <a:rPr lang="ja-JP" altLang="en-US" sz="1500">
                <a:solidFill>
                  <a:srgbClr val="1E2761"/>
                </a:solidFill>
              </a:rPr>
              <a:t>検索（</a:t>
            </a:r>
            <a:r>
              <a:rPr lang="en" altLang="ja-JP" sz="1500" dirty="0">
                <a:solidFill>
                  <a:srgbClr val="1E2761"/>
                </a:solidFill>
              </a:rPr>
              <a:t>from/ owner </a:t>
            </a:r>
            <a:r>
              <a:rPr lang="ja-JP" altLang="en-US" sz="1500">
                <a:solidFill>
                  <a:srgbClr val="1E2761"/>
                </a:solidFill>
              </a:rPr>
              <a:t>転送）。最優先で </a:t>
            </a:r>
            <a:r>
              <a:rPr lang="en" altLang="ja-JP" sz="1500" dirty="0" err="1">
                <a:solidFill>
                  <a:srgbClr val="1E2761"/>
                </a:solidFill>
              </a:rPr>
              <a:t>style_guide</a:t>
            </a:r>
            <a:r>
              <a:rPr lang="en" altLang="ja-JP" sz="1500" dirty="0">
                <a:solidFill>
                  <a:srgbClr val="1E2761"/>
                </a:solidFill>
              </a:rPr>
              <a:t> </a:t>
            </a:r>
            <a:r>
              <a:rPr lang="ja-JP" altLang="en-US" sz="1500">
                <a:solidFill>
                  <a:srgbClr val="1E2761"/>
                </a:solidFill>
              </a:rPr>
              <a:t>に反映。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331139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8F82B3-73A8-414C-B1A1-8C400FD7ECAF}"/>
              </a:ext>
            </a:extLst>
          </p:cNvPr>
          <p:cNvSpPr txBox="1"/>
          <p:nvPr/>
        </p:nvSpPr>
        <p:spPr>
          <a:xfrm>
            <a:off x="546100" y="228600"/>
            <a:ext cx="80264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人間は何をするのか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6E493ED-5993-C949-AB95-C6BF79E07489}"/>
              </a:ext>
            </a:extLst>
          </p:cNvPr>
          <p:cNvSpPr txBox="1"/>
          <p:nvPr/>
        </p:nvSpPr>
        <p:spPr>
          <a:xfrm>
            <a:off x="546100" y="736600"/>
            <a:ext cx="8026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500">
                <a:solidFill>
                  <a:srgbClr val="64748B"/>
                </a:solidFill>
              </a:rPr>
              <a:t>AI </a:t>
            </a:r>
            <a:r>
              <a:rPr lang="ja-JP" altLang="en-US" sz="1500">
                <a:solidFill>
                  <a:srgbClr val="64748B"/>
                </a:solidFill>
              </a:rPr>
              <a:t>が全部やるのではなく、人間が要所だけ握る設計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C67033DF-7FC9-E648-96AD-31F60A902FDE}"/>
              </a:ext>
            </a:extLst>
          </p:cNvPr>
          <p:cNvSpPr/>
          <p:nvPr/>
        </p:nvSpPr>
        <p:spPr>
          <a:xfrm>
            <a:off x="546100" y="1270000"/>
            <a:ext cx="3987800" cy="1193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B73D919A-405B-8D42-B6B6-D15183896E2D}"/>
              </a:ext>
            </a:extLst>
          </p:cNvPr>
          <p:cNvSpPr/>
          <p:nvPr/>
        </p:nvSpPr>
        <p:spPr>
          <a:xfrm>
            <a:off x="723900" y="1447800"/>
            <a:ext cx="431800" cy="4318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FFFFFF"/>
                </a:solidFill>
              </a:rPr>
              <a:t>供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917C2BD-DF82-674C-BF7C-47A0AE6D328D}"/>
              </a:ext>
            </a:extLst>
          </p:cNvPr>
          <p:cNvSpPr txBox="1"/>
          <p:nvPr/>
        </p:nvSpPr>
        <p:spPr>
          <a:xfrm>
            <a:off x="1282700" y="1447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1E2761"/>
                </a:solidFill>
              </a:rPr>
              <a:t>正解（</a:t>
            </a:r>
            <a:r>
              <a:rPr lang="en" altLang="ja-JP" sz="1500" b="1">
                <a:solidFill>
                  <a:srgbClr val="1E2761"/>
                </a:solidFill>
              </a:rPr>
              <a:t>gold standard</a:t>
            </a:r>
            <a:r>
              <a:rPr lang="ja-JP" altLang="en" sz="1500" b="1">
                <a:solidFill>
                  <a:srgbClr val="1E2761"/>
                </a:solidFill>
              </a:rPr>
              <a:t>）</a:t>
            </a:r>
            <a:r>
              <a:rPr lang="ja-JP" altLang="en-US" sz="1500" b="1">
                <a:solidFill>
                  <a:srgbClr val="1E2761"/>
                </a:solidFill>
              </a:rPr>
              <a:t>の供給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FBAF90F-1136-644B-80DF-34159E4A1F02}"/>
              </a:ext>
            </a:extLst>
          </p:cNvPr>
          <p:cNvSpPr txBox="1"/>
          <p:nvPr/>
        </p:nvSpPr>
        <p:spPr>
          <a:xfrm>
            <a:off x="1282700" y="1778000"/>
            <a:ext cx="30988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筆者の実レポートが教師データ。これが無いと採点できない。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B2CBCAB3-75DC-894A-96C8-A79DF5F2241B}"/>
              </a:ext>
            </a:extLst>
          </p:cNvPr>
          <p:cNvSpPr/>
          <p:nvPr/>
        </p:nvSpPr>
        <p:spPr>
          <a:xfrm>
            <a:off x="4800600" y="1270000"/>
            <a:ext cx="3987800" cy="1193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E48D18B3-39C5-0248-9301-E786A6FB064A}"/>
              </a:ext>
            </a:extLst>
          </p:cNvPr>
          <p:cNvSpPr/>
          <p:nvPr/>
        </p:nvSpPr>
        <p:spPr>
          <a:xfrm>
            <a:off x="4978400" y="1447800"/>
            <a:ext cx="431800" cy="4318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FFFFFF"/>
                </a:solidFill>
              </a:rPr>
              <a:t>評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A1AC611-9BD8-BF42-80D8-69E9E7317670}"/>
              </a:ext>
            </a:extLst>
          </p:cNvPr>
          <p:cNvSpPr txBox="1"/>
          <p:nvPr/>
        </p:nvSpPr>
        <p:spPr>
          <a:xfrm>
            <a:off x="5537200" y="14478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1E2761"/>
                </a:solidFill>
              </a:rPr>
              <a:t>筆者からの直接フィードバック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3A8F722-9473-1F4B-88E4-AE617F09D94A}"/>
              </a:ext>
            </a:extLst>
          </p:cNvPr>
          <p:cNvSpPr txBox="1"/>
          <p:nvPr/>
        </p:nvSpPr>
        <p:spPr>
          <a:xfrm>
            <a:off x="5537200" y="1778000"/>
            <a:ext cx="30988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これまで </a:t>
            </a:r>
            <a:r>
              <a:rPr lang="en-US" altLang="ja-JP" sz="1300">
                <a:solidFill>
                  <a:srgbClr val="2D3748"/>
                </a:solidFill>
              </a:rPr>
              <a:t>9 </a:t>
            </a:r>
            <a:r>
              <a:rPr lang="ja-JP" altLang="en-US" sz="1300">
                <a:solidFill>
                  <a:srgbClr val="2D3748"/>
                </a:solidFill>
              </a:rPr>
              <a:t>回。型レベルの指摘を最優先で取り込む。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013E854E-6E01-164F-8991-ED5A08815D63}"/>
              </a:ext>
            </a:extLst>
          </p:cNvPr>
          <p:cNvSpPr/>
          <p:nvPr/>
        </p:nvSpPr>
        <p:spPr>
          <a:xfrm>
            <a:off x="546100" y="2590800"/>
            <a:ext cx="3987800" cy="1193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8D9CBC47-9D6D-7C4B-B0CA-E7BE528A636C}"/>
              </a:ext>
            </a:extLst>
          </p:cNvPr>
          <p:cNvSpPr/>
          <p:nvPr/>
        </p:nvSpPr>
        <p:spPr>
          <a:xfrm>
            <a:off x="723900" y="2768600"/>
            <a:ext cx="431800" cy="4318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FFFFFF"/>
                </a:solidFill>
              </a:rPr>
              <a:t>承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20354727-560B-D043-88D9-69A8F22C5078}"/>
              </a:ext>
            </a:extLst>
          </p:cNvPr>
          <p:cNvSpPr txBox="1"/>
          <p:nvPr/>
        </p:nvSpPr>
        <p:spPr>
          <a:xfrm>
            <a:off x="1282700" y="27686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1E2761"/>
                </a:solidFill>
              </a:rPr>
              <a:t>評価基準の変更承認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F09DE61-37D7-AB46-8D0E-083AC442789F}"/>
              </a:ext>
            </a:extLst>
          </p:cNvPr>
          <p:cNvSpPr txBox="1"/>
          <p:nvPr/>
        </p:nvSpPr>
        <p:spPr>
          <a:xfrm>
            <a:off x="1282700" y="3098800"/>
            <a:ext cx="30988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00" dirty="0">
                <a:solidFill>
                  <a:srgbClr val="2D3748"/>
                </a:solidFill>
              </a:rPr>
              <a:t>AI </a:t>
            </a:r>
            <a:r>
              <a:rPr lang="ja-JP" altLang="en-US" sz="1300">
                <a:solidFill>
                  <a:srgbClr val="2D3748"/>
                </a:solidFill>
              </a:rPr>
              <a:t>は学習セクション（書き方ルール</a:t>
            </a:r>
            <a:r>
              <a:rPr lang="ja-JP" altLang="en" sz="1300">
                <a:solidFill>
                  <a:srgbClr val="2D3748"/>
                </a:solidFill>
              </a:rPr>
              <a:t>）</a:t>
            </a:r>
            <a:r>
              <a:rPr lang="ja-JP" altLang="en-US" sz="1300">
                <a:solidFill>
                  <a:srgbClr val="2D3748"/>
                </a:solidFill>
              </a:rPr>
              <a:t>しか触れない。</a:t>
            </a:r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31751B32-0AA1-D54A-A43D-F4E2C880073E}"/>
              </a:ext>
            </a:extLst>
          </p:cNvPr>
          <p:cNvSpPr/>
          <p:nvPr/>
        </p:nvSpPr>
        <p:spPr>
          <a:xfrm>
            <a:off x="4800600" y="2590800"/>
            <a:ext cx="3987800" cy="1193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083624A4-2523-AF4F-9BA2-60CE3506346E}"/>
              </a:ext>
            </a:extLst>
          </p:cNvPr>
          <p:cNvSpPr/>
          <p:nvPr/>
        </p:nvSpPr>
        <p:spPr>
          <a:xfrm>
            <a:off x="4978400" y="2768600"/>
            <a:ext cx="431800" cy="4318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FFFFFF"/>
                </a:solidFill>
              </a:rPr>
              <a:t>送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09B8A6A-B7A1-2243-BF33-34160E049A86}"/>
              </a:ext>
            </a:extLst>
          </p:cNvPr>
          <p:cNvSpPr txBox="1"/>
          <p:nvPr/>
        </p:nvSpPr>
        <p:spPr>
          <a:xfrm>
            <a:off x="5537200" y="2768600"/>
            <a:ext cx="30734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1E2761"/>
                </a:solidFill>
              </a:rPr>
              <a:t>メールの最終送信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70E583F-39B3-0344-817B-2ECA98B365AC}"/>
              </a:ext>
            </a:extLst>
          </p:cNvPr>
          <p:cNvSpPr txBox="1"/>
          <p:nvPr/>
        </p:nvSpPr>
        <p:spPr>
          <a:xfrm>
            <a:off x="5537200" y="3098800"/>
            <a:ext cx="30988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00">
                <a:solidFill>
                  <a:srgbClr val="2D3748"/>
                </a:solidFill>
              </a:rPr>
              <a:t>AI </a:t>
            </a:r>
            <a:r>
              <a:rPr lang="ja-JP" altLang="en-US" sz="1300">
                <a:solidFill>
                  <a:srgbClr val="2D3748"/>
                </a:solidFill>
              </a:rPr>
              <a:t>は下書き作成まで。送信ボタンは人間が押す。</a:t>
            </a:r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600F9F53-3915-884D-A044-AF29A9358117}"/>
              </a:ext>
            </a:extLst>
          </p:cNvPr>
          <p:cNvSpPr/>
          <p:nvPr/>
        </p:nvSpPr>
        <p:spPr>
          <a:xfrm>
            <a:off x="520700" y="4152900"/>
            <a:ext cx="80264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400" b="1" i="1">
                <a:solidFill>
                  <a:srgbClr val="1E2761"/>
                </a:solidFill>
              </a:rPr>
              <a:t>AI </a:t>
            </a:r>
            <a:r>
              <a:rPr lang="ja-JP" altLang="en-US" sz="1400" b="1" i="1">
                <a:solidFill>
                  <a:srgbClr val="1E2761"/>
                </a:solidFill>
              </a:rPr>
              <a:t>は「下書きと自己採点」を高速に回し、人間は「方向づけと最終責任」を持つ。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B3124628-510B-2A1E-A947-9801F99A2F04}"/>
              </a:ext>
            </a:extLst>
          </p:cNvPr>
          <p:cNvSpPr/>
          <p:nvPr/>
        </p:nvSpPr>
        <p:spPr>
          <a:xfrm>
            <a:off x="5588000" y="3822700"/>
            <a:ext cx="2413000" cy="279400"/>
          </a:xfrm>
          <a:prstGeom prst="roundRect">
            <a:avLst/>
          </a:prstGeom>
          <a:solidFill>
            <a:schemeClr val="lt1">
              <a:alpha val="27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 anchorCtr="0">
            <a:noAutofit/>
          </a:bodyPr>
          <a:lstStyle/>
          <a:p>
            <a:pPr algn="ctr"/>
            <a:r>
              <a:rPr kumimoji="1" lang="ja-JP" altLang="en-US" sz="1300" b="1"/>
              <a:t>完全ループのため無くなる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6888"/>
            <a:ext cx="64008" cy="4714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19680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948B9E7-5638-5749-92C3-50307428A880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成果 </a:t>
            </a:r>
            <a:r>
              <a:rPr lang="en-US" altLang="ja-JP" sz="2800" b="1">
                <a:solidFill>
                  <a:srgbClr val="1E2761"/>
                </a:solidFill>
              </a:rPr>
              <a:t>― </a:t>
            </a:r>
            <a:r>
              <a:rPr lang="ja-JP" altLang="en-US" sz="2800" b="1">
                <a:solidFill>
                  <a:srgbClr val="1E2761"/>
                </a:solidFill>
              </a:rPr>
              <a:t>学習は効いているか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723FA9-14A5-B94B-957B-71591FE47459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>
                <a:solidFill>
                  <a:srgbClr val="64748B"/>
                </a:solidFill>
              </a:rPr>
              <a:t>総合スコア（</a:t>
            </a:r>
            <a:r>
              <a:rPr lang="en-US" altLang="ja-JP" sz="1500">
                <a:solidFill>
                  <a:srgbClr val="64748B"/>
                </a:solidFill>
              </a:rPr>
              <a:t>15</a:t>
            </a:r>
            <a:r>
              <a:rPr lang="ja-JP" altLang="en-US" sz="1500">
                <a:solidFill>
                  <a:srgbClr val="64748B"/>
                </a:solidFill>
              </a:rPr>
              <a:t>点満点）の推移が、学習が効いている証拠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5B0236EC-DDFB-7340-B30D-6DCFE4769E98}"/>
              </a:ext>
            </a:extLst>
          </p:cNvPr>
          <p:cNvSpPr/>
          <p:nvPr/>
        </p:nvSpPr>
        <p:spPr>
          <a:xfrm>
            <a:off x="546100" y="1092200"/>
            <a:ext cx="8026400" cy="6096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500" b="1" dirty="0">
                <a:solidFill>
                  <a:srgbClr val="FFFFFF"/>
                </a:solidFill>
              </a:rPr>
              <a:t>4</a:t>
            </a:r>
            <a:r>
              <a:rPr lang="ja-JP" altLang="en-US" sz="1500" b="1">
                <a:solidFill>
                  <a:srgbClr val="FFFFFF"/>
                </a:solidFill>
              </a:rPr>
              <a:t>周目</a:t>
            </a:r>
            <a:r>
              <a:rPr lang="en-US" altLang="ja-JP" sz="1500" b="1" dirty="0">
                <a:solidFill>
                  <a:srgbClr val="FFFFFF"/>
                </a:solidFill>
              </a:rPr>
              <a:t>  AI </a:t>
            </a:r>
            <a:r>
              <a:rPr lang="ja-JP" altLang="en-US" sz="1500" b="1">
                <a:solidFill>
                  <a:srgbClr val="FFFFFF"/>
                </a:solidFill>
              </a:rPr>
              <a:t>ドラフトを初めて実レポートのベースに採用 →「今日はいい感じですね！」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D092D5B-451E-E548-8994-8827AA2E96D1}"/>
              </a:ext>
            </a:extLst>
          </p:cNvPr>
          <p:cNvSpPr txBox="1"/>
          <p:nvPr/>
        </p:nvSpPr>
        <p:spPr>
          <a:xfrm>
            <a:off x="5969000" y="1752600"/>
            <a:ext cx="2667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2D3748"/>
                </a:solidFill>
              </a:rPr>
              <a:t>読みどころ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7FC87D-95F3-3B45-BBBC-C4B6EFE70A30}"/>
              </a:ext>
            </a:extLst>
          </p:cNvPr>
          <p:cNvSpPr txBox="1"/>
          <p:nvPr/>
        </p:nvSpPr>
        <p:spPr>
          <a:xfrm>
            <a:off x="5969000" y="2667000"/>
            <a:ext cx="27305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400">
                <a:solidFill>
                  <a:srgbClr val="1E2761"/>
                </a:solidFill>
              </a:rPr>
              <a:t>•</a:t>
            </a:r>
            <a:r>
              <a:rPr lang="ja-JP" altLang="en-US" sz="1400">
                <a:solidFill>
                  <a:srgbClr val="1E2761"/>
                </a:solidFill>
              </a:rPr>
              <a:t>　</a:t>
            </a:r>
            <a:r>
              <a:rPr lang="en-US" altLang="ja-JP" sz="1400">
                <a:solidFill>
                  <a:srgbClr val="1E2761"/>
                </a:solidFill>
              </a:rPr>
              <a:t>4</a:t>
            </a:r>
            <a:r>
              <a:rPr lang="ja-JP" altLang="en-US" sz="1400">
                <a:solidFill>
                  <a:srgbClr val="1E2761"/>
                </a:solidFill>
              </a:rPr>
              <a:t>周目：採用ピーク（</a:t>
            </a:r>
            <a:r>
              <a:rPr lang="en-US" altLang="ja-JP" sz="1400">
                <a:solidFill>
                  <a:srgbClr val="1E2761"/>
                </a:solidFill>
              </a:rPr>
              <a:t>13</a:t>
            </a:r>
            <a:r>
              <a:rPr lang="ja-JP" altLang="en-US" sz="1400">
                <a:solidFill>
                  <a:srgbClr val="1E2761"/>
                </a:solidFill>
              </a:rPr>
              <a:t>点）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13C17D-E7FA-8644-BBDF-D50CA6AD0E12}"/>
              </a:ext>
            </a:extLst>
          </p:cNvPr>
          <p:cNvSpPr txBox="1"/>
          <p:nvPr/>
        </p:nvSpPr>
        <p:spPr>
          <a:xfrm>
            <a:off x="5969000" y="2997200"/>
            <a:ext cx="27305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400">
                <a:solidFill>
                  <a:srgbClr val="1E2761"/>
                </a:solidFill>
              </a:rPr>
              <a:t>•</a:t>
            </a:r>
            <a:r>
              <a:rPr lang="ja-JP" altLang="en-US" sz="1400">
                <a:solidFill>
                  <a:srgbClr val="1E2761"/>
                </a:solidFill>
              </a:rPr>
              <a:t>　</a:t>
            </a:r>
            <a:r>
              <a:rPr lang="en-US" altLang="ja-JP" sz="1400">
                <a:solidFill>
                  <a:srgbClr val="1E2761"/>
                </a:solidFill>
              </a:rPr>
              <a:t>5</a:t>
            </a:r>
            <a:r>
              <a:rPr lang="ja-JP" altLang="en-US" sz="1400">
                <a:solidFill>
                  <a:srgbClr val="1E2761"/>
                </a:solidFill>
              </a:rPr>
              <a:t>周目：筆者が独自構成へ。</a:t>
            </a:r>
            <a:r>
              <a:rPr lang="en-US" altLang="ja-JP" sz="1400">
                <a:solidFill>
                  <a:srgbClr val="1E2761"/>
                </a:solidFill>
              </a:rPr>
              <a:t>9 </a:t>
            </a:r>
            <a:r>
              <a:rPr lang="ja-JP" altLang="en-US" sz="1400">
                <a:solidFill>
                  <a:srgbClr val="1E2761"/>
                </a:solidFill>
              </a:rPr>
              <a:t>回目の直接 </a:t>
            </a:r>
            <a:r>
              <a:rPr lang="en" altLang="ja-JP" sz="1400">
                <a:solidFill>
                  <a:srgbClr val="1E2761"/>
                </a:solidFill>
              </a:rPr>
              <a:t>FB </a:t>
            </a:r>
            <a:r>
              <a:rPr lang="ja-JP" altLang="en-US" sz="1400">
                <a:solidFill>
                  <a:srgbClr val="1E2761"/>
                </a:solidFill>
              </a:rPr>
              <a:t>を受領（</a:t>
            </a:r>
            <a:r>
              <a:rPr lang="en-US" altLang="ja-JP" sz="1400">
                <a:solidFill>
                  <a:srgbClr val="1E2761"/>
                </a:solidFill>
              </a:rPr>
              <a:t>9 </a:t>
            </a:r>
            <a:r>
              <a:rPr lang="ja-JP" altLang="en-US" sz="1400">
                <a:solidFill>
                  <a:srgbClr val="1E2761"/>
                </a:solidFill>
              </a:rPr>
              <a:t>点）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B046A6CA-0F3B-444E-B1B7-F265BC590462}"/>
              </a:ext>
            </a:extLst>
          </p:cNvPr>
          <p:cNvSpPr/>
          <p:nvPr/>
        </p:nvSpPr>
        <p:spPr>
          <a:xfrm>
            <a:off x="5930900" y="3568700"/>
            <a:ext cx="2730500" cy="1080938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i="1">
                <a:solidFill>
                  <a:srgbClr val="2D3748"/>
                </a:solidFill>
              </a:rPr>
              <a:t>数字は上下する。下がった日も「なぜ下がったか」が </a:t>
            </a:r>
            <a:r>
              <a:rPr lang="en" altLang="ja-JP" sz="1400" i="1" dirty="0">
                <a:solidFill>
                  <a:srgbClr val="2D3748"/>
                </a:solidFill>
              </a:rPr>
              <a:t>feedback </a:t>
            </a:r>
            <a:r>
              <a:rPr lang="ja-JP" altLang="en-US" sz="1400" i="1">
                <a:solidFill>
                  <a:srgbClr val="2D3748"/>
                </a:solidFill>
              </a:rPr>
              <a:t>に残り、次の学習材料になる </a:t>
            </a:r>
            <a:r>
              <a:rPr lang="en-US" altLang="ja-JP" sz="1400" i="1" dirty="0">
                <a:solidFill>
                  <a:srgbClr val="2D3748"/>
                </a:solidFill>
              </a:rPr>
              <a:t>―― </a:t>
            </a:r>
            <a:r>
              <a:rPr lang="ja-JP" altLang="en-US" sz="1400" i="1">
                <a:solidFill>
                  <a:srgbClr val="2D3748"/>
                </a:solidFill>
              </a:rPr>
              <a:t>これが本質。</a:t>
            </a:r>
          </a:p>
        </p:txBody>
      </p:sp>
      <p:graphicFrame>
        <p:nvGraphicFramePr>
          <p:cNvPr id="200" name="ScoreChart"/>
          <p:cNvGraphicFramePr/>
          <p:nvPr/>
        </p:nvGraphicFramePr>
        <p:xfrm>
          <a:off x="546100" y="1651000"/>
          <a:ext cx="5207000" cy="3060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6D9A4B6-811E-EC4D-A839-32F971895908}"/>
              </a:ext>
            </a:extLst>
          </p:cNvPr>
          <p:cNvSpPr/>
          <p:nvPr/>
        </p:nvSpPr>
        <p:spPr>
          <a:xfrm>
            <a:off x="5969000" y="2057400"/>
            <a:ext cx="2692400" cy="508000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50" b="1">
                <a:solidFill>
                  <a:srgbClr val="FFFFFF"/>
                </a:solidFill>
              </a:rPr>
              <a:t>↗ 筆者</a:t>
            </a:r>
            <a:r>
              <a:rPr lang="en" altLang="ja-JP" sz="1250" b="1" dirty="0">
                <a:solidFill>
                  <a:srgbClr val="FFFFFF"/>
                </a:solidFill>
              </a:rPr>
              <a:t>FB</a:t>
            </a:r>
            <a:r>
              <a:rPr lang="ja-JP" altLang="en-US" sz="1250" b="1">
                <a:solidFill>
                  <a:srgbClr val="FFFFFF"/>
                </a:solidFill>
              </a:rPr>
              <a:t>の反映でスコア改善
</a:t>
            </a:r>
            <a:r>
              <a:rPr lang="en-US" altLang="ja-JP" sz="1250" b="1" dirty="0">
                <a:solidFill>
                  <a:srgbClr val="FFFFFF"/>
                </a:solidFill>
              </a:rPr>
              <a:t>1</a:t>
            </a:r>
            <a:r>
              <a:rPr lang="ja-JP" altLang="en-US" sz="1250" b="1">
                <a:solidFill>
                  <a:srgbClr val="FFFFFF"/>
                </a:solidFill>
              </a:rPr>
              <a:t>周目 </a:t>
            </a:r>
            <a:r>
              <a:rPr lang="en-US" altLang="ja-JP" sz="1250" b="1" dirty="0">
                <a:solidFill>
                  <a:srgbClr val="FFFFFF"/>
                </a:solidFill>
              </a:rPr>
              <a:t>7 → 4</a:t>
            </a:r>
            <a:r>
              <a:rPr lang="ja-JP" altLang="en-US" sz="1250" b="1">
                <a:solidFill>
                  <a:srgbClr val="FFFFFF"/>
                </a:solidFill>
              </a:rPr>
              <a:t>周目 </a:t>
            </a:r>
            <a:r>
              <a:rPr lang="en-US" altLang="ja-JP" sz="1250" b="1" dirty="0">
                <a:solidFill>
                  <a:srgbClr val="FFFFFF"/>
                </a:solidFill>
              </a:rPr>
              <a:t>13</a:t>
            </a:r>
            <a:r>
              <a:rPr lang="ja-JP" altLang="en-US" sz="1250" b="1">
                <a:solidFill>
                  <a:srgbClr val="FFFFFF"/>
                </a:solidFill>
              </a:rPr>
              <a:t>（</a:t>
            </a:r>
            <a:r>
              <a:rPr lang="en-US" altLang="ja-JP" sz="1250" b="1" dirty="0">
                <a:solidFill>
                  <a:srgbClr val="FFFFFF"/>
                </a:solidFill>
              </a:rPr>
              <a:t>+6</a:t>
            </a:r>
            <a:r>
              <a:rPr lang="ja-JP" altLang="en-US" sz="1250" b="1">
                <a:solidFill>
                  <a:srgbClr val="FFFFFF"/>
                </a:solidFill>
              </a:rPr>
              <a:t>）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55125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D13BB6B-5087-4E42-8DAE-5870513AA452}"/>
              </a:ext>
            </a:extLst>
          </p:cNvPr>
          <p:cNvSpPr txBox="1"/>
          <p:nvPr/>
        </p:nvSpPr>
        <p:spPr>
          <a:xfrm>
            <a:off x="762000" y="1473200"/>
            <a:ext cx="76200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b="1">
                <a:solidFill>
                  <a:srgbClr val="CADCFC"/>
                </a:solidFill>
              </a:rPr>
              <a:t>PART 2</a:t>
            </a:r>
            <a:endParaRPr lang="ja-JP" altLang="en-US" b="1">
              <a:solidFill>
                <a:srgbClr val="64748B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33D5652-2EC2-6848-87FB-93BFA13410F2}"/>
              </a:ext>
            </a:extLst>
          </p:cNvPr>
          <p:cNvSpPr txBox="1"/>
          <p:nvPr/>
        </p:nvSpPr>
        <p:spPr>
          <a:xfrm>
            <a:off x="762000" y="1879600"/>
            <a:ext cx="7620000" cy="711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4000" b="1">
                <a:solidFill>
                  <a:srgbClr val="FFFFFF"/>
                </a:solidFill>
              </a:rPr>
              <a:t>アーキテクチャ深掘り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468CDEE-7990-7548-A4F0-1AC884DBE6BE}"/>
              </a:ext>
            </a:extLst>
          </p:cNvPr>
          <p:cNvSpPr/>
          <p:nvPr/>
        </p:nvSpPr>
        <p:spPr>
          <a:xfrm>
            <a:off x="4191000" y="2768600"/>
            <a:ext cx="762000" cy="38100"/>
          </a:xfrm>
          <a:prstGeom prst="rect">
            <a:avLst/>
          </a:prstGeom>
          <a:solidFill>
            <a:srgbClr val="F9616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4425A64-F68D-4947-9CB1-9B5162CECF9D}"/>
              </a:ext>
            </a:extLst>
          </p:cNvPr>
          <p:cNvSpPr txBox="1"/>
          <p:nvPr/>
        </p:nvSpPr>
        <p:spPr>
          <a:xfrm>
            <a:off x="889000" y="3124200"/>
            <a:ext cx="7366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600" i="1">
                <a:solidFill>
                  <a:srgbClr val="CADCFC"/>
                </a:solidFill>
              </a:rPr>
              <a:t>Claude Code </a:t>
            </a:r>
            <a:r>
              <a:rPr lang="ja-JP" altLang="en-US" sz="1600" i="1">
                <a:solidFill>
                  <a:srgbClr val="CADCFC"/>
                </a:solidFill>
              </a:rPr>
              <a:t>の機能 </a:t>
            </a:r>
            <a:r>
              <a:rPr lang="en-US" altLang="ja-JP" sz="1600" i="1">
                <a:solidFill>
                  <a:srgbClr val="CADCFC"/>
                </a:solidFill>
              </a:rPr>
              <a:t>― </a:t>
            </a:r>
            <a:r>
              <a:rPr lang="en" altLang="ja-JP" sz="1600" i="1">
                <a:solidFill>
                  <a:srgbClr val="CADCFC"/>
                </a:solidFill>
              </a:rPr>
              <a:t>Skill / Cron / Hooks / Agent / MCP / memory ― </a:t>
            </a:r>
            <a:r>
              <a:rPr lang="ja-JP" altLang="en-US" sz="1600" i="1">
                <a:solidFill>
                  <a:srgbClr val="CADCFC"/>
                </a:solidFill>
              </a:rPr>
              <a:t>でどう実装したかを見る。</a:t>
            </a:r>
          </a:p>
        </p:txBody>
      </p:sp>
    </p:spTree>
    <p:extLst>
      <p:ext uri="{BB962C8B-B14F-4D97-AF65-F5344CB8AC3E}">
        <p14:creationId xmlns:p14="http://schemas.microsoft.com/office/powerpoint/2010/main" val="2664413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1308C19-881F-5F4B-B8A6-9BEE9413B493}"/>
              </a:ext>
            </a:extLst>
          </p:cNvPr>
          <p:cNvSpPr txBox="1"/>
          <p:nvPr/>
        </p:nvSpPr>
        <p:spPr>
          <a:xfrm>
            <a:off x="546100" y="127000"/>
            <a:ext cx="8128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400" b="1">
                <a:solidFill>
                  <a:srgbClr val="1E2761"/>
                </a:solidFill>
              </a:rPr>
              <a:t>全体像 </a:t>
            </a:r>
            <a:r>
              <a:rPr lang="en-US" altLang="ja-JP" sz="2400" b="1" dirty="0">
                <a:solidFill>
                  <a:srgbClr val="1E2761"/>
                </a:solidFill>
              </a:rPr>
              <a:t>― 1 </a:t>
            </a:r>
            <a:r>
              <a:rPr lang="ja-JP" altLang="en-US" sz="2400" b="1">
                <a:solidFill>
                  <a:srgbClr val="1E2761"/>
                </a:solidFill>
              </a:rPr>
              <a:t>枚で見る　エージェントの実装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8B1165-8BE1-CA44-8F94-E4C5A01EF200}"/>
              </a:ext>
            </a:extLst>
          </p:cNvPr>
          <p:cNvSpPr txBox="1"/>
          <p:nvPr/>
        </p:nvSpPr>
        <p:spPr>
          <a:xfrm>
            <a:off x="584200" y="5588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50" b="1" dirty="0">
                <a:solidFill>
                  <a:srgbClr val="64748B"/>
                </a:solidFill>
              </a:rPr>
              <a:t>① </a:t>
            </a:r>
            <a:r>
              <a:rPr lang="ja-JP" altLang="en-US" sz="1350" b="1">
                <a:solidFill>
                  <a:srgbClr val="64748B"/>
                </a:solidFill>
              </a:rPr>
              <a:t>生成層（朝 </a:t>
            </a:r>
            <a:r>
              <a:rPr lang="en-US" altLang="ja-JP" sz="1350" b="1" dirty="0">
                <a:solidFill>
                  <a:srgbClr val="64748B"/>
                </a:solidFill>
              </a:rPr>
              <a:t>06:30 </a:t>
            </a:r>
            <a:r>
              <a:rPr lang="ja-JP" altLang="en-US" sz="1350" b="1">
                <a:solidFill>
                  <a:srgbClr val="64748B"/>
                </a:solidFill>
              </a:rPr>
              <a:t>｜ </a:t>
            </a:r>
            <a:r>
              <a:rPr lang="en-US" altLang="ja-JP" sz="1350" b="1" dirty="0">
                <a:solidFill>
                  <a:srgbClr val="64748B"/>
                </a:solidFill>
              </a:rPr>
              <a:t>/</a:t>
            </a:r>
            <a:r>
              <a:rPr lang="en" altLang="ja-JP" sz="1350" b="1" dirty="0">
                <a:solidFill>
                  <a:srgbClr val="64748B"/>
                </a:solidFill>
              </a:rPr>
              <a:t>harness-daily-draft</a:t>
            </a:r>
            <a:r>
              <a:rPr lang="ja-JP" altLang="en" sz="1350" b="1">
                <a:solidFill>
                  <a:srgbClr val="64748B"/>
                </a:solidFill>
              </a:rPr>
              <a:t>）</a:t>
            </a:r>
            <a:endParaRPr lang="ja-JP" altLang="en-US" sz="1350" b="1">
              <a:solidFill>
                <a:srgbClr val="64748B"/>
              </a:solidFill>
            </a:endParaRP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C064B109-09A5-2944-822E-645CB579FF92}"/>
              </a:ext>
            </a:extLst>
          </p:cNvPr>
          <p:cNvSpPr/>
          <p:nvPr/>
        </p:nvSpPr>
        <p:spPr>
          <a:xfrm>
            <a:off x="609600" y="838200"/>
            <a:ext cx="1244600" cy="9906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00" b="1" dirty="0">
                <a:solidFill>
                  <a:srgbClr val="1E2761"/>
                </a:solidFill>
              </a:rPr>
              <a:t>Step0
</a:t>
            </a:r>
            <a:r>
              <a:rPr lang="ja-JP" altLang="en-US" sz="1200" b="1">
                <a:solidFill>
                  <a:srgbClr val="1E2761"/>
                </a:solidFill>
              </a:rPr>
              <a:t>自己反省</a:t>
            </a: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22A1F9B0-EDE7-574E-AB60-1F7590B1558D}"/>
              </a:ext>
            </a:extLst>
          </p:cNvPr>
          <p:cNvSpPr/>
          <p:nvPr/>
        </p:nvSpPr>
        <p:spPr>
          <a:xfrm>
            <a:off x="1981200" y="838200"/>
            <a:ext cx="1244600" cy="9906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00" b="1">
                <a:solidFill>
                  <a:srgbClr val="1E2761"/>
                </a:solidFill>
              </a:rPr>
              <a:t>Step1
</a:t>
            </a:r>
            <a:r>
              <a:rPr lang="ja-JP" altLang="en-US" sz="1200" b="1">
                <a:solidFill>
                  <a:srgbClr val="1E2761"/>
                </a:solidFill>
              </a:rPr>
              <a:t>情報収集
</a:t>
            </a:r>
            <a:r>
              <a:rPr lang="en" altLang="ja-JP" sz="1200" b="1">
                <a:solidFill>
                  <a:srgbClr val="1E2761"/>
                </a:solidFill>
              </a:rPr>
              <a:t>M/N/I/B</a:t>
            </a:r>
            <a:endParaRPr lang="ja-JP" altLang="en-US" sz="1200" b="1">
              <a:solidFill>
                <a:srgbClr val="1E2761"/>
              </a:solidFill>
            </a:endParaRP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5A9E858E-CAE8-024A-B3C3-7AC4F94A3A74}"/>
              </a:ext>
            </a:extLst>
          </p:cNvPr>
          <p:cNvSpPr/>
          <p:nvPr/>
        </p:nvSpPr>
        <p:spPr>
          <a:xfrm>
            <a:off x="3352800" y="838200"/>
            <a:ext cx="1244600" cy="9906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00" b="1">
                <a:solidFill>
                  <a:srgbClr val="1E2761"/>
                </a:solidFill>
              </a:rPr>
              <a:t>Step2
</a:t>
            </a:r>
            <a:r>
              <a:rPr lang="ja-JP" altLang="en-US" sz="1200" b="1">
                <a:solidFill>
                  <a:srgbClr val="1E2761"/>
                </a:solidFill>
              </a:rPr>
              <a:t>ドラフト
生成</a:t>
            </a: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4E6A76D3-5584-294D-91B8-6EDA5CFD77C5}"/>
              </a:ext>
            </a:extLst>
          </p:cNvPr>
          <p:cNvSpPr/>
          <p:nvPr/>
        </p:nvSpPr>
        <p:spPr>
          <a:xfrm>
            <a:off x="4724400" y="838200"/>
            <a:ext cx="1244600" cy="9906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00" b="1">
                <a:solidFill>
                  <a:srgbClr val="1E2761"/>
                </a:solidFill>
              </a:rPr>
              <a:t>Step2.5
</a:t>
            </a:r>
            <a:r>
              <a:rPr lang="ja-JP" altLang="en-US" sz="1200" b="1">
                <a:solidFill>
                  <a:srgbClr val="1E2761"/>
                </a:solidFill>
              </a:rPr>
              <a:t>ファクト
チェック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64EE5349-9189-1840-8451-1F2AF1F5B6AC}"/>
              </a:ext>
            </a:extLst>
          </p:cNvPr>
          <p:cNvSpPr/>
          <p:nvPr/>
        </p:nvSpPr>
        <p:spPr>
          <a:xfrm>
            <a:off x="6096000" y="838200"/>
            <a:ext cx="1244600" cy="9906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00" b="1">
                <a:solidFill>
                  <a:srgbClr val="1E2761"/>
                </a:solidFill>
              </a:rPr>
              <a:t>Step3
</a:t>
            </a:r>
            <a:r>
              <a:rPr lang="ja-JP" altLang="en-US" sz="1200" b="1">
                <a:solidFill>
                  <a:srgbClr val="1E2761"/>
                </a:solidFill>
              </a:rPr>
              <a:t>アーカイブ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3DBAAA76-F8B5-8941-911F-E0E20F87504B}"/>
              </a:ext>
            </a:extLst>
          </p:cNvPr>
          <p:cNvSpPr/>
          <p:nvPr/>
        </p:nvSpPr>
        <p:spPr>
          <a:xfrm>
            <a:off x="7467600" y="838200"/>
            <a:ext cx="1244600" cy="9906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00" b="1">
                <a:solidFill>
                  <a:srgbClr val="1E2761"/>
                </a:solidFill>
              </a:rPr>
              <a:t>Step4
</a:t>
            </a:r>
            <a:r>
              <a:rPr lang="ja-JP" altLang="en-US" sz="1200" b="1">
                <a:solidFill>
                  <a:srgbClr val="1E2761"/>
                </a:solidFill>
              </a:rPr>
              <a:t>メール
下書き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3B4E1CA-C34C-8345-822E-AF1C4709E6F5}"/>
              </a:ext>
            </a:extLst>
          </p:cNvPr>
          <p:cNvSpPr txBox="1"/>
          <p:nvPr/>
        </p:nvSpPr>
        <p:spPr>
          <a:xfrm>
            <a:off x="1803400" y="1168400"/>
            <a:ext cx="20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b="1">
                <a:solidFill>
                  <a:srgbClr val="64748B"/>
                </a:solidFill>
              </a:rPr>
              <a:t>›</a:t>
            </a:r>
            <a:endParaRPr lang="ja-JP" altLang="en-US" b="1">
              <a:solidFill>
                <a:srgbClr val="64748B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F9DA22D-EDD2-EF4E-832D-071647C3CE06}"/>
              </a:ext>
            </a:extLst>
          </p:cNvPr>
          <p:cNvSpPr txBox="1"/>
          <p:nvPr/>
        </p:nvSpPr>
        <p:spPr>
          <a:xfrm>
            <a:off x="3175000" y="1168400"/>
            <a:ext cx="20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b="1">
                <a:solidFill>
                  <a:srgbClr val="64748B"/>
                </a:solidFill>
              </a:rPr>
              <a:t>›</a:t>
            </a:r>
            <a:endParaRPr lang="ja-JP" altLang="en-US" b="1">
              <a:solidFill>
                <a:srgbClr val="64748B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9AB846B-3D58-DC48-9E6C-8AA91E1D5302}"/>
              </a:ext>
            </a:extLst>
          </p:cNvPr>
          <p:cNvSpPr txBox="1"/>
          <p:nvPr/>
        </p:nvSpPr>
        <p:spPr>
          <a:xfrm>
            <a:off x="4546600" y="1168400"/>
            <a:ext cx="20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b="1">
                <a:solidFill>
                  <a:srgbClr val="64748B"/>
                </a:solidFill>
              </a:rPr>
              <a:t>›</a:t>
            </a:r>
            <a:endParaRPr lang="ja-JP" altLang="en-US" b="1">
              <a:solidFill>
                <a:srgbClr val="64748B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84AC850-F20A-5641-BAAA-172C982DF3F3}"/>
              </a:ext>
            </a:extLst>
          </p:cNvPr>
          <p:cNvSpPr txBox="1"/>
          <p:nvPr/>
        </p:nvSpPr>
        <p:spPr>
          <a:xfrm>
            <a:off x="5918200" y="1168400"/>
            <a:ext cx="20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b="1">
                <a:solidFill>
                  <a:srgbClr val="64748B"/>
                </a:solidFill>
              </a:rPr>
              <a:t>›</a:t>
            </a:r>
            <a:endParaRPr lang="ja-JP" altLang="en-US" b="1">
              <a:solidFill>
                <a:srgbClr val="64748B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154A4B3-C4B4-7940-9A89-716D1A890E26}"/>
              </a:ext>
            </a:extLst>
          </p:cNvPr>
          <p:cNvSpPr txBox="1"/>
          <p:nvPr/>
        </p:nvSpPr>
        <p:spPr>
          <a:xfrm>
            <a:off x="7289800" y="1168400"/>
            <a:ext cx="20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b="1">
                <a:solidFill>
                  <a:srgbClr val="64748B"/>
                </a:solidFill>
              </a:rPr>
              <a:t>›</a:t>
            </a:r>
            <a:endParaRPr lang="ja-JP" altLang="en-US" b="1">
              <a:solidFill>
                <a:srgbClr val="64748B"/>
              </a:solidFill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FDB264F-B9D4-2344-9E3D-FEA21EAF5AC7}"/>
              </a:ext>
            </a:extLst>
          </p:cNvPr>
          <p:cNvSpPr txBox="1"/>
          <p:nvPr/>
        </p:nvSpPr>
        <p:spPr>
          <a:xfrm>
            <a:off x="584200" y="19050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00" b="1">
                <a:solidFill>
                  <a:srgbClr val="64748B"/>
                </a:solidFill>
              </a:rPr>
              <a:t>↓</a:t>
            </a:r>
            <a:r>
              <a:rPr lang="ja-JP" altLang="en" sz="1300" b="1">
                <a:solidFill>
                  <a:srgbClr val="64748B"/>
                </a:solidFill>
              </a:rPr>
              <a:t>　</a:t>
            </a:r>
            <a:r>
              <a:rPr lang="en" altLang="ja-JP" sz="1300" b="1">
                <a:solidFill>
                  <a:srgbClr val="64748B"/>
                </a:solidFill>
              </a:rPr>
              <a:t>Step3 </a:t>
            </a:r>
            <a:r>
              <a:rPr lang="ja-JP" altLang="en-US" sz="1300" b="1">
                <a:solidFill>
                  <a:srgbClr val="64748B"/>
                </a:solidFill>
              </a:rPr>
              <a:t>のアーカイブを </a:t>
            </a:r>
            <a:r>
              <a:rPr lang="en" altLang="ja-JP" sz="1300" b="1">
                <a:solidFill>
                  <a:srgbClr val="64748B"/>
                </a:solidFill>
              </a:rPr>
              <a:t>Evaluator </a:t>
            </a:r>
            <a:r>
              <a:rPr lang="ja-JP" altLang="en-US" sz="1300" b="1">
                <a:solidFill>
                  <a:srgbClr val="64748B"/>
                </a:solidFill>
              </a:rPr>
              <a:t>へ渡して採点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5E3C404-9901-5F44-A483-35C3EC305368}"/>
              </a:ext>
            </a:extLst>
          </p:cNvPr>
          <p:cNvSpPr txBox="1"/>
          <p:nvPr/>
        </p:nvSpPr>
        <p:spPr>
          <a:xfrm>
            <a:off x="584200" y="2184400"/>
            <a:ext cx="8128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350" b="1" dirty="0">
                <a:solidFill>
                  <a:srgbClr val="1E2761"/>
                </a:solidFill>
              </a:rPr>
              <a:t>② </a:t>
            </a:r>
            <a:r>
              <a:rPr lang="ja-JP" altLang="en-US" sz="1350" b="1">
                <a:solidFill>
                  <a:srgbClr val="1E2761"/>
                </a:solidFill>
              </a:rPr>
              <a:t>改善層（昼 </a:t>
            </a:r>
            <a:r>
              <a:rPr lang="en-US" altLang="ja-JP" sz="1350" b="1" dirty="0">
                <a:solidFill>
                  <a:srgbClr val="1E2761"/>
                </a:solidFill>
              </a:rPr>
              <a:t>15:00 </a:t>
            </a:r>
            <a:r>
              <a:rPr lang="ja-JP" altLang="en-US" sz="1350" b="1">
                <a:solidFill>
                  <a:srgbClr val="1E2761"/>
                </a:solidFill>
              </a:rPr>
              <a:t>｜ </a:t>
            </a:r>
            <a:r>
              <a:rPr lang="en-US" altLang="ja-JP" sz="1350" b="1" dirty="0">
                <a:solidFill>
                  <a:srgbClr val="1E2761"/>
                </a:solidFill>
              </a:rPr>
              <a:t>/</a:t>
            </a:r>
            <a:r>
              <a:rPr lang="en" altLang="ja-JP" sz="1350" b="1" dirty="0">
                <a:solidFill>
                  <a:srgbClr val="1E2761"/>
                </a:solidFill>
              </a:rPr>
              <a:t>harness-daily-eval</a:t>
            </a:r>
            <a:r>
              <a:rPr lang="ja-JP" altLang="en" sz="1350" b="1">
                <a:solidFill>
                  <a:srgbClr val="1E2761"/>
                </a:solidFill>
              </a:rPr>
              <a:t>）</a:t>
            </a:r>
            <a:endParaRPr lang="ja-JP" altLang="en-US" sz="1350" b="1">
              <a:solidFill>
                <a:srgbClr val="1E2761"/>
              </a:solidFill>
            </a:endParaRP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A855067F-57BB-434E-ABCE-70D4A125E73E}"/>
              </a:ext>
            </a:extLst>
          </p:cNvPr>
          <p:cNvSpPr/>
          <p:nvPr/>
        </p:nvSpPr>
        <p:spPr>
          <a:xfrm>
            <a:off x="546100" y="2463800"/>
            <a:ext cx="1905000" cy="660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50" b="1">
                <a:solidFill>
                  <a:srgbClr val="1E2761"/>
                </a:solidFill>
              </a:rPr>
              <a:t>gold_standard
</a:t>
            </a:r>
            <a:r>
              <a:rPr lang="ja-JP" altLang="en-US" sz="1250" b="1">
                <a:solidFill>
                  <a:srgbClr val="1E2761"/>
                </a:solidFill>
              </a:rPr>
              <a:t>筆者の実レポート</a:t>
            </a: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082C1CEF-FAFB-DA47-90B9-7183512BB357}"/>
              </a:ext>
            </a:extLst>
          </p:cNvPr>
          <p:cNvSpPr/>
          <p:nvPr/>
        </p:nvSpPr>
        <p:spPr>
          <a:xfrm>
            <a:off x="2616200" y="2463800"/>
            <a:ext cx="1905000" cy="6604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50" b="1">
                <a:solidFill>
                  <a:srgbClr val="1E2761"/>
                </a:solidFill>
              </a:rPr>
              <a:t>Evaluator
</a:t>
            </a:r>
            <a:r>
              <a:rPr lang="ja-JP" altLang="en-US" sz="1250" b="1">
                <a:solidFill>
                  <a:srgbClr val="1E2761"/>
                </a:solidFill>
              </a:rPr>
              <a:t>採点 </a:t>
            </a:r>
            <a:r>
              <a:rPr lang="en" altLang="ja-JP" sz="1250" b="1">
                <a:solidFill>
                  <a:srgbClr val="1E2761"/>
                </a:solidFill>
              </a:rPr>
              <a:t>S1/S2/S3</a:t>
            </a:r>
            <a:endParaRPr lang="ja-JP" altLang="en-US" sz="1250" b="1">
              <a:solidFill>
                <a:srgbClr val="1E2761"/>
              </a:solidFill>
            </a:endParaRP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4076F3F3-FB3E-E94E-A4E9-CFF886878C6A}"/>
              </a:ext>
            </a:extLst>
          </p:cNvPr>
          <p:cNvSpPr/>
          <p:nvPr/>
        </p:nvSpPr>
        <p:spPr>
          <a:xfrm>
            <a:off x="4686300" y="2463800"/>
            <a:ext cx="1905000" cy="660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250" b="1" dirty="0">
                <a:solidFill>
                  <a:srgbClr val="1E2761"/>
                </a:solidFill>
              </a:rPr>
              <a:t>feedback </a:t>
            </a:r>
            <a:r>
              <a:rPr lang="ja-JP" altLang="en" sz="1250" b="1">
                <a:solidFill>
                  <a:srgbClr val="1E2761"/>
                </a:solidFill>
              </a:rPr>
              <a:t>＋
</a:t>
            </a:r>
            <a:r>
              <a:rPr lang="ja-JP" altLang="en-US" sz="1250" b="1">
                <a:solidFill>
                  <a:srgbClr val="1E2761"/>
                </a:solidFill>
              </a:rPr>
              <a:t>書き方ルール</a:t>
            </a:r>
            <a:r>
              <a:rPr lang="en" altLang="ja-JP" sz="1250" b="1" dirty="0">
                <a:solidFill>
                  <a:srgbClr val="1E2761"/>
                </a:solidFill>
              </a:rPr>
              <a:t> </a:t>
            </a:r>
            <a:r>
              <a:rPr lang="ja-JP" altLang="en-US" sz="1250" b="1">
                <a:solidFill>
                  <a:srgbClr val="1E2761"/>
                </a:solidFill>
              </a:rPr>
              <a:t>更新</a:t>
            </a:r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552F5EEC-3768-5A44-95FB-5C5BB124F49A}"/>
              </a:ext>
            </a:extLst>
          </p:cNvPr>
          <p:cNvSpPr/>
          <p:nvPr/>
        </p:nvSpPr>
        <p:spPr>
          <a:xfrm>
            <a:off x="6756400" y="2463800"/>
            <a:ext cx="1905000" cy="6604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50" b="1">
                <a:solidFill>
                  <a:srgbClr val="1E2761"/>
                </a:solidFill>
              </a:rPr>
              <a:t>週次レビュー
ルール統廃合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C97EB09-DF75-194B-8999-344067108D4A}"/>
              </a:ext>
            </a:extLst>
          </p:cNvPr>
          <p:cNvSpPr txBox="1"/>
          <p:nvPr/>
        </p:nvSpPr>
        <p:spPr>
          <a:xfrm>
            <a:off x="2374900" y="2667000"/>
            <a:ext cx="20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b="1">
                <a:solidFill>
                  <a:srgbClr val="1E2761"/>
                </a:solidFill>
              </a:rPr>
              <a:t>›</a:t>
            </a:r>
            <a:endParaRPr lang="ja-JP" altLang="en-US" b="1">
              <a:solidFill>
                <a:srgbClr val="1E276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73F0E02-1333-C74E-8C0C-03A520FD5514}"/>
              </a:ext>
            </a:extLst>
          </p:cNvPr>
          <p:cNvSpPr txBox="1"/>
          <p:nvPr/>
        </p:nvSpPr>
        <p:spPr>
          <a:xfrm>
            <a:off x="4445000" y="2667000"/>
            <a:ext cx="20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b="1">
                <a:solidFill>
                  <a:srgbClr val="1E2761"/>
                </a:solidFill>
              </a:rPr>
              <a:t>›</a:t>
            </a:r>
            <a:endParaRPr lang="ja-JP" altLang="en-US" b="1">
              <a:solidFill>
                <a:srgbClr val="1E2761"/>
              </a:solidFill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71DB983C-AB70-7342-8421-37F3A20D56EB}"/>
              </a:ext>
            </a:extLst>
          </p:cNvPr>
          <p:cNvSpPr txBox="1"/>
          <p:nvPr/>
        </p:nvSpPr>
        <p:spPr>
          <a:xfrm>
            <a:off x="6515100" y="2667000"/>
            <a:ext cx="203200" cy="304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b="1">
                <a:solidFill>
                  <a:srgbClr val="1E2761"/>
                </a:solidFill>
              </a:rPr>
              <a:t>›</a:t>
            </a:r>
            <a:endParaRPr lang="ja-JP" altLang="en-US" b="1">
              <a:solidFill>
                <a:srgbClr val="1E2761"/>
              </a:solidFill>
            </a:endParaRPr>
          </a:p>
        </p:txBody>
      </p:sp>
      <p:sp>
        <p:nvSpPr>
          <p:cNvPr id="24" name="角丸四角形 23">
            <a:extLst>
              <a:ext uri="{FF2B5EF4-FFF2-40B4-BE49-F238E27FC236}">
                <a16:creationId xmlns:a16="http://schemas.microsoft.com/office/drawing/2014/main" id="{B54C211D-D50F-BC4C-96E5-7F036A6417DD}"/>
              </a:ext>
            </a:extLst>
          </p:cNvPr>
          <p:cNvSpPr/>
          <p:nvPr/>
        </p:nvSpPr>
        <p:spPr>
          <a:xfrm>
            <a:off x="546100" y="3683000"/>
            <a:ext cx="8115300" cy="381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300" b="1">
                <a:solidFill>
                  <a:srgbClr val="1E2761"/>
                </a:solidFill>
              </a:rPr>
              <a:t>↑ feedback </a:t>
            </a:r>
            <a:r>
              <a:rPr lang="ja-JP" altLang="en" sz="1300" b="1">
                <a:solidFill>
                  <a:srgbClr val="1E2761"/>
                </a:solidFill>
              </a:rPr>
              <a:t>＋ </a:t>
            </a:r>
            <a:r>
              <a:rPr lang="en" altLang="ja-JP" sz="1300" b="1">
                <a:solidFill>
                  <a:srgbClr val="1E2761"/>
                </a:solidFill>
              </a:rPr>
              <a:t>style_guide </a:t>
            </a:r>
            <a:r>
              <a:rPr lang="ja-JP" altLang="en-US" sz="1300" b="1">
                <a:solidFill>
                  <a:srgbClr val="1E2761"/>
                </a:solidFill>
              </a:rPr>
              <a:t>を翌朝に読み込み </a:t>
            </a:r>
            <a:r>
              <a:rPr lang="en" altLang="ja-JP" sz="1300" b="1">
                <a:solidFill>
                  <a:srgbClr val="1E2761"/>
                </a:solidFill>
              </a:rPr>
              <a:t>Step0</a:t>
            </a:r>
            <a:r>
              <a:rPr lang="ja-JP" altLang="en" sz="1300" b="1">
                <a:solidFill>
                  <a:srgbClr val="1E2761"/>
                </a:solidFill>
              </a:rPr>
              <a:t>・</a:t>
            </a:r>
            <a:r>
              <a:rPr lang="en" altLang="ja-JP" sz="1300" b="1">
                <a:solidFill>
                  <a:srgbClr val="1E2761"/>
                </a:solidFill>
              </a:rPr>
              <a:t>Step2 </a:t>
            </a:r>
            <a:r>
              <a:rPr lang="ja-JP" altLang="en-US" sz="1300" b="1">
                <a:solidFill>
                  <a:srgbClr val="1E2761"/>
                </a:solidFill>
              </a:rPr>
              <a:t>へ反映（日次学習ループ）</a:t>
            </a:r>
          </a:p>
        </p:txBody>
      </p:sp>
      <p:sp>
        <p:nvSpPr>
          <p:cNvPr id="25" name="角丸四角形 24">
            <a:extLst>
              <a:ext uri="{FF2B5EF4-FFF2-40B4-BE49-F238E27FC236}">
                <a16:creationId xmlns:a16="http://schemas.microsoft.com/office/drawing/2014/main" id="{7DF3B3B0-C953-3D42-924C-E8E03C6E4C5A}"/>
              </a:ext>
            </a:extLst>
          </p:cNvPr>
          <p:cNvSpPr/>
          <p:nvPr/>
        </p:nvSpPr>
        <p:spPr>
          <a:xfrm>
            <a:off x="546100" y="4140200"/>
            <a:ext cx="8115300" cy="431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i="1">
                <a:solidFill>
                  <a:srgbClr val="2D3748"/>
                </a:solidFill>
              </a:rPr>
              <a:t>週次レビュー：</a:t>
            </a:r>
            <a:r>
              <a:rPr lang="en-US" altLang="ja-JP" sz="1400" i="1" dirty="0">
                <a:solidFill>
                  <a:srgbClr val="2D3748"/>
                </a:solidFill>
              </a:rPr>
              <a:t>7 </a:t>
            </a:r>
            <a:r>
              <a:rPr lang="ja-JP" altLang="en-US" sz="1400" i="1">
                <a:solidFill>
                  <a:srgbClr val="2D3748"/>
                </a:solidFill>
              </a:rPr>
              <a:t>日分のスコア傾向でルールを統廃合し </a:t>
            </a:r>
            <a:r>
              <a:rPr lang="en" altLang="ja-JP" sz="1400" i="1" dirty="0" err="1">
                <a:solidFill>
                  <a:srgbClr val="2D3748"/>
                </a:solidFill>
              </a:rPr>
              <a:t>style_guide</a:t>
            </a:r>
            <a:r>
              <a:rPr lang="en" altLang="ja-JP" sz="1400" i="1" dirty="0">
                <a:solidFill>
                  <a:srgbClr val="2D3748"/>
                </a:solidFill>
              </a:rPr>
              <a:t> </a:t>
            </a:r>
            <a:r>
              <a:rPr lang="ja-JP" altLang="en-US" sz="1400" i="1">
                <a:solidFill>
                  <a:srgbClr val="2D3748"/>
                </a:solidFill>
              </a:rPr>
              <a:t>を更新（</a:t>
            </a:r>
            <a:r>
              <a:rPr lang="en-US" altLang="ja-JP" sz="1400" i="1" dirty="0">
                <a:solidFill>
                  <a:srgbClr val="2D3748"/>
                </a:solidFill>
              </a:rPr>
              <a:t>20 </a:t>
            </a:r>
            <a:r>
              <a:rPr lang="ja-JP" altLang="en-US" sz="1400" i="1">
                <a:solidFill>
                  <a:srgbClr val="2D3748"/>
                </a:solidFill>
              </a:rPr>
              <a:t>項目上限を維持）。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BA18F94-15D1-6644-91C8-764DFC392018}"/>
              </a:ext>
            </a:extLst>
          </p:cNvPr>
          <p:cNvSpPr/>
          <p:nvPr/>
        </p:nvSpPr>
        <p:spPr>
          <a:xfrm>
            <a:off x="546100" y="3175000"/>
            <a:ext cx="8115300" cy="406400"/>
          </a:xfrm>
          <a:prstGeom prst="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250" b="1">
                <a:solidFill>
                  <a:srgbClr val="FFFFFF"/>
                </a:solidFill>
              </a:rPr>
              <a:t>＋ 筆者の返信</a:t>
            </a:r>
            <a:r>
              <a:rPr lang="en" altLang="ja-JP" sz="1250" b="1">
                <a:solidFill>
                  <a:srgbClr val="FFFFFF"/>
                </a:solidFill>
              </a:rPr>
              <a:t>FB</a:t>
            </a:r>
            <a:r>
              <a:rPr lang="ja-JP" altLang="en" sz="1250" b="1">
                <a:solidFill>
                  <a:srgbClr val="FFFFFF"/>
                </a:solidFill>
              </a:rPr>
              <a:t>（</a:t>
            </a:r>
            <a:r>
              <a:rPr lang="ja-JP" altLang="en-US" sz="1250" b="1">
                <a:solidFill>
                  <a:srgbClr val="FFFFFF"/>
                </a:solidFill>
              </a:rPr>
              <a:t>ドラフトへの朱書き・最優先）を取り込み → </a:t>
            </a:r>
            <a:r>
              <a:rPr lang="en" altLang="ja-JP" sz="1250" b="1">
                <a:solidFill>
                  <a:srgbClr val="FFFFFF"/>
                </a:solidFill>
              </a:rPr>
              <a:t>style_guide </a:t>
            </a:r>
            <a:r>
              <a:rPr lang="ja-JP" altLang="en-US" sz="1250" b="1">
                <a:solidFill>
                  <a:srgbClr val="FFFFFF"/>
                </a:solidFill>
              </a:rPr>
              <a:t>を更新し翌日のドラフトを改善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145288"/>
            <a:ext cx="64008" cy="3444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354805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3A41D1F-CB07-4A4F-9AE5-009A4DB77A39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2800" b="1">
                <a:solidFill>
                  <a:srgbClr val="1E2761"/>
                </a:solidFill>
              </a:rPr>
              <a:t>style_guide </a:t>
            </a:r>
            <a:r>
              <a:rPr lang="ja-JP" altLang="en-US" sz="2800" b="1">
                <a:solidFill>
                  <a:srgbClr val="1E2761"/>
                </a:solidFill>
              </a:rPr>
              <a:t>の学習機構（中核）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37ACE90-3CD6-264D-8B7D-7CF16F61C8F4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500">
                <a:solidFill>
                  <a:srgbClr val="64748B"/>
                </a:solidFill>
              </a:rPr>
              <a:t>1_Control/style_guide.md </a:t>
            </a:r>
            <a:r>
              <a:rPr lang="ja-JP" altLang="en-US" sz="1500">
                <a:solidFill>
                  <a:srgbClr val="64748B"/>
                </a:solidFill>
              </a:rPr>
              <a:t>を </a:t>
            </a:r>
            <a:r>
              <a:rPr lang="en-US" altLang="ja-JP" sz="1500">
                <a:solidFill>
                  <a:srgbClr val="64748B"/>
                </a:solidFill>
              </a:rPr>
              <a:t>2 </a:t>
            </a:r>
            <a:r>
              <a:rPr lang="ja-JP" altLang="en-US" sz="1500">
                <a:solidFill>
                  <a:srgbClr val="64748B"/>
                </a:solidFill>
              </a:rPr>
              <a:t>領域に物理的に分割する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FE629C-093E-014F-9075-841BB7BDDF92}"/>
              </a:ext>
            </a:extLst>
          </p:cNvPr>
          <p:cNvSpPr txBox="1"/>
          <p:nvPr/>
        </p:nvSpPr>
        <p:spPr>
          <a:xfrm>
            <a:off x="546100" y="12192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64748B"/>
                </a:solidFill>
              </a:rPr>
              <a:t>style_guide.md</a:t>
            </a:r>
            <a:endParaRPr lang="ja-JP" altLang="en-US" sz="1400" b="1">
              <a:solidFill>
                <a:srgbClr val="64748B"/>
              </a:solidFill>
            </a:endParaRPr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F9F91B1C-8BFE-8745-8822-90AF4C7284EB}"/>
              </a:ext>
            </a:extLst>
          </p:cNvPr>
          <p:cNvSpPr/>
          <p:nvPr/>
        </p:nvSpPr>
        <p:spPr>
          <a:xfrm>
            <a:off x="546100" y="1498600"/>
            <a:ext cx="3810000" cy="1016000"/>
          </a:xfrm>
          <a:prstGeom prst="roundRect">
            <a:avLst/>
          </a:prstGeom>
          <a:solidFill>
            <a:srgbClr val="E2E8F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350">
                <a:solidFill>
                  <a:srgbClr val="1E2761"/>
                </a:solidFill>
              </a:rPr>
              <a:t>【FIXED】</a:t>
            </a:r>
            <a:r>
              <a:rPr lang="ja-JP" altLang="en-US" sz="1350">
                <a:solidFill>
                  <a:srgbClr val="1E2761"/>
                </a:solidFill>
              </a:rPr>
              <a:t>ペルソナ・分析スタイル・禁止事項
人間承認制 </a:t>
            </a:r>
            <a:r>
              <a:rPr lang="en-US" altLang="ja-JP" sz="1350">
                <a:solidFill>
                  <a:srgbClr val="1E2761"/>
                </a:solidFill>
              </a:rPr>
              <a:t>― </a:t>
            </a:r>
            <a:r>
              <a:rPr lang="en" altLang="ja-JP" sz="1350">
                <a:solidFill>
                  <a:srgbClr val="1E2761"/>
                </a:solidFill>
              </a:rPr>
              <a:t>AI </a:t>
            </a:r>
            <a:r>
              <a:rPr lang="ja-JP" altLang="en-US" sz="1350">
                <a:solidFill>
                  <a:srgbClr val="1E2761"/>
                </a:solidFill>
              </a:rPr>
              <a:t>は改変禁止 🔒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AE5B1FA6-6D58-A046-AA7A-ECF73E8A1A09}"/>
              </a:ext>
            </a:extLst>
          </p:cNvPr>
          <p:cNvSpPr/>
          <p:nvPr/>
        </p:nvSpPr>
        <p:spPr>
          <a:xfrm>
            <a:off x="546100" y="2565400"/>
            <a:ext cx="3810000" cy="10160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350" dirty="0">
                <a:solidFill>
                  <a:srgbClr val="1E2761"/>
                </a:solidFill>
              </a:rPr>
              <a:t>【EDITABLE】</a:t>
            </a:r>
            <a:r>
              <a:rPr lang="ja-JP" altLang="en-US" sz="1350">
                <a:solidFill>
                  <a:srgbClr val="1E2761"/>
                </a:solidFill>
              </a:rPr>
              <a:t>学習セクション
改善層が 書き方ルール</a:t>
            </a:r>
            <a:r>
              <a:rPr lang="en" altLang="ja-JP" sz="1350" dirty="0">
                <a:solidFill>
                  <a:srgbClr val="1E2761"/>
                </a:solidFill>
              </a:rPr>
              <a:t> </a:t>
            </a:r>
            <a:r>
              <a:rPr lang="ja-JP" altLang="en-US" sz="1350">
                <a:solidFill>
                  <a:srgbClr val="1E2761"/>
                </a:solidFill>
              </a:rPr>
              <a:t>ルールを更新してよい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D872CB9-D592-CB42-A87F-2D3AA02E384E}"/>
              </a:ext>
            </a:extLst>
          </p:cNvPr>
          <p:cNvSpPr/>
          <p:nvPr/>
        </p:nvSpPr>
        <p:spPr>
          <a:xfrm>
            <a:off x="4724400" y="1447800"/>
            <a:ext cx="101600" cy="101600"/>
          </a:xfrm>
          <a:prstGeom prst="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DFC6F34-4AE0-BB4E-BD53-3B81BA807A91}"/>
              </a:ext>
            </a:extLst>
          </p:cNvPr>
          <p:cNvSpPr txBox="1"/>
          <p:nvPr/>
        </p:nvSpPr>
        <p:spPr>
          <a:xfrm>
            <a:off x="4953000" y="13970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>
                <a:solidFill>
                  <a:srgbClr val="2D3748"/>
                </a:solidFill>
              </a:rPr>
              <a:t>ルールは </a:t>
            </a:r>
            <a:r>
              <a:rPr lang="en" altLang="ja-JP" sz="1400">
                <a:solidFill>
                  <a:srgbClr val="2D3748"/>
                </a:solidFill>
              </a:rPr>
              <a:t>R-001, R-002 … </a:t>
            </a:r>
            <a:r>
              <a:rPr lang="ja-JP" altLang="en-US" sz="1400">
                <a:solidFill>
                  <a:srgbClr val="2D3748"/>
                </a:solidFill>
              </a:rPr>
              <a:t>と一意 </a:t>
            </a:r>
            <a:r>
              <a:rPr lang="en" altLang="ja-JP" sz="1400">
                <a:solidFill>
                  <a:srgbClr val="2D3748"/>
                </a:solidFill>
              </a:rPr>
              <a:t>ID </a:t>
            </a:r>
            <a:r>
              <a:rPr lang="ja-JP" altLang="en" sz="1400">
                <a:solidFill>
                  <a:srgbClr val="2D3748"/>
                </a:solidFill>
              </a:rPr>
              <a:t>＋ </a:t>
            </a:r>
            <a:r>
              <a:rPr lang="ja-JP" altLang="en-US" sz="1400">
                <a:solidFill>
                  <a:srgbClr val="2D3748"/>
                </a:solidFill>
              </a:rPr>
              <a:t>メタデータ（</a:t>
            </a:r>
            <a:r>
              <a:rPr lang="en" altLang="ja-JP" sz="1400">
                <a:solidFill>
                  <a:srgbClr val="2D3748"/>
                </a:solidFill>
              </a:rPr>
              <a:t>added / updated / source_feedback / hit_count</a:t>
            </a:r>
            <a:r>
              <a:rPr lang="ja-JP" altLang="en" sz="1400">
                <a:solidFill>
                  <a:srgbClr val="2D3748"/>
                </a:solidFill>
              </a:rPr>
              <a:t>）</a:t>
            </a:r>
            <a:endParaRPr lang="ja-JP" altLang="en-US" sz="1400">
              <a:solidFill>
                <a:srgbClr val="2D3748"/>
              </a:solidFill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83597B56-F4FA-3D4F-9F0B-4EB3455C8C72}"/>
              </a:ext>
            </a:extLst>
          </p:cNvPr>
          <p:cNvSpPr/>
          <p:nvPr/>
        </p:nvSpPr>
        <p:spPr>
          <a:xfrm>
            <a:off x="4724400" y="2108200"/>
            <a:ext cx="101600" cy="101600"/>
          </a:xfrm>
          <a:prstGeom prst="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2101599-224A-C04E-A5E0-CF76E4C52D75}"/>
              </a:ext>
            </a:extLst>
          </p:cNvPr>
          <p:cNvSpPr txBox="1"/>
          <p:nvPr/>
        </p:nvSpPr>
        <p:spPr>
          <a:xfrm>
            <a:off x="4953000" y="20574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>
                <a:solidFill>
                  <a:srgbClr val="2D3748"/>
                </a:solidFill>
              </a:rPr>
              <a:t>操作は </a:t>
            </a:r>
            <a:r>
              <a:rPr lang="en" altLang="ja-JP" sz="1400">
                <a:solidFill>
                  <a:srgbClr val="2D3748"/>
                </a:solidFill>
              </a:rPr>
              <a:t>ADD / UPDATE / REMOVE ― </a:t>
            </a:r>
            <a:r>
              <a:rPr lang="ja-JP" altLang="en-US" sz="1400">
                <a:solidFill>
                  <a:srgbClr val="2D3748"/>
                </a:solidFill>
              </a:rPr>
              <a:t>単純追記でなく統合・更新・削除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730066D-D548-1F47-AD8A-57BC21A9BF3A}"/>
              </a:ext>
            </a:extLst>
          </p:cNvPr>
          <p:cNvSpPr/>
          <p:nvPr/>
        </p:nvSpPr>
        <p:spPr>
          <a:xfrm>
            <a:off x="4724400" y="2768600"/>
            <a:ext cx="101600" cy="101600"/>
          </a:xfrm>
          <a:prstGeom prst="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6C771A5-A81C-1F4E-A62E-EB769CD8D6DD}"/>
              </a:ext>
            </a:extLst>
          </p:cNvPr>
          <p:cNvSpPr txBox="1"/>
          <p:nvPr/>
        </p:nvSpPr>
        <p:spPr>
          <a:xfrm>
            <a:off x="4953000" y="27178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400">
                <a:solidFill>
                  <a:srgbClr val="2D3748"/>
                </a:solidFill>
              </a:rPr>
              <a:t>20 </a:t>
            </a:r>
            <a:r>
              <a:rPr lang="ja-JP" altLang="en-US" sz="1400">
                <a:solidFill>
                  <a:srgbClr val="2D3748"/>
                </a:solidFill>
              </a:rPr>
              <a:t>項目を上限に増殖を防ぐ（新規追加には削除/統合をセットに）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9C2F616-700D-DC41-8B84-05C877F7C43C}"/>
              </a:ext>
            </a:extLst>
          </p:cNvPr>
          <p:cNvSpPr/>
          <p:nvPr/>
        </p:nvSpPr>
        <p:spPr>
          <a:xfrm>
            <a:off x="4724400" y="3429000"/>
            <a:ext cx="101600" cy="101600"/>
          </a:xfrm>
          <a:prstGeom prst="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88F21526-781D-894F-B540-33A30A87FB92}"/>
              </a:ext>
            </a:extLst>
          </p:cNvPr>
          <p:cNvSpPr txBox="1"/>
          <p:nvPr/>
        </p:nvSpPr>
        <p:spPr>
          <a:xfrm>
            <a:off x="4953000" y="3378200"/>
            <a:ext cx="3810000" cy="50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00">
                <a:solidFill>
                  <a:srgbClr val="2D3748"/>
                </a:solidFill>
              </a:rPr>
              <a:t>全変更を </a:t>
            </a:r>
            <a:r>
              <a:rPr lang="en" altLang="ja-JP" sz="1400">
                <a:solidFill>
                  <a:srgbClr val="2D3748"/>
                </a:solidFill>
              </a:rPr>
              <a:t>change_log.md </a:t>
            </a:r>
            <a:r>
              <a:rPr lang="ja-JP" altLang="en-US" sz="1400">
                <a:solidFill>
                  <a:srgbClr val="2D3748"/>
                </a:solidFill>
              </a:rPr>
              <a:t>に記録（差分・理由・</a:t>
            </a:r>
            <a:r>
              <a:rPr lang="en" altLang="ja-JP" sz="1400">
                <a:solidFill>
                  <a:srgbClr val="2D3748"/>
                </a:solidFill>
              </a:rPr>
              <a:t>Keep/Discard</a:t>
            </a:r>
            <a:r>
              <a:rPr lang="ja-JP" altLang="en" sz="1400">
                <a:solidFill>
                  <a:srgbClr val="2D3748"/>
                </a:solidFill>
              </a:rPr>
              <a:t>・</a:t>
            </a:r>
            <a:r>
              <a:rPr lang="en" altLang="ja-JP" sz="1400">
                <a:solidFill>
                  <a:srgbClr val="2D3748"/>
                </a:solidFill>
              </a:rPr>
              <a:t>Overfitting </a:t>
            </a:r>
            <a:r>
              <a:rPr lang="ja-JP" altLang="en-US" sz="1400">
                <a:solidFill>
                  <a:srgbClr val="2D3748"/>
                </a:solidFill>
              </a:rPr>
              <a:t>自問）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624411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E3BE3C4-7FAC-724D-8573-B83225F928A6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改善層 </a:t>
            </a:r>
            <a:r>
              <a:rPr lang="en-US" altLang="ja-JP" sz="2800" b="1" dirty="0">
                <a:solidFill>
                  <a:srgbClr val="1E2761"/>
                </a:solidFill>
              </a:rPr>
              <a:t>― </a:t>
            </a:r>
            <a:r>
              <a:rPr lang="en" altLang="ja-JP" sz="2800" b="1" dirty="0">
                <a:solidFill>
                  <a:srgbClr val="1E2761"/>
                </a:solidFill>
              </a:rPr>
              <a:t>Evaluator </a:t>
            </a:r>
            <a:r>
              <a:rPr lang="ja-JP" altLang="en-US" sz="2800" b="1">
                <a:solidFill>
                  <a:srgbClr val="1E2761"/>
                </a:solidFill>
              </a:rPr>
              <a:t>の採点軸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C9FBB5-FA4D-2A46-A252-9E808E789A08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ja-JP" sz="1500">
                <a:solidFill>
                  <a:srgbClr val="64748B"/>
                </a:solidFill>
              </a:rPr>
              <a:t>3 </a:t>
            </a:r>
            <a:r>
              <a:rPr lang="ja-JP" altLang="en-US" sz="1500">
                <a:solidFill>
                  <a:srgbClr val="64748B"/>
                </a:solidFill>
              </a:rPr>
              <a:t>軸 </a:t>
            </a:r>
            <a:r>
              <a:rPr lang="en-US" altLang="ja-JP" sz="1500">
                <a:solidFill>
                  <a:srgbClr val="64748B"/>
                </a:solidFill>
              </a:rPr>
              <a:t>× 0–5 </a:t>
            </a:r>
            <a:r>
              <a:rPr lang="ja-JP" altLang="en-US" sz="1500">
                <a:solidFill>
                  <a:srgbClr val="64748B"/>
                </a:solidFill>
              </a:rPr>
              <a:t>点 ＝ </a:t>
            </a:r>
            <a:r>
              <a:rPr lang="en-US" altLang="ja-JP" sz="1500">
                <a:solidFill>
                  <a:srgbClr val="64748B"/>
                </a:solidFill>
              </a:rPr>
              <a:t>15 </a:t>
            </a:r>
            <a:r>
              <a:rPr lang="ja-JP" altLang="en-US" sz="1500">
                <a:solidFill>
                  <a:srgbClr val="64748B"/>
                </a:solidFill>
              </a:rPr>
              <a:t>点満点　＋　筆者型 </a:t>
            </a:r>
            <a:r>
              <a:rPr lang="en" altLang="ja-JP" sz="1500">
                <a:solidFill>
                  <a:srgbClr val="64748B"/>
                </a:solidFill>
              </a:rPr>
              <a:t>hit </a:t>
            </a:r>
            <a:r>
              <a:rPr lang="ja-JP" altLang="en-US" sz="1500">
                <a:solidFill>
                  <a:srgbClr val="64748B"/>
                </a:solidFill>
              </a:rPr>
              <a:t>検査（</a:t>
            </a:r>
            <a:r>
              <a:rPr lang="en-US" altLang="ja-JP" sz="1500">
                <a:solidFill>
                  <a:srgbClr val="64748B"/>
                </a:solidFill>
              </a:rPr>
              <a:t>11 </a:t>
            </a:r>
            <a:r>
              <a:rPr lang="ja-JP" altLang="en-US" sz="1500">
                <a:solidFill>
                  <a:srgbClr val="64748B"/>
                </a:solidFill>
              </a:rPr>
              <a:t>型）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42436346-75A0-3A4B-B9FA-D3FBB358297D}"/>
              </a:ext>
            </a:extLst>
          </p:cNvPr>
          <p:cNvSpPr/>
          <p:nvPr/>
        </p:nvSpPr>
        <p:spPr>
          <a:xfrm>
            <a:off x="546100" y="1320800"/>
            <a:ext cx="4978400" cy="635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6343325C-916A-F543-8BB5-76D97676F168}"/>
              </a:ext>
            </a:extLst>
          </p:cNvPr>
          <p:cNvSpPr/>
          <p:nvPr/>
        </p:nvSpPr>
        <p:spPr>
          <a:xfrm>
            <a:off x="647700" y="1435100"/>
            <a:ext cx="584200" cy="406400"/>
          </a:xfrm>
          <a:prstGeom prst="round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ja-JP" sz="1500" b="1">
                <a:solidFill>
                  <a:srgbClr val="FFFFFF"/>
                </a:solidFill>
              </a:rPr>
              <a:t>S1</a:t>
            </a:r>
            <a:endParaRPr lang="ja-JP" altLang="en-US" sz="1500" b="1">
              <a:solidFill>
                <a:srgbClr val="FFFFFF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5305893-4315-7F4F-9446-9E8B9BDEBCFA}"/>
              </a:ext>
            </a:extLst>
          </p:cNvPr>
          <p:cNvSpPr txBox="1"/>
          <p:nvPr/>
        </p:nvSpPr>
        <p:spPr>
          <a:xfrm>
            <a:off x="1371600" y="1397000"/>
            <a:ext cx="406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1E2761"/>
                </a:solidFill>
              </a:rPr>
              <a:t>情報網羅性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2BC3AEE-802F-8C46-B4DD-451CAFF26562}"/>
              </a:ext>
            </a:extLst>
          </p:cNvPr>
          <p:cNvSpPr txBox="1"/>
          <p:nvPr/>
        </p:nvSpPr>
        <p:spPr>
          <a:xfrm>
            <a:off x="1371600" y="1651000"/>
            <a:ext cx="4089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筆者が採用した事実・数値を漏れなく拾えているか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A02AEB23-1BB4-F84B-A58C-53CF62C60197}"/>
              </a:ext>
            </a:extLst>
          </p:cNvPr>
          <p:cNvSpPr/>
          <p:nvPr/>
        </p:nvSpPr>
        <p:spPr>
          <a:xfrm>
            <a:off x="546100" y="2057400"/>
            <a:ext cx="4978400" cy="635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FA3BFFA6-D250-0347-8194-95D6ACBCD741}"/>
              </a:ext>
            </a:extLst>
          </p:cNvPr>
          <p:cNvSpPr/>
          <p:nvPr/>
        </p:nvSpPr>
        <p:spPr>
          <a:xfrm>
            <a:off x="647700" y="2171700"/>
            <a:ext cx="584200" cy="4064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ja-JP" sz="1500" b="1">
                <a:solidFill>
                  <a:srgbClr val="FFFFFF"/>
                </a:solidFill>
              </a:rPr>
              <a:t>S2</a:t>
            </a:r>
            <a:endParaRPr lang="ja-JP" altLang="en-US" sz="1500" b="1">
              <a:solidFill>
                <a:srgbClr val="FFFFFF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3FE347A-7D93-734A-BA16-7E07E06C6FA5}"/>
              </a:ext>
            </a:extLst>
          </p:cNvPr>
          <p:cNvSpPr txBox="1"/>
          <p:nvPr/>
        </p:nvSpPr>
        <p:spPr>
          <a:xfrm>
            <a:off x="1371600" y="2133600"/>
            <a:ext cx="406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1E2761"/>
                </a:solidFill>
              </a:rPr>
              <a:t>時系列接続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E1E6E0C-69DC-564B-8E25-EDCB79E7B61E}"/>
              </a:ext>
            </a:extLst>
          </p:cNvPr>
          <p:cNvSpPr txBox="1"/>
          <p:nvPr/>
        </p:nvSpPr>
        <p:spPr>
          <a:xfrm>
            <a:off x="1371600" y="2387600"/>
            <a:ext cx="4089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前日の文脈・答え合わせ・因果を接続できているか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51656BD6-F4F8-4442-A8BD-AB35DE1D9AF2}"/>
              </a:ext>
            </a:extLst>
          </p:cNvPr>
          <p:cNvSpPr/>
          <p:nvPr/>
        </p:nvSpPr>
        <p:spPr>
          <a:xfrm>
            <a:off x="546100" y="2794000"/>
            <a:ext cx="4978400" cy="635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角丸四角形 12">
            <a:extLst>
              <a:ext uri="{FF2B5EF4-FFF2-40B4-BE49-F238E27FC236}">
                <a16:creationId xmlns:a16="http://schemas.microsoft.com/office/drawing/2014/main" id="{9FFAF3E6-3EF5-F845-AF80-D67A263C41B8}"/>
              </a:ext>
            </a:extLst>
          </p:cNvPr>
          <p:cNvSpPr/>
          <p:nvPr/>
        </p:nvSpPr>
        <p:spPr>
          <a:xfrm>
            <a:off x="647700" y="2908300"/>
            <a:ext cx="584200" cy="406400"/>
          </a:xfrm>
          <a:prstGeom prst="round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" altLang="ja-JP" sz="1500" b="1">
                <a:solidFill>
                  <a:srgbClr val="FFFFFF"/>
                </a:solidFill>
              </a:rPr>
              <a:t>S3</a:t>
            </a:r>
            <a:endParaRPr lang="ja-JP" altLang="en-US" sz="1500" b="1">
              <a:solidFill>
                <a:srgbClr val="FFFFFF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E64B409-F769-F347-8B97-9D3883D6ABCB}"/>
              </a:ext>
            </a:extLst>
          </p:cNvPr>
          <p:cNvSpPr txBox="1"/>
          <p:nvPr/>
        </p:nvSpPr>
        <p:spPr>
          <a:xfrm>
            <a:off x="1371600" y="2870200"/>
            <a:ext cx="4064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 b="1">
                <a:solidFill>
                  <a:srgbClr val="1E2761"/>
                </a:solidFill>
              </a:rPr>
              <a:t>文体・表現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D2C365F-8646-FB41-8896-8913D4F538C0}"/>
              </a:ext>
            </a:extLst>
          </p:cNvPr>
          <p:cNvSpPr txBox="1"/>
          <p:nvPr/>
        </p:nvSpPr>
        <p:spPr>
          <a:xfrm>
            <a:off x="1371600" y="3124200"/>
            <a:ext cx="40894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250">
                <a:solidFill>
                  <a:srgbClr val="2D3748"/>
                </a:solidFill>
              </a:rPr>
              <a:t>筆者らしい語尾・留保・専門用語を再現できているか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11BB395-4253-0E43-A08B-AF43E8B79F44}"/>
              </a:ext>
            </a:extLst>
          </p:cNvPr>
          <p:cNvSpPr txBox="1"/>
          <p:nvPr/>
        </p:nvSpPr>
        <p:spPr>
          <a:xfrm>
            <a:off x="5740400" y="1320800"/>
            <a:ext cx="29210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 b="1">
                <a:solidFill>
                  <a:srgbClr val="64748B"/>
                </a:solidFill>
              </a:rPr>
              <a:t>判定スケール</a:t>
            </a:r>
          </a:p>
        </p:txBody>
      </p:sp>
      <p:sp>
        <p:nvSpPr>
          <p:cNvPr id="17" name="角丸四角形 16">
            <a:extLst>
              <a:ext uri="{FF2B5EF4-FFF2-40B4-BE49-F238E27FC236}">
                <a16:creationId xmlns:a16="http://schemas.microsoft.com/office/drawing/2014/main" id="{FD09866B-058E-6F4A-82F8-76BF31559D18}"/>
              </a:ext>
            </a:extLst>
          </p:cNvPr>
          <p:cNvSpPr/>
          <p:nvPr/>
        </p:nvSpPr>
        <p:spPr>
          <a:xfrm>
            <a:off x="5740400" y="1625600"/>
            <a:ext cx="2921000" cy="4064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13–15</a:t>
            </a:r>
            <a:r>
              <a:rPr lang="ja-JP" altLang="en-US" sz="1400" b="1">
                <a:solidFill>
                  <a:srgbClr val="FFFFFF"/>
                </a:solidFill>
              </a:rPr>
              <a:t>　優秀</a:t>
            </a:r>
          </a:p>
        </p:txBody>
      </p:sp>
      <p:sp>
        <p:nvSpPr>
          <p:cNvPr id="18" name="角丸四角形 17">
            <a:extLst>
              <a:ext uri="{FF2B5EF4-FFF2-40B4-BE49-F238E27FC236}">
                <a16:creationId xmlns:a16="http://schemas.microsoft.com/office/drawing/2014/main" id="{E7F3DA85-6633-804F-8604-2A71F0F56076}"/>
              </a:ext>
            </a:extLst>
          </p:cNvPr>
          <p:cNvSpPr/>
          <p:nvPr/>
        </p:nvSpPr>
        <p:spPr>
          <a:xfrm>
            <a:off x="5740400" y="2133600"/>
            <a:ext cx="2921000" cy="4064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10–12</a:t>
            </a:r>
            <a:r>
              <a:rPr lang="ja-JP" altLang="en-US" sz="1400" b="1">
                <a:solidFill>
                  <a:srgbClr val="FFFFFF"/>
                </a:solidFill>
              </a:rPr>
              <a:t>　良好</a:t>
            </a:r>
          </a:p>
        </p:txBody>
      </p: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7419C968-84B1-B842-BD00-9613CED19FA1}"/>
              </a:ext>
            </a:extLst>
          </p:cNvPr>
          <p:cNvSpPr/>
          <p:nvPr/>
        </p:nvSpPr>
        <p:spPr>
          <a:xfrm>
            <a:off x="5740400" y="2641600"/>
            <a:ext cx="2921000" cy="406400"/>
          </a:xfrm>
          <a:prstGeom prst="roundRect">
            <a:avLst/>
          </a:prstGeom>
          <a:solidFill>
            <a:srgbClr val="FFC80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1E2761"/>
                </a:solidFill>
              </a:rPr>
              <a:t>7–9</a:t>
            </a:r>
            <a:r>
              <a:rPr lang="ja-JP" altLang="en-US" sz="1400" b="1">
                <a:solidFill>
                  <a:srgbClr val="1E2761"/>
                </a:solidFill>
              </a:rPr>
              <a:t>　要改善</a:t>
            </a:r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978C90C7-5870-3244-8DC5-4233AEA95E96}"/>
              </a:ext>
            </a:extLst>
          </p:cNvPr>
          <p:cNvSpPr/>
          <p:nvPr/>
        </p:nvSpPr>
        <p:spPr>
          <a:xfrm>
            <a:off x="5740400" y="3149600"/>
            <a:ext cx="2921000" cy="406400"/>
          </a:xfrm>
          <a:prstGeom prst="roundRect">
            <a:avLst/>
          </a:prstGeom>
          <a:solidFill>
            <a:srgbClr val="F9616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0–6</a:t>
            </a:r>
            <a:r>
              <a:rPr lang="ja-JP" altLang="en-US" sz="1400" b="1">
                <a:solidFill>
                  <a:srgbClr val="FFFFFF"/>
                </a:solidFill>
              </a:rPr>
              <a:t>　不合格</a:t>
            </a:r>
          </a:p>
        </p:txBody>
      </p:sp>
      <p:sp>
        <p:nvSpPr>
          <p:cNvPr id="21" name="角丸四角形 20">
            <a:extLst>
              <a:ext uri="{FF2B5EF4-FFF2-40B4-BE49-F238E27FC236}">
                <a16:creationId xmlns:a16="http://schemas.microsoft.com/office/drawing/2014/main" id="{21B6852F-077F-8E49-9F89-7715622CEBEE}"/>
              </a:ext>
            </a:extLst>
          </p:cNvPr>
          <p:cNvSpPr/>
          <p:nvPr/>
        </p:nvSpPr>
        <p:spPr>
          <a:xfrm>
            <a:off x="546100" y="3733800"/>
            <a:ext cx="8115300" cy="5842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400" i="1" dirty="0">
                <a:solidFill>
                  <a:srgbClr val="2D3748"/>
                </a:solidFill>
              </a:rPr>
              <a:t>Evaluator </a:t>
            </a:r>
            <a:r>
              <a:rPr lang="ja-JP" altLang="en-US" sz="1400" i="1">
                <a:solidFill>
                  <a:srgbClr val="2D3748"/>
                </a:solidFill>
              </a:rPr>
              <a:t>は </a:t>
            </a:r>
            <a:r>
              <a:rPr lang="en" altLang="ja-JP" sz="1400" i="1" dirty="0">
                <a:solidFill>
                  <a:srgbClr val="2D3748"/>
                </a:solidFill>
              </a:rPr>
              <a:t>draft </a:t>
            </a:r>
            <a:r>
              <a:rPr lang="ja-JP" altLang="en-US" sz="1400" i="1">
                <a:solidFill>
                  <a:srgbClr val="2D3748"/>
                </a:solidFill>
              </a:rPr>
              <a:t>を直さない </a:t>
            </a:r>
            <a:r>
              <a:rPr lang="en-US" altLang="ja-JP" sz="1400" i="1" dirty="0">
                <a:solidFill>
                  <a:srgbClr val="2D3748"/>
                </a:solidFill>
              </a:rPr>
              <a:t>― </a:t>
            </a:r>
            <a:r>
              <a:rPr lang="ja-JP" altLang="en-US" sz="1400" i="1">
                <a:solidFill>
                  <a:srgbClr val="2D3748"/>
                </a:solidFill>
              </a:rPr>
              <a:t>改善は次回 </a:t>
            </a:r>
            <a:r>
              <a:rPr lang="en" altLang="ja-JP" sz="1400" i="1" dirty="0">
                <a:solidFill>
                  <a:srgbClr val="2D3748"/>
                </a:solidFill>
              </a:rPr>
              <a:t>Task </a:t>
            </a:r>
            <a:r>
              <a:rPr lang="ja-JP" altLang="en-US" sz="1400" i="1">
                <a:solidFill>
                  <a:srgbClr val="2D3748"/>
                </a:solidFill>
              </a:rPr>
              <a:t>ループの </a:t>
            </a:r>
            <a:r>
              <a:rPr lang="en" altLang="ja-JP" sz="1400" i="1" dirty="0">
                <a:solidFill>
                  <a:srgbClr val="2D3748"/>
                </a:solidFill>
              </a:rPr>
              <a:t>Step0 </a:t>
            </a:r>
            <a:r>
              <a:rPr lang="ja-JP" altLang="en-US" sz="1400" i="1">
                <a:solidFill>
                  <a:srgbClr val="2D3748"/>
                </a:solidFill>
              </a:rPr>
              <a:t>へ申し送る（責務分離）。</a:t>
            </a:r>
            <a:r>
              <a:rPr lang="en" altLang="ja-JP" sz="1400" i="1" dirty="0" err="1">
                <a:solidFill>
                  <a:srgbClr val="2D3748"/>
                </a:solidFill>
              </a:rPr>
              <a:t>style_guide</a:t>
            </a:r>
            <a:r>
              <a:rPr lang="en" altLang="ja-JP" sz="1400" i="1" dirty="0">
                <a:solidFill>
                  <a:srgbClr val="2D3748"/>
                </a:solidFill>
              </a:rPr>
              <a:t> </a:t>
            </a:r>
            <a:r>
              <a:rPr lang="ja-JP" altLang="en-US" sz="1400" i="1">
                <a:solidFill>
                  <a:srgbClr val="2D3748"/>
                </a:solidFill>
              </a:rPr>
              <a:t>更新は </a:t>
            </a:r>
            <a:r>
              <a:rPr lang="en" altLang="ja-JP" sz="1400" i="1" dirty="0">
                <a:solidFill>
                  <a:srgbClr val="2D3748"/>
                </a:solidFill>
              </a:rPr>
              <a:t>Overfitting </a:t>
            </a:r>
            <a:r>
              <a:rPr lang="ja-JP" altLang="en-US" sz="1400" i="1">
                <a:solidFill>
                  <a:srgbClr val="2D3748"/>
                </a:solidFill>
              </a:rPr>
              <a:t>自問（他日も効くか？）で 書き方ルール</a:t>
            </a:r>
            <a:r>
              <a:rPr lang="en" altLang="ja-JP" sz="1400" i="1" dirty="0">
                <a:solidFill>
                  <a:srgbClr val="2D3748"/>
                </a:solidFill>
              </a:rPr>
              <a:t> </a:t>
            </a:r>
            <a:r>
              <a:rPr lang="ja-JP" altLang="en-US" sz="1400" i="1">
                <a:solidFill>
                  <a:srgbClr val="2D3748"/>
                </a:solidFill>
              </a:rPr>
              <a:t>反映/棄却を判断。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4197567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8DF7985-C85E-A44C-B6E9-5BB5856CCCFE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ルールが残るか消えるか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30CAB66-3761-564B-8680-71DF89BE6409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500">
                <a:solidFill>
                  <a:srgbClr val="64748B"/>
                </a:solidFill>
              </a:rPr>
              <a:t>Keep / Discard ― </a:t>
            </a:r>
            <a:r>
              <a:rPr lang="ja-JP" altLang="en-US" sz="1500">
                <a:solidFill>
                  <a:srgbClr val="64748B"/>
                </a:solidFill>
              </a:rPr>
              <a:t>ルールを“育てて間引く”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92B6B185-EE74-E246-AB61-DD18B7EF7909}"/>
              </a:ext>
            </a:extLst>
          </p:cNvPr>
          <p:cNvSpPr/>
          <p:nvPr/>
        </p:nvSpPr>
        <p:spPr>
          <a:xfrm>
            <a:off x="546100" y="1244600"/>
            <a:ext cx="4572000" cy="558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1E2761"/>
                </a:solidFill>
              </a:rPr>
              <a:t>スコアが改善した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6DC2594-921A-064C-9772-DE140AD5A26E}"/>
              </a:ext>
            </a:extLst>
          </p:cNvPr>
          <p:cNvSpPr txBox="1"/>
          <p:nvPr/>
        </p:nvSpPr>
        <p:spPr>
          <a:xfrm>
            <a:off x="5207000" y="1346200"/>
            <a:ext cx="330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6" name="角丸四角形 5">
            <a:extLst>
              <a:ext uri="{FF2B5EF4-FFF2-40B4-BE49-F238E27FC236}">
                <a16:creationId xmlns:a16="http://schemas.microsoft.com/office/drawing/2014/main" id="{29A9C8FA-B044-0946-A766-C0E6D481CD70}"/>
              </a:ext>
            </a:extLst>
          </p:cNvPr>
          <p:cNvSpPr/>
          <p:nvPr/>
        </p:nvSpPr>
        <p:spPr>
          <a:xfrm>
            <a:off x="5588000" y="1244600"/>
            <a:ext cx="3073400" cy="5588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FFFFFF"/>
                </a:solidFill>
              </a:rPr>
              <a:t>Keep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7" name="角丸四角形 6">
            <a:extLst>
              <a:ext uri="{FF2B5EF4-FFF2-40B4-BE49-F238E27FC236}">
                <a16:creationId xmlns:a16="http://schemas.microsoft.com/office/drawing/2014/main" id="{1442874E-395A-EC42-80B0-A4B3172004B4}"/>
              </a:ext>
            </a:extLst>
          </p:cNvPr>
          <p:cNvSpPr/>
          <p:nvPr/>
        </p:nvSpPr>
        <p:spPr>
          <a:xfrm>
            <a:off x="546100" y="1955800"/>
            <a:ext cx="4572000" cy="558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1E2761"/>
                </a:solidFill>
              </a:rPr>
              <a:t>スコア同点 かつ ルール数が減</a:t>
            </a:r>
            <a:r>
              <a:rPr lang="en-US" altLang="ja-JP" sz="1400">
                <a:solidFill>
                  <a:srgbClr val="1E2761"/>
                </a:solidFill>
              </a:rPr>
              <a:t>/</a:t>
            </a:r>
            <a:r>
              <a:rPr lang="ja-JP" altLang="en-US" sz="1400">
                <a:solidFill>
                  <a:srgbClr val="1E2761"/>
                </a:solidFill>
              </a:rPr>
              <a:t>同数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668BF20-1408-5244-8289-15E04752EA96}"/>
              </a:ext>
            </a:extLst>
          </p:cNvPr>
          <p:cNvSpPr txBox="1"/>
          <p:nvPr/>
        </p:nvSpPr>
        <p:spPr>
          <a:xfrm>
            <a:off x="5207000" y="2057400"/>
            <a:ext cx="330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0B823B0F-B67A-EB43-BE60-1E8C01A0E3A2}"/>
              </a:ext>
            </a:extLst>
          </p:cNvPr>
          <p:cNvSpPr/>
          <p:nvPr/>
        </p:nvSpPr>
        <p:spPr>
          <a:xfrm>
            <a:off x="5588000" y="1955800"/>
            <a:ext cx="3073400" cy="558800"/>
          </a:xfrm>
          <a:prstGeom prst="round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FFFFFF"/>
                </a:solidFill>
              </a:rPr>
              <a:t>Keep</a:t>
            </a:r>
            <a:r>
              <a:rPr lang="ja-JP" altLang="en" sz="1400" b="1">
                <a:solidFill>
                  <a:srgbClr val="FFFFFF"/>
                </a:solidFill>
              </a:rPr>
              <a:t>（</a:t>
            </a:r>
            <a:r>
              <a:rPr lang="en" altLang="ja-JP" sz="1400" b="1">
                <a:solidFill>
                  <a:srgbClr val="FFFFFF"/>
                </a:solidFill>
              </a:rPr>
              <a:t>Simplicity Criterion</a:t>
            </a:r>
            <a:r>
              <a:rPr lang="ja-JP" altLang="en" sz="1400" b="1">
                <a:solidFill>
                  <a:srgbClr val="FFFFFF"/>
                </a:solidFill>
              </a:rPr>
              <a:t>）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D9FC88EA-67FE-DF46-98C1-C0AFAE60CA81}"/>
              </a:ext>
            </a:extLst>
          </p:cNvPr>
          <p:cNvSpPr/>
          <p:nvPr/>
        </p:nvSpPr>
        <p:spPr>
          <a:xfrm>
            <a:off x="546100" y="2667000"/>
            <a:ext cx="4572000" cy="5588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>
                <a:solidFill>
                  <a:srgbClr val="1E2761"/>
                </a:solidFill>
              </a:rPr>
              <a:t>それ以外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363C21-62C1-5641-9CE2-5F3018AEE50A}"/>
              </a:ext>
            </a:extLst>
          </p:cNvPr>
          <p:cNvSpPr txBox="1"/>
          <p:nvPr/>
        </p:nvSpPr>
        <p:spPr>
          <a:xfrm>
            <a:off x="5207000" y="2768600"/>
            <a:ext cx="330200" cy="330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b="1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8A2BB019-FC66-5147-905C-F8A2583321B3}"/>
              </a:ext>
            </a:extLst>
          </p:cNvPr>
          <p:cNvSpPr/>
          <p:nvPr/>
        </p:nvSpPr>
        <p:spPr>
          <a:xfrm>
            <a:off x="5588000" y="2667000"/>
            <a:ext cx="3073400" cy="558800"/>
          </a:xfrm>
          <a:prstGeom prst="roundRect">
            <a:avLst/>
          </a:prstGeom>
          <a:solidFill>
            <a:srgbClr val="F96167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" altLang="ja-JP" sz="1400" b="1">
                <a:solidFill>
                  <a:srgbClr val="FFFFFF"/>
                </a:solidFill>
              </a:rPr>
              <a:t>Discard</a:t>
            </a:r>
            <a:r>
              <a:rPr lang="ja-JP" altLang="en" sz="1400" b="1">
                <a:solidFill>
                  <a:srgbClr val="FFFFFF"/>
                </a:solidFill>
              </a:rPr>
              <a:t>（</a:t>
            </a:r>
            <a:r>
              <a:rPr lang="ja-JP" altLang="en-US" sz="1400" b="1">
                <a:solidFill>
                  <a:srgbClr val="FFFFFF"/>
                </a:solidFill>
              </a:rPr>
              <a:t>理由は必ず記録）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A63F144-097C-CF49-85D6-C755B7C204CA}"/>
              </a:ext>
            </a:extLst>
          </p:cNvPr>
          <p:cNvSpPr txBox="1"/>
          <p:nvPr/>
        </p:nvSpPr>
        <p:spPr>
          <a:xfrm>
            <a:off x="546100" y="3454400"/>
            <a:ext cx="8115300" cy="1092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" sz="1400">
                <a:solidFill>
                  <a:srgbClr val="2D3748"/>
                </a:solidFill>
              </a:rPr>
              <a:t>・</a:t>
            </a:r>
            <a:r>
              <a:rPr lang="en" altLang="ja-JP" sz="1400">
                <a:solidFill>
                  <a:srgbClr val="2D3748"/>
                </a:solidFill>
              </a:rPr>
              <a:t>Overfitting </a:t>
            </a:r>
            <a:r>
              <a:rPr lang="ja-JP" altLang="en-US" sz="1400">
                <a:solidFill>
                  <a:srgbClr val="2D3748"/>
                </a:solidFill>
              </a:rPr>
              <a:t>自問：追加前に「今日の正解が無くても他日の品質を上げるか？」 </a:t>
            </a:r>
            <a:r>
              <a:rPr lang="en" altLang="ja-JP" sz="1400">
                <a:solidFill>
                  <a:srgbClr val="2D3748"/>
                </a:solidFill>
              </a:rPr>
              <a:t>NO </a:t>
            </a:r>
            <a:r>
              <a:rPr lang="ja-JP" altLang="en-US" sz="1400">
                <a:solidFill>
                  <a:srgbClr val="2D3748"/>
                </a:solidFill>
              </a:rPr>
              <a:t>なら追加しない
・</a:t>
            </a:r>
            <a:r>
              <a:rPr lang="en" altLang="ja-JP" sz="1400">
                <a:solidFill>
                  <a:srgbClr val="2D3748"/>
                </a:solidFill>
              </a:rPr>
              <a:t>hit_count</a:t>
            </a:r>
            <a:r>
              <a:rPr lang="ja-JP" altLang="en" sz="1400">
                <a:solidFill>
                  <a:srgbClr val="2D3748"/>
                </a:solidFill>
              </a:rPr>
              <a:t>：</a:t>
            </a:r>
            <a:r>
              <a:rPr lang="ja-JP" altLang="en-US" sz="1400">
                <a:solidFill>
                  <a:srgbClr val="2D3748"/>
                </a:solidFill>
              </a:rPr>
              <a:t>そのルールが“効いた”回数。低いものは週次で削除候補
・例：価格忠実転記の </a:t>
            </a:r>
            <a:r>
              <a:rPr lang="en" altLang="ja-JP" sz="1400">
                <a:solidFill>
                  <a:srgbClr val="2D3748"/>
                </a:solidFill>
              </a:rPr>
              <a:t>R-009 </a:t>
            </a:r>
            <a:r>
              <a:rPr lang="ja-JP" altLang="en-US" sz="1400">
                <a:solidFill>
                  <a:srgbClr val="2D3748"/>
                </a:solidFill>
              </a:rPr>
              <a:t>は保留宣言運用へ </a:t>
            </a:r>
            <a:r>
              <a:rPr lang="en" altLang="ja-JP" sz="1400">
                <a:solidFill>
                  <a:srgbClr val="2D3748"/>
                </a:solidFill>
              </a:rPr>
              <a:t>UPDATE </a:t>
            </a:r>
            <a:r>
              <a:rPr lang="ja-JP" altLang="en-US" sz="1400">
                <a:solidFill>
                  <a:srgbClr val="2D3748"/>
                </a:solidFill>
              </a:rPr>
              <a:t>を重ね、</a:t>
            </a:r>
            <a:r>
              <a:rPr lang="en" altLang="ja-JP" sz="1400">
                <a:solidFill>
                  <a:srgbClr val="2D3748"/>
                </a:solidFill>
              </a:rPr>
              <a:t>hit_count </a:t>
            </a:r>
            <a:r>
              <a:rPr lang="ja-JP" altLang="en-US" sz="1400">
                <a:solidFill>
                  <a:srgbClr val="2D3748"/>
                </a:solidFill>
              </a:rPr>
              <a:t>を積んで定着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5945699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58787BC-CA42-584E-9943-EA6F6159F209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2800" b="1">
                <a:solidFill>
                  <a:srgbClr val="1E2761"/>
                </a:solidFill>
              </a:rPr>
              <a:t>Claude Code </a:t>
            </a:r>
            <a:r>
              <a:rPr lang="ja-JP" altLang="en-US" sz="2800" b="1">
                <a:solidFill>
                  <a:srgbClr val="1E2761"/>
                </a:solidFill>
              </a:rPr>
              <a:t>機能の使い方（本題）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541FCAA-DD9A-5247-9862-0DC2BA605AA0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>
                <a:solidFill>
                  <a:srgbClr val="64748B"/>
                </a:solidFill>
              </a:rPr>
              <a:t>常駐エージェントの土台を、標準機能で実装する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399684B7-F3E3-8844-BAA3-1A992E8AD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758656"/>
              </p:ext>
            </p:extLst>
          </p:nvPr>
        </p:nvGraphicFramePr>
        <p:xfrm>
          <a:off x="546100" y="1219200"/>
          <a:ext cx="8216900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988379190"/>
                    </a:ext>
                  </a:extLst>
                </a:gridCol>
                <a:gridCol w="5930900">
                  <a:extLst>
                    <a:ext uri="{9D8B030D-6E8A-4147-A177-3AD203B41FA5}">
                      <a16:colId xmlns:a16="http://schemas.microsoft.com/office/drawing/2014/main" val="7702115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500" b="1">
                          <a:solidFill>
                            <a:srgbClr val="FFFFFF"/>
                          </a:solidFill>
                        </a:rPr>
                        <a:t>機能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500" b="1">
                          <a:solidFill>
                            <a:srgbClr val="FFFFFF"/>
                          </a:solidFill>
                        </a:rPr>
                        <a:t>このシステムでの使い所</a:t>
                      </a:r>
                    </a:p>
                  </a:txBody>
                  <a:tcPr anchor="ctr">
                    <a:solidFill>
                      <a:srgbClr val="6474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25097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1E2761"/>
                          </a:solidFill>
                        </a:rPr>
                        <a:t>Skill / slash-command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50">
                          <a:solidFill>
                            <a:srgbClr val="1E2761"/>
                          </a:solidFill>
                        </a:rPr>
                        <a:t>/harness-daily-draft・/harness-daily-eval に Step 群を集約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94455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1E2761"/>
                          </a:solidFill>
                        </a:rPr>
                        <a:t>Cron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50">
                          <a:solidFill>
                            <a:srgbClr val="1E2761"/>
                          </a:solidFill>
                        </a:rPr>
                        <a:t>scheduled_tasks.json で 06:27 / 12:07（火-土 * * 2-6）に自動起動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1555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1E2761"/>
                          </a:solidFill>
                        </a:rPr>
                        <a:t>Cron 自己再登録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50">
                          <a:solidFill>
                            <a:srgbClr val="1E2761"/>
                          </a:solidFill>
                        </a:rPr>
                        <a:t>Claude Code Cron は 7 日で自動失効 → eval 末尾(Step10)で毎日再登録し延命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74641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1E2761"/>
                          </a:solidFill>
                        </a:rPr>
                        <a:t>Background Agent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50">
                          <a:solidFill>
                            <a:srgbClr val="1E2761"/>
                          </a:solidFill>
                        </a:rPr>
                        <a:t>長時間の情報収集を委譲（ISSUE-008：Agent は生成、メインが Write）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583088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1E2761"/>
                          </a:solidFill>
                        </a:rPr>
                        <a:t>MCP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50">
                          <a:solidFill>
                            <a:srgbClr val="1E2761"/>
                          </a:solidFill>
                        </a:rPr>
                        <a:t>Gmail（教師データ取得＋下書き作成）、WebSearch、Serena 等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17175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ja-JP" altLang="en-US" sz="1350" b="1">
                          <a:solidFill>
                            <a:srgbClr val="1E2761"/>
                          </a:solidFill>
                        </a:rPr>
                        <a:t>memory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altLang="en-US" sz="1350">
                          <a:solidFill>
                            <a:srgbClr val="1E2761"/>
                          </a:solidFill>
                        </a:rPr>
                        <a:t>MEMORY.md ＋ feedback で「筆者の好み」を会話を越えて蓄積</a:t>
                      </a:r>
                    </a:p>
                  </a:txBody>
                  <a:tcPr anchor="ctr">
                    <a:solidFill>
                      <a:srgbClr val="F8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16626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577646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3D365AA-A8FB-1B47-A96A-F3D3AE1C3C45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安全設計 </a:t>
            </a:r>
            <a:r>
              <a:rPr lang="en-US" altLang="ja-JP" sz="2800" b="1">
                <a:solidFill>
                  <a:srgbClr val="1E2761"/>
                </a:solidFill>
              </a:rPr>
              <a:t>― </a:t>
            </a:r>
            <a:r>
              <a:rPr lang="ja-JP" altLang="en-US" sz="2800" b="1">
                <a:solidFill>
                  <a:srgbClr val="1E2761"/>
                </a:solidFill>
              </a:rPr>
              <a:t>自動化と「事故らない仕組み」の両立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586B489-5C40-234A-8419-807A134B498C}"/>
              </a:ext>
            </a:extLst>
          </p:cNvPr>
          <p:cNvSpPr/>
          <p:nvPr/>
        </p:nvSpPr>
        <p:spPr>
          <a:xfrm>
            <a:off x="546100" y="1092200"/>
            <a:ext cx="88900" cy="508000"/>
          </a:xfrm>
          <a:prstGeom prst="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0FC7E437-75B8-F447-92B5-67353C7E4E29}"/>
              </a:ext>
            </a:extLst>
          </p:cNvPr>
          <p:cNvSpPr/>
          <p:nvPr/>
        </p:nvSpPr>
        <p:spPr>
          <a:xfrm>
            <a:off x="635000" y="1092200"/>
            <a:ext cx="80264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3D407FE-80AC-C24E-8166-2898A7668102}"/>
              </a:ext>
            </a:extLst>
          </p:cNvPr>
          <p:cNvSpPr txBox="1"/>
          <p:nvPr/>
        </p:nvSpPr>
        <p:spPr>
          <a:xfrm>
            <a:off x="787400" y="11557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1E2761"/>
                </a:solidFill>
              </a:rPr>
              <a:t>実行環境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B6E0AE7-F081-0D48-8038-D661D67A5AD8}"/>
              </a:ext>
            </a:extLst>
          </p:cNvPr>
          <p:cNvSpPr txBox="1"/>
          <p:nvPr/>
        </p:nvSpPr>
        <p:spPr>
          <a:xfrm>
            <a:off x="3492500" y="11557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サンドボックス </a:t>
            </a:r>
            <a:r>
              <a:rPr lang="en" altLang="ja-JP" sz="1300">
                <a:solidFill>
                  <a:srgbClr val="2D3748"/>
                </a:solidFill>
              </a:rPr>
              <a:t>Dev Container</a:t>
            </a:r>
            <a:r>
              <a:rPr lang="ja-JP" altLang="en" sz="1300">
                <a:solidFill>
                  <a:srgbClr val="2D3748"/>
                </a:solidFill>
              </a:rPr>
              <a:t>（</a:t>
            </a:r>
            <a:r>
              <a:rPr lang="en" altLang="ja-JP" sz="1300">
                <a:solidFill>
                  <a:srgbClr val="2D3748"/>
                </a:solidFill>
              </a:rPr>
              <a:t>FS</a:t>
            </a:r>
            <a:r>
              <a:rPr lang="ja-JP" altLang="en" sz="1300">
                <a:solidFill>
                  <a:srgbClr val="2D3748"/>
                </a:solidFill>
              </a:rPr>
              <a:t>・</a:t>
            </a:r>
            <a:r>
              <a:rPr lang="ja-JP" altLang="en-US" sz="1300">
                <a:solidFill>
                  <a:srgbClr val="2D3748"/>
                </a:solidFill>
              </a:rPr>
              <a:t>ネットワークを </a:t>
            </a:r>
            <a:r>
              <a:rPr lang="en" altLang="ja-JP" sz="1300">
                <a:solidFill>
                  <a:srgbClr val="2D3748"/>
                </a:solidFill>
              </a:rPr>
              <a:t>iptables </a:t>
            </a:r>
            <a:r>
              <a:rPr lang="ja-JP" altLang="en-US" sz="1300">
                <a:solidFill>
                  <a:srgbClr val="2D3748"/>
                </a:solidFill>
              </a:rPr>
              <a:t>と権限で制限）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B5398725-A12F-D443-A52B-5A57166D8012}"/>
              </a:ext>
            </a:extLst>
          </p:cNvPr>
          <p:cNvSpPr/>
          <p:nvPr/>
        </p:nvSpPr>
        <p:spPr>
          <a:xfrm>
            <a:off x="546100" y="1701800"/>
            <a:ext cx="88900" cy="508000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9F8734BD-8F54-084C-997D-B5ED8D2BE611}"/>
              </a:ext>
            </a:extLst>
          </p:cNvPr>
          <p:cNvSpPr/>
          <p:nvPr/>
        </p:nvSpPr>
        <p:spPr>
          <a:xfrm>
            <a:off x="635000" y="1701800"/>
            <a:ext cx="80264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420C36-8E72-424C-9045-9E550665E0B8}"/>
              </a:ext>
            </a:extLst>
          </p:cNvPr>
          <p:cNvSpPr txBox="1"/>
          <p:nvPr/>
        </p:nvSpPr>
        <p:spPr>
          <a:xfrm>
            <a:off x="787400" y="17653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450" b="1">
                <a:solidFill>
                  <a:srgbClr val="1E2761"/>
                </a:solidFill>
              </a:rPr>
              <a:t>Hooks</a:t>
            </a:r>
            <a:r>
              <a:rPr lang="ja-JP" altLang="en" sz="1450" b="1">
                <a:solidFill>
                  <a:srgbClr val="1E2761"/>
                </a:solidFill>
              </a:rPr>
              <a:t>（</a:t>
            </a:r>
            <a:r>
              <a:rPr lang="en" altLang="ja-JP" sz="1450" b="1">
                <a:solidFill>
                  <a:srgbClr val="1E2761"/>
                </a:solidFill>
              </a:rPr>
              <a:t>CLAUDE.md</a:t>
            </a:r>
            <a:r>
              <a:rPr lang="ja-JP" altLang="en" sz="1450" b="1">
                <a:solidFill>
                  <a:srgbClr val="1E2761"/>
                </a:solidFill>
              </a:rPr>
              <a:t>）</a:t>
            </a:r>
            <a:endParaRPr lang="ja-JP" altLang="en-US" sz="1450" b="1">
              <a:solidFill>
                <a:srgbClr val="1E276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638D8BA-6697-F146-A0AE-129E507DE6B2}"/>
              </a:ext>
            </a:extLst>
          </p:cNvPr>
          <p:cNvSpPr txBox="1"/>
          <p:nvPr/>
        </p:nvSpPr>
        <p:spPr>
          <a:xfrm>
            <a:off x="3492500" y="17653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危険コマンド遮断・サプライチェーン検査・保存時 </a:t>
            </a:r>
            <a:r>
              <a:rPr lang="en" altLang="ja-JP" sz="1300">
                <a:solidFill>
                  <a:srgbClr val="2D3748"/>
                </a:solidFill>
              </a:rPr>
              <a:t>lint </a:t>
            </a:r>
            <a:r>
              <a:rPr lang="ja-JP" altLang="en-US" sz="1300">
                <a:solidFill>
                  <a:srgbClr val="2D3748"/>
                </a:solidFill>
              </a:rPr>
              <a:t>を自動実行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E250A2E-B6B7-EF44-9910-726B3A8D5BAB}"/>
              </a:ext>
            </a:extLst>
          </p:cNvPr>
          <p:cNvSpPr/>
          <p:nvPr/>
        </p:nvSpPr>
        <p:spPr>
          <a:xfrm>
            <a:off x="546100" y="2311400"/>
            <a:ext cx="88900" cy="508000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D7C8FB24-9116-A34E-9172-0447367075D8}"/>
              </a:ext>
            </a:extLst>
          </p:cNvPr>
          <p:cNvSpPr/>
          <p:nvPr/>
        </p:nvSpPr>
        <p:spPr>
          <a:xfrm>
            <a:off x="635000" y="2311400"/>
            <a:ext cx="80264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734D584-29CE-514B-BC59-C4844DE7DD42}"/>
              </a:ext>
            </a:extLst>
          </p:cNvPr>
          <p:cNvSpPr txBox="1"/>
          <p:nvPr/>
        </p:nvSpPr>
        <p:spPr>
          <a:xfrm>
            <a:off x="787400" y="23749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1E2761"/>
                </a:solidFill>
              </a:rPr>
              <a:t>メールは下書きのみ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C39AA26-2437-8142-8FDC-F37F2AA5C66F}"/>
              </a:ext>
            </a:extLst>
          </p:cNvPr>
          <p:cNvSpPr txBox="1"/>
          <p:nvPr/>
        </p:nvSpPr>
        <p:spPr>
          <a:xfrm>
            <a:off x="3492500" y="23749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自動送信 </a:t>
            </a:r>
            <a:r>
              <a:rPr lang="en" altLang="ja-JP" sz="1300">
                <a:solidFill>
                  <a:srgbClr val="2D3748"/>
                </a:solidFill>
              </a:rPr>
              <a:t>API </a:t>
            </a:r>
            <a:r>
              <a:rPr lang="ja-JP" altLang="en-US" sz="1300">
                <a:solidFill>
                  <a:srgbClr val="2D3748"/>
                </a:solidFill>
              </a:rPr>
              <a:t>は呼ばない（誤情報・誤送信を防止）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3E4EA0C-F0C6-2D4D-BEDF-5C5D99864E2B}"/>
              </a:ext>
            </a:extLst>
          </p:cNvPr>
          <p:cNvSpPr/>
          <p:nvPr/>
        </p:nvSpPr>
        <p:spPr>
          <a:xfrm>
            <a:off x="546100" y="2921000"/>
            <a:ext cx="88900" cy="508000"/>
          </a:xfrm>
          <a:prstGeom prst="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39C78038-08F6-DD44-8FE3-BEC91B3D83B3}"/>
              </a:ext>
            </a:extLst>
          </p:cNvPr>
          <p:cNvSpPr/>
          <p:nvPr/>
        </p:nvSpPr>
        <p:spPr>
          <a:xfrm>
            <a:off x="635000" y="2921000"/>
            <a:ext cx="80264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1C19FA4-885D-2044-B8B2-5BE387A124DA}"/>
              </a:ext>
            </a:extLst>
          </p:cNvPr>
          <p:cNvSpPr txBox="1"/>
          <p:nvPr/>
        </p:nvSpPr>
        <p:spPr>
          <a:xfrm>
            <a:off x="787400" y="29845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1E2761"/>
                </a:solidFill>
              </a:rPr>
              <a:t>カンニング防止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22243D0-F770-6A45-BA9E-4FA75107BDCE}"/>
              </a:ext>
            </a:extLst>
          </p:cNvPr>
          <p:cNvSpPr txBox="1"/>
          <p:nvPr/>
        </p:nvSpPr>
        <p:spPr>
          <a:xfrm>
            <a:off x="3492500" y="29845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00">
                <a:solidFill>
                  <a:srgbClr val="2D3748"/>
                </a:solidFill>
              </a:rPr>
              <a:t>Generator </a:t>
            </a:r>
            <a:r>
              <a:rPr lang="ja-JP" altLang="en-US" sz="1300">
                <a:solidFill>
                  <a:srgbClr val="2D3748"/>
                </a:solidFill>
              </a:rPr>
              <a:t>は </a:t>
            </a:r>
            <a:r>
              <a:rPr lang="en" altLang="ja-JP" sz="1300">
                <a:solidFill>
                  <a:srgbClr val="2D3748"/>
                </a:solidFill>
              </a:rPr>
              <a:t>gold_standard </a:t>
            </a:r>
            <a:r>
              <a:rPr lang="ja-JP" altLang="en-US" sz="1300">
                <a:solidFill>
                  <a:srgbClr val="2D3748"/>
                </a:solidFill>
              </a:rPr>
              <a:t>を読めない（採点者に最適化しない）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0982E01-4E75-7442-BDE8-1DECA9EFA669}"/>
              </a:ext>
            </a:extLst>
          </p:cNvPr>
          <p:cNvSpPr/>
          <p:nvPr/>
        </p:nvSpPr>
        <p:spPr>
          <a:xfrm>
            <a:off x="546100" y="3530600"/>
            <a:ext cx="88900" cy="508000"/>
          </a:xfrm>
          <a:prstGeom prst="rect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43F434D7-2A11-8244-819A-C69E90347CA4}"/>
              </a:ext>
            </a:extLst>
          </p:cNvPr>
          <p:cNvSpPr/>
          <p:nvPr/>
        </p:nvSpPr>
        <p:spPr>
          <a:xfrm>
            <a:off x="635000" y="3530600"/>
            <a:ext cx="80264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863244E-02E3-5440-855B-D78567FA0B55}"/>
              </a:ext>
            </a:extLst>
          </p:cNvPr>
          <p:cNvSpPr txBox="1"/>
          <p:nvPr/>
        </p:nvSpPr>
        <p:spPr>
          <a:xfrm>
            <a:off x="787400" y="35941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1E2761"/>
                </a:solidFill>
              </a:rPr>
              <a:t>削除はプロンプト確認経由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9C5BC86-0157-EE41-9C72-607F6D42142C}"/>
              </a:ext>
            </a:extLst>
          </p:cNvPr>
          <p:cNvSpPr txBox="1"/>
          <p:nvPr/>
        </p:nvSpPr>
        <p:spPr>
          <a:xfrm>
            <a:off x="3492500" y="3594100"/>
            <a:ext cx="5080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00">
                <a:solidFill>
                  <a:srgbClr val="2D3748"/>
                </a:solidFill>
              </a:rPr>
              <a:t>rm -rf </a:t>
            </a:r>
            <a:r>
              <a:rPr lang="ja-JP" altLang="en-US" sz="1300">
                <a:solidFill>
                  <a:srgbClr val="2D3748"/>
                </a:solidFill>
              </a:rPr>
              <a:t>等をブロック、バイパス手段も禁止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4573A95-EA08-014F-B90E-DB46095A9382}"/>
              </a:ext>
            </a:extLst>
          </p:cNvPr>
          <p:cNvSpPr/>
          <p:nvPr/>
        </p:nvSpPr>
        <p:spPr>
          <a:xfrm>
            <a:off x="546100" y="4191000"/>
            <a:ext cx="8115300" cy="406400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-US" sz="1400" b="1">
                <a:solidFill>
                  <a:srgbClr val="FFFFFF"/>
                </a:solidFill>
              </a:rPr>
              <a:t>「自動化の利便」と「事故らない仕組み」を両立させているのが運用の肝。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519300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3970FC-728D-8E41-95E2-EBC1A452B3CA}"/>
              </a:ext>
            </a:extLst>
          </p:cNvPr>
          <p:cNvSpPr txBox="1"/>
          <p:nvPr/>
        </p:nvSpPr>
        <p:spPr>
          <a:xfrm>
            <a:off x="546100" y="228600"/>
            <a:ext cx="8026400" cy="482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2800" b="1">
                <a:solidFill>
                  <a:srgbClr val="1E2761"/>
                </a:solidFill>
              </a:rPr>
              <a:t>ここまでのまとめ </a:t>
            </a:r>
            <a:r>
              <a:rPr lang="en-US" altLang="ja-JP" sz="2800" b="1">
                <a:solidFill>
                  <a:srgbClr val="1E2761"/>
                </a:solidFill>
              </a:rPr>
              <a:t>― </a:t>
            </a:r>
            <a:r>
              <a:rPr lang="ja-JP" altLang="en-US" sz="2800" b="1">
                <a:solidFill>
                  <a:srgbClr val="1E2761"/>
                </a:solidFill>
              </a:rPr>
              <a:t>転用できる汎用パターン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C60ADC5-E122-6A48-AED5-D1A06D9BD32B}"/>
              </a:ext>
            </a:extLst>
          </p:cNvPr>
          <p:cNvSpPr txBox="1"/>
          <p:nvPr/>
        </p:nvSpPr>
        <p:spPr>
          <a:xfrm>
            <a:off x="546100" y="723900"/>
            <a:ext cx="802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500">
                <a:solidFill>
                  <a:srgbClr val="64748B"/>
                </a:solidFill>
              </a:rPr>
              <a:t>この実装から抽出した「設計の型」</a:t>
            </a:r>
            <a:r>
              <a:rPr lang="en-US" altLang="ja-JP" sz="1500">
                <a:solidFill>
                  <a:srgbClr val="64748B"/>
                </a:solidFill>
              </a:rPr>
              <a:t>5 </a:t>
            </a:r>
            <a:r>
              <a:rPr lang="ja-JP" altLang="en-US" sz="1500">
                <a:solidFill>
                  <a:srgbClr val="64748B"/>
                </a:solidFill>
              </a:rPr>
              <a:t>つ</a:t>
            </a:r>
          </a:p>
        </p:txBody>
      </p:sp>
      <p:sp>
        <p:nvSpPr>
          <p:cNvPr id="4" name="角丸四角形 3">
            <a:extLst>
              <a:ext uri="{FF2B5EF4-FFF2-40B4-BE49-F238E27FC236}">
                <a16:creationId xmlns:a16="http://schemas.microsoft.com/office/drawing/2014/main" id="{C39444F6-95DA-8C4E-B5B5-8C7CF6E3C3FC}"/>
              </a:ext>
            </a:extLst>
          </p:cNvPr>
          <p:cNvSpPr/>
          <p:nvPr/>
        </p:nvSpPr>
        <p:spPr>
          <a:xfrm>
            <a:off x="546100" y="1143000"/>
            <a:ext cx="81153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2AC2FE39-BCB6-5849-A03D-7D19355863FD}"/>
              </a:ext>
            </a:extLst>
          </p:cNvPr>
          <p:cNvSpPr/>
          <p:nvPr/>
        </p:nvSpPr>
        <p:spPr>
          <a:xfrm>
            <a:off x="635000" y="1219200"/>
            <a:ext cx="355600" cy="3556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1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BD1128-26B0-7A47-A728-755F69A3AC1B}"/>
              </a:ext>
            </a:extLst>
          </p:cNvPr>
          <p:cNvSpPr txBox="1"/>
          <p:nvPr/>
        </p:nvSpPr>
        <p:spPr>
          <a:xfrm>
            <a:off x="1143000" y="12065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1E2761"/>
                </a:solidFill>
              </a:rPr>
              <a:t>生成と評価のセッション分離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C9FFA6-2967-404C-B2D2-115B1551D0A6}"/>
              </a:ext>
            </a:extLst>
          </p:cNvPr>
          <p:cNvSpPr txBox="1"/>
          <p:nvPr/>
        </p:nvSpPr>
        <p:spPr>
          <a:xfrm>
            <a:off x="4394200" y="1206500"/>
            <a:ext cx="4140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採点者に最適化しない。役割を物理的に分ける</a:t>
            </a:r>
          </a:p>
        </p:txBody>
      </p:sp>
      <p:sp>
        <p:nvSpPr>
          <p:cNvPr id="8" name="角丸四角形 7">
            <a:extLst>
              <a:ext uri="{FF2B5EF4-FFF2-40B4-BE49-F238E27FC236}">
                <a16:creationId xmlns:a16="http://schemas.microsoft.com/office/drawing/2014/main" id="{5C81268B-F1C4-C544-A596-F2E8262A40E5}"/>
              </a:ext>
            </a:extLst>
          </p:cNvPr>
          <p:cNvSpPr/>
          <p:nvPr/>
        </p:nvSpPr>
        <p:spPr>
          <a:xfrm>
            <a:off x="546100" y="1727200"/>
            <a:ext cx="81153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C04EDD67-E3D4-4348-86E9-395DAC347DEA}"/>
              </a:ext>
            </a:extLst>
          </p:cNvPr>
          <p:cNvSpPr/>
          <p:nvPr/>
        </p:nvSpPr>
        <p:spPr>
          <a:xfrm>
            <a:off x="635000" y="1803400"/>
            <a:ext cx="355600" cy="3556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2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8FC32D0-E225-E440-86F2-051F2D193FA1}"/>
              </a:ext>
            </a:extLst>
          </p:cNvPr>
          <p:cNvSpPr txBox="1"/>
          <p:nvPr/>
        </p:nvSpPr>
        <p:spPr>
          <a:xfrm>
            <a:off x="1143000" y="17907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1E2761"/>
                </a:solidFill>
              </a:rPr>
              <a:t>教師データ駆動の自己改善ループ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9D7FED9-CDE9-B34A-A5CC-956715173F4A}"/>
              </a:ext>
            </a:extLst>
          </p:cNvPr>
          <p:cNvSpPr txBox="1"/>
          <p:nvPr/>
        </p:nvSpPr>
        <p:spPr>
          <a:xfrm>
            <a:off x="4394200" y="1790700"/>
            <a:ext cx="4140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正解との差分を構造化して翌日に申し送る</a:t>
            </a:r>
          </a:p>
        </p:txBody>
      </p:sp>
      <p:sp>
        <p:nvSpPr>
          <p:cNvPr id="12" name="角丸四角形 11">
            <a:extLst>
              <a:ext uri="{FF2B5EF4-FFF2-40B4-BE49-F238E27FC236}">
                <a16:creationId xmlns:a16="http://schemas.microsoft.com/office/drawing/2014/main" id="{174BB7EC-7408-304A-A449-720A3A677C4F}"/>
              </a:ext>
            </a:extLst>
          </p:cNvPr>
          <p:cNvSpPr/>
          <p:nvPr/>
        </p:nvSpPr>
        <p:spPr>
          <a:xfrm>
            <a:off x="546100" y="2311400"/>
            <a:ext cx="81153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F13A62CC-E8F9-9941-8DC8-65B5A7F44945}"/>
              </a:ext>
            </a:extLst>
          </p:cNvPr>
          <p:cNvSpPr/>
          <p:nvPr/>
        </p:nvSpPr>
        <p:spPr>
          <a:xfrm>
            <a:off x="635000" y="2387600"/>
            <a:ext cx="355600" cy="3556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3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376DC78-25E6-4B44-9495-E8A70784F546}"/>
              </a:ext>
            </a:extLst>
          </p:cNvPr>
          <p:cNvSpPr txBox="1"/>
          <p:nvPr/>
        </p:nvSpPr>
        <p:spPr>
          <a:xfrm>
            <a:off x="1143000" y="23749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450" b="1">
                <a:solidFill>
                  <a:srgbClr val="1E2761"/>
                </a:solidFill>
              </a:rPr>
              <a:t>学習ルールの過学習防止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85B56F4-8613-044F-9436-3F33365617D4}"/>
              </a:ext>
            </a:extLst>
          </p:cNvPr>
          <p:cNvSpPr txBox="1"/>
          <p:nvPr/>
        </p:nvSpPr>
        <p:spPr>
          <a:xfrm>
            <a:off x="4394200" y="2374900"/>
            <a:ext cx="4140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300">
                <a:solidFill>
                  <a:srgbClr val="2D3748"/>
                </a:solidFill>
              </a:rPr>
              <a:t>ID</a:t>
            </a:r>
            <a:r>
              <a:rPr lang="ja-JP" altLang="en" sz="1300">
                <a:solidFill>
                  <a:srgbClr val="2D3748"/>
                </a:solidFill>
              </a:rPr>
              <a:t>＋</a:t>
            </a:r>
            <a:r>
              <a:rPr lang="en" altLang="ja-JP" sz="1300">
                <a:solidFill>
                  <a:srgbClr val="2D3748"/>
                </a:solidFill>
              </a:rPr>
              <a:t>hit_count</a:t>
            </a:r>
            <a:r>
              <a:rPr lang="ja-JP" altLang="en" sz="1300">
                <a:solidFill>
                  <a:srgbClr val="2D3748"/>
                </a:solidFill>
              </a:rPr>
              <a:t>＋</a:t>
            </a:r>
            <a:r>
              <a:rPr lang="ja-JP" altLang="en-US" sz="1300">
                <a:solidFill>
                  <a:srgbClr val="2D3748"/>
                </a:solidFill>
              </a:rPr>
              <a:t>上限＋</a:t>
            </a:r>
            <a:r>
              <a:rPr lang="en" altLang="ja-JP" sz="1300">
                <a:solidFill>
                  <a:srgbClr val="2D3748"/>
                </a:solidFill>
              </a:rPr>
              <a:t>Overfitting </a:t>
            </a:r>
            <a:r>
              <a:rPr lang="ja-JP" altLang="en-US" sz="1300">
                <a:solidFill>
                  <a:srgbClr val="2D3748"/>
                </a:solidFill>
              </a:rPr>
              <a:t>自問で「育てて間引く」</a:t>
            </a:r>
          </a:p>
        </p:txBody>
      </p:sp>
      <p:sp>
        <p:nvSpPr>
          <p:cNvPr id="16" name="角丸四角形 15">
            <a:extLst>
              <a:ext uri="{FF2B5EF4-FFF2-40B4-BE49-F238E27FC236}">
                <a16:creationId xmlns:a16="http://schemas.microsoft.com/office/drawing/2014/main" id="{6D972790-3110-7A42-B6E8-259C2D4D32D0}"/>
              </a:ext>
            </a:extLst>
          </p:cNvPr>
          <p:cNvSpPr/>
          <p:nvPr/>
        </p:nvSpPr>
        <p:spPr>
          <a:xfrm>
            <a:off x="546100" y="2895600"/>
            <a:ext cx="81153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60D341DD-2B20-7E43-8225-FFBB9A5B18E5}"/>
              </a:ext>
            </a:extLst>
          </p:cNvPr>
          <p:cNvSpPr/>
          <p:nvPr/>
        </p:nvSpPr>
        <p:spPr>
          <a:xfrm>
            <a:off x="635000" y="2971800"/>
            <a:ext cx="355600" cy="355600"/>
          </a:xfrm>
          <a:prstGeom prst="ellipse">
            <a:avLst/>
          </a:prstGeom>
          <a:solidFill>
            <a:srgbClr val="64748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4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667EE8F-B103-5641-A7F0-5E7A515127FD}"/>
              </a:ext>
            </a:extLst>
          </p:cNvPr>
          <p:cNvSpPr txBox="1"/>
          <p:nvPr/>
        </p:nvSpPr>
        <p:spPr>
          <a:xfrm>
            <a:off x="1143000" y="29591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450" b="1">
                <a:solidFill>
                  <a:srgbClr val="1E2761"/>
                </a:solidFill>
              </a:rPr>
              <a:t>LLM </a:t>
            </a:r>
            <a:r>
              <a:rPr lang="ja-JP" altLang="en-US" sz="1450" b="1">
                <a:solidFill>
                  <a:srgbClr val="1E2761"/>
                </a:solidFill>
              </a:rPr>
              <a:t>の誤りを運用ゲートで弾く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7BF5AC1-1238-9043-86CF-514C936FB526}"/>
              </a:ext>
            </a:extLst>
          </p:cNvPr>
          <p:cNvSpPr txBox="1"/>
          <p:nvPr/>
        </p:nvSpPr>
        <p:spPr>
          <a:xfrm>
            <a:off x="4394200" y="2959100"/>
            <a:ext cx="4140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内部整合（コード）＋外部照合（</a:t>
            </a:r>
            <a:r>
              <a:rPr lang="en" altLang="ja-JP" sz="1300">
                <a:solidFill>
                  <a:srgbClr val="2D3748"/>
                </a:solidFill>
              </a:rPr>
              <a:t>WebSearch</a:t>
            </a:r>
            <a:r>
              <a:rPr lang="ja-JP" altLang="en" sz="1300">
                <a:solidFill>
                  <a:srgbClr val="2D3748"/>
                </a:solidFill>
              </a:rPr>
              <a:t>）</a:t>
            </a:r>
            <a:r>
              <a:rPr lang="ja-JP" altLang="en-US" sz="1300">
                <a:solidFill>
                  <a:srgbClr val="2D3748"/>
                </a:solidFill>
              </a:rPr>
              <a:t>の二層</a:t>
            </a:r>
          </a:p>
        </p:txBody>
      </p:sp>
      <p:sp>
        <p:nvSpPr>
          <p:cNvPr id="20" name="角丸四角形 19">
            <a:extLst>
              <a:ext uri="{FF2B5EF4-FFF2-40B4-BE49-F238E27FC236}">
                <a16:creationId xmlns:a16="http://schemas.microsoft.com/office/drawing/2014/main" id="{4A8AC388-F7D4-5043-AF39-516E0E6C685A}"/>
              </a:ext>
            </a:extLst>
          </p:cNvPr>
          <p:cNvSpPr/>
          <p:nvPr/>
        </p:nvSpPr>
        <p:spPr>
          <a:xfrm>
            <a:off x="546100" y="3479800"/>
            <a:ext cx="8115300" cy="508000"/>
          </a:xfrm>
          <a:prstGeom prst="roundRect">
            <a:avLst/>
          </a:prstGeom>
          <a:solidFill>
            <a:srgbClr val="F8F9FC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18672718-18E0-8A47-A043-B3E08B042F0D}"/>
              </a:ext>
            </a:extLst>
          </p:cNvPr>
          <p:cNvSpPr/>
          <p:nvPr/>
        </p:nvSpPr>
        <p:spPr>
          <a:xfrm>
            <a:off x="635000" y="3556000"/>
            <a:ext cx="355600" cy="355600"/>
          </a:xfrm>
          <a:prstGeom prst="ellipse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ja-JP" sz="1400" b="1">
                <a:solidFill>
                  <a:srgbClr val="FFFFFF"/>
                </a:solidFill>
              </a:rPr>
              <a:t>5</a:t>
            </a:r>
            <a:endParaRPr lang="ja-JP" altLang="en-US" sz="1400" b="1">
              <a:solidFill>
                <a:srgbClr val="FFFFFF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B8EA292-6CBD-F845-8564-3AB67F6ECC1A}"/>
              </a:ext>
            </a:extLst>
          </p:cNvPr>
          <p:cNvSpPr txBox="1"/>
          <p:nvPr/>
        </p:nvSpPr>
        <p:spPr>
          <a:xfrm>
            <a:off x="1143000" y="3543300"/>
            <a:ext cx="31750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" altLang="ja-JP" sz="1450" b="1">
                <a:solidFill>
                  <a:srgbClr val="1E2761"/>
                </a:solidFill>
              </a:rPr>
              <a:t>Cron </a:t>
            </a:r>
            <a:r>
              <a:rPr lang="ja-JP" altLang="en-US" sz="1450" b="1">
                <a:solidFill>
                  <a:srgbClr val="1E2761"/>
                </a:solidFill>
              </a:rPr>
              <a:t>自己再登録で常駐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51839F4-3D57-A845-9670-A5826AFD6136}"/>
              </a:ext>
            </a:extLst>
          </p:cNvPr>
          <p:cNvSpPr txBox="1"/>
          <p:nvPr/>
        </p:nvSpPr>
        <p:spPr>
          <a:xfrm>
            <a:off x="4394200" y="3543300"/>
            <a:ext cx="4140200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ja-JP" altLang="en-US" sz="1300">
                <a:solidFill>
                  <a:srgbClr val="2D3748"/>
                </a:solidFill>
              </a:rPr>
              <a:t>失効する仕組みを逆手に、冪等な再登録で延命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ED3C7B02-A5C2-B643-B0B5-3050331AD845}"/>
              </a:ext>
            </a:extLst>
          </p:cNvPr>
          <p:cNvSpPr/>
          <p:nvPr/>
        </p:nvSpPr>
        <p:spPr>
          <a:xfrm>
            <a:off x="546100" y="4114800"/>
            <a:ext cx="8115300" cy="431800"/>
          </a:xfrm>
          <a:prstGeom prst="rect">
            <a:avLst/>
          </a:prstGeom>
          <a:solidFill>
            <a:srgbClr val="1E276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ja-JP" altLang="en" sz="1450" b="1">
                <a:solidFill>
                  <a:srgbClr val="FFFFFF"/>
                </a:solidFill>
              </a:rPr>
              <a:t>「</a:t>
            </a:r>
            <a:r>
              <a:rPr lang="en" altLang="ja-JP" sz="1450" b="1">
                <a:solidFill>
                  <a:srgbClr val="FFFFFF"/>
                </a:solidFill>
              </a:rPr>
              <a:t>Claude Code </a:t>
            </a:r>
            <a:r>
              <a:rPr lang="ja-JP" altLang="en" sz="1450" b="1">
                <a:solidFill>
                  <a:srgbClr val="FFFFFF"/>
                </a:solidFill>
              </a:rPr>
              <a:t>＝</a:t>
            </a:r>
            <a:r>
              <a:rPr lang="ja-JP" altLang="en-US" sz="1450" b="1">
                <a:solidFill>
                  <a:srgbClr val="FFFFFF"/>
                </a:solidFill>
              </a:rPr>
              <a:t>対話ツール」から「</a:t>
            </a:r>
            <a:r>
              <a:rPr lang="en" altLang="ja-JP" sz="1450" b="1">
                <a:solidFill>
                  <a:srgbClr val="FFFFFF"/>
                </a:solidFill>
              </a:rPr>
              <a:t>Claude Code </a:t>
            </a:r>
            <a:r>
              <a:rPr lang="ja-JP" altLang="en" sz="1450" b="1">
                <a:solidFill>
                  <a:srgbClr val="FFFFFF"/>
                </a:solidFill>
              </a:rPr>
              <a:t>＝</a:t>
            </a:r>
            <a:r>
              <a:rPr lang="ja-JP" altLang="en-US" sz="1450" b="1">
                <a:solidFill>
                  <a:srgbClr val="FFFFFF"/>
                </a:solidFill>
              </a:rPr>
              <a:t>常駐する自己改善エージェントの土台」へ。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46888"/>
            <a:ext cx="64008" cy="44602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214800791"/>
      </p:ext>
    </p:extLst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Arial Black"/>
              </a:rPr>
              <a:t>KEY 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78992"/>
            <a:ext cx="8229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C800"/>
                </a:solidFill>
                <a:latin typeface="Meiryo"/>
              </a:rPr>
              <a:t>「正解があれば毎日賢くなる」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eiryo"/>
              </a:rPr>
              <a:t>持ち帰るチェック項目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42032"/>
            <a:ext cx="8229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C800"/>
                </a:solidFill>
                <a:latin typeface="Meiryo"/>
              </a:rPr>
              <a:t>□  </a:t>
            </a:r>
            <a:r>
              <a:rPr sz="1300" b="0">
                <a:solidFill>
                  <a:srgbClr val="CADCFC"/>
                </a:solidFill>
                <a:latin typeface="Meiryo"/>
              </a:rPr>
              <a:t>「正解（教師データ）が既にある業務か？」を最初に問う ― これがループの出発点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C800"/>
                </a:solidFill>
                <a:latin typeface="Meiryo"/>
              </a:rPr>
              <a:t>□  </a:t>
            </a:r>
            <a:r>
              <a:rPr sz="1300" b="0">
                <a:solidFill>
                  <a:srgbClr val="CADCFC"/>
                </a:solidFill>
                <a:latin typeface="Meiryo"/>
              </a:rPr>
              <a:t>生成役と評価役を物理的に分ける ― 採点者に最適化させない（責務分離）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FFC800"/>
                </a:solidFill>
                <a:latin typeface="Meiryo"/>
              </a:rPr>
              <a:t>□  </a:t>
            </a:r>
            <a:r>
              <a:rPr sz="1300" b="0">
                <a:solidFill>
                  <a:srgbClr val="CADCFC"/>
                </a:solidFill>
                <a:latin typeface="Meiryo"/>
              </a:rPr>
              <a:t>ルールは“育てて間引く” ― ID＋hit_count＋20項目上限＋Overfitting 自問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261104"/>
            <a:ext cx="8275320" cy="457200"/>
          </a:xfrm>
          <a:prstGeom prst="roundRect">
            <a:avLst/>
          </a:prstGeom>
          <a:solidFill>
            <a:srgbClr val="151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15968"/>
            <a:ext cx="79552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Meiryo"/>
              </a:rPr>
              <a:t>シリーズ現在地：  </a:t>
            </a:r>
            <a:r>
              <a:rPr sz="1200" b="1">
                <a:solidFill>
                  <a:srgbClr val="FFFFFF"/>
                </a:solidFill>
                <a:latin typeface="Meiryo"/>
              </a:rPr>
              <a:t>第8回 自己改善エージェント ✅　／　次回 第9回 開発へのループ応用 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6634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CADCFC"/>
                </a:solidFill>
                <a:latin typeface="Arial"/>
              </a:rPr>
              <a:t>● ● ● ● ● ● ● ● ○ 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8229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Arial Black"/>
              </a:rPr>
              <a:t>NEXT  ▸  次回予告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731520" cy="54864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eiryo"/>
              </a:rPr>
              <a:t>第 9 回　開発へのループ応用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468880"/>
            <a:ext cx="8229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CADCFC"/>
                </a:solidFill>
                <a:latin typeface="Meiryo"/>
              </a:rPr>
              <a:t>ハーネスで確立した「型」を、そのまま開発工程のループへ移し替える。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ADCFC"/>
                </a:solidFill>
                <a:latin typeface="Meiryo"/>
              </a:rPr>
              <a:t>実装役と検証役を分け、ISSUE テキストで往復する ― それがなぜ効くのかを掘り下げる。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C800"/>
                </a:solidFill>
                <a:latin typeface="Meiryo"/>
              </a:rPr>
              <a:t>ご清聴ありがとうございました ―― 質疑応答へ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66344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0">
                <a:solidFill>
                  <a:srgbClr val="CADCFC"/>
                </a:solidFill>
                <a:latin typeface="Arial"/>
              </a:rPr>
              <a:t>● ● ● ● ● ● ● ● ● 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81923429777]">
  <a:themeElements>
    <a:clrScheme name="Office">
      <a:dk1>
        <a:srgbClr val="191B0E"/>
      </a:dk1>
      <a:lt1>
        <a:srgbClr val="ECEAE0"/>
      </a:lt1>
      <a:dk2>
        <a:srgbClr val="3A3A2E"/>
      </a:dk2>
      <a:lt2>
        <a:srgbClr val="DCD9CF"/>
      </a:lt2>
      <a:accent1>
        <a:srgbClr val="897B61"/>
      </a:accent1>
      <a:accent2>
        <a:srgbClr val="8DAB8E"/>
      </a:accent2>
      <a:accent3>
        <a:srgbClr val="77A2BB"/>
      </a:accent3>
      <a:accent4>
        <a:srgbClr val="957A99"/>
      </a:accent4>
      <a:accent5>
        <a:srgbClr val="DCD9CF"/>
      </a:accent5>
      <a:accent6>
        <a:srgbClr val="6E7E63"/>
      </a:accent6>
      <a:hlink>
        <a:srgbClr val="0563C1"/>
      </a:hlink>
      <a:folHlink>
        <a:srgbClr val="954F72"/>
      </a:folHlink>
    </a:clrScheme>
    <a:fontScheme name="Office">
      <a:majorFont>
        <a:latin typeface="Calibri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[1781924381993]">
  <a:themeElements>
    <a:clrScheme name="Office">
      <a:dk1>
        <a:srgbClr val="191B0E"/>
      </a:dk1>
      <a:lt1>
        <a:srgbClr val="ECEAE0"/>
      </a:lt1>
      <a:dk2>
        <a:srgbClr val="3A3A2E"/>
      </a:dk2>
      <a:lt2>
        <a:srgbClr val="DCD9CF"/>
      </a:lt2>
      <a:accent1>
        <a:srgbClr val="897B61"/>
      </a:accent1>
      <a:accent2>
        <a:srgbClr val="8DAB8E"/>
      </a:accent2>
      <a:accent3>
        <a:srgbClr val="77A2BB"/>
      </a:accent3>
      <a:accent4>
        <a:srgbClr val="957A99"/>
      </a:accent4>
      <a:accent5>
        <a:srgbClr val="DCD9CF"/>
      </a:accent5>
      <a:accent6>
        <a:srgbClr val="6E7E63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F9FD34-723A-9B45-97BF-DD9CCF979820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9efad6d5-f46b-4c64-bb47-7c87188497c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23135</TotalTime>
  <Words>5907</Words>
  <Application>Microsoft Macintosh PowerPoint</Application>
  <PresentationFormat>画面に合わせる (16:9)</PresentationFormat>
  <Paragraphs>639</Paragraphs>
  <Slides>42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42</vt:i4>
      </vt:variant>
    </vt:vector>
  </HeadingPairs>
  <TitlesOfParts>
    <vt:vector size="47" baseType="lpstr">
      <vt:lpstr>Meiryo</vt:lpstr>
      <vt:lpstr>Arial</vt:lpstr>
      <vt:lpstr>Calibri</vt:lpstr>
      <vt:lpstr>Office Theme [1781923429777]</vt:lpstr>
      <vt:lpstr>Office Theme [1781924381993]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セミナー - 完全ガイド</dc:title>
  <dc:subject>PptxGenJS Presentation</dc:subject>
  <dc:creator>Koji</dc:creator>
  <cp:lastModifiedBy>晃司 土田</cp:lastModifiedBy>
  <cp:revision>17</cp:revision>
  <dcterms:created xsi:type="dcterms:W3CDTF">2026-03-08T02:08:26Z</dcterms:created>
  <dcterms:modified xsi:type="dcterms:W3CDTF">2026-06-25T21:46:17Z</dcterms:modified>
</cp:coreProperties>
</file>