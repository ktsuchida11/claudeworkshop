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9" r:id="rId3"/>
    <p:sldId id="257" r:id="rId4"/>
    <p:sldId id="258" r:id="rId5"/>
    <p:sldId id="259" r:id="rId6"/>
    <p:sldId id="260" r:id="rId7"/>
    <p:sldId id="261" r:id="rId8"/>
    <p:sldId id="262" r:id="rId9"/>
    <p:sldId id="268" r:id="rId10"/>
    <p:sldId id="264" r:id="rId11"/>
    <p:sldId id="265" r:id="rId12"/>
    <p:sldId id="266" r:id="rId13"/>
    <p:sldId id="267" r:id="rId14"/>
    <p:sldId id="271" r:id="rId15"/>
    <p:sldId id="272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48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33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6100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6858000" y="109728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</a:t>
            </a:r>
            <a:r>
              <a:rPr lang="en-US" sz="1100" b="1" kern="0" spc="400" dirty="0" err="1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勉強会</a:t>
            </a:r>
            <a:r>
              <a:rPr lang="en-US" sz="1100" b="1" kern="0" spc="40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/  全10回シリーズ</a:t>
            </a:r>
            <a:endParaRPr lang="en-US" sz="1100"/>
          </a:p>
        </p:txBody>
      </p:sp>
      <p:sp>
        <p:nvSpPr>
          <p:cNvPr id="4" name="Text 1"/>
          <p:cNvSpPr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1 回</a:t>
            </a:r>
            <a:endParaRPr lang="en-US" sz="220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セキュリティ</a:t>
            </a:r>
            <a:endParaRPr lang="en-US" sz="640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4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生産性・コスト・品質を手に入れるために</a:t>
            </a:r>
            <a:endParaRPr lang="en-US" sz="220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今日のテーマ:  AIセキュリティの3原則「分ける・防ぐ・残す」の全体像</a:t>
            </a:r>
            <a:endParaRPr lang="en-US" sz="1400"/>
          </a:p>
        </p:txBody>
      </p:sp>
      <p:sp>
        <p:nvSpPr>
          <p:cNvPr id="9" name="Text 6"/>
          <p:cNvSpPr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kern="0" spc="20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 ○ ○ ○ ○ ○ ○</a:t>
            </a:r>
            <a:endParaRPr lang="en-US" sz="1400"/>
          </a:p>
        </p:txBody>
      </p:sp>
      <p:sp>
        <p:nvSpPr>
          <p:cNvPr id="10" name="Text 7"/>
          <p:cNvSpPr/>
          <p:nvPr/>
        </p:nvSpPr>
        <p:spPr>
          <a:xfrm>
            <a:off x="457200" y="4663440"/>
            <a:ext cx="94421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</a:rPr>
              <a:t>土田</a:t>
            </a:r>
            <a:r>
              <a:rPr lang="ja-JP" altLang="en-US" sz="1100">
                <a:solidFill>
                  <a:schemeClr val="bg1"/>
                </a:solidFill>
              </a:rPr>
              <a:t>　晃司</a:t>
            </a:r>
            <a:endParaRPr lang="en-US" altLang="ja-JP" sz="1100" dirty="0">
              <a:solidFill>
                <a:schemeClr val="bg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280000"/>
            <a:ext cx="8229600" cy="29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FFC800"/>
                </a:solidFill>
              </a:rPr>
              <a:t>★ 覚えて帰る一言: 「分ける・防ぐ・残す、だけ覚えて帰る」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1E2761"/>
                </a:solidFill>
              </a:rPr>
              <a:t>今日の用語ミニ辞典 ― 迷ったらここに戻る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000"/>
            <a:ext cx="8229600" cy="3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今日のスライドで初めて出てくるカタカナ語を1行で説明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50000"/>
            <a:ext cx="8229600" cy="3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</a:rPr>
              <a:t>●  DevContainer</a:t>
            </a:r>
            <a:r>
              <a:rPr sz="1400" b="0">
                <a:solidFill>
                  <a:srgbClr val="2D3748"/>
                </a:solidFill>
              </a:rPr>
              <a:t>　＝　プロジェクトごとの使い捨て開発コンテナ（ホストから分離）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E2761"/>
                </a:solidFill>
              </a:rPr>
              <a:t>●  Sandbox</a:t>
            </a:r>
            <a:r>
              <a:rPr sz="1400" b="0">
                <a:solidFill>
                  <a:srgbClr val="2D3748"/>
                </a:solidFill>
              </a:rPr>
              <a:t>　＝　OSが「ここから先は触らせない」と決める砂場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E2761"/>
                </a:solidFill>
              </a:rPr>
              <a:t>●  Hooks</a:t>
            </a:r>
            <a:r>
              <a:rPr sz="1400" b="0">
                <a:solidFill>
                  <a:srgbClr val="2D3748"/>
                </a:solidFill>
              </a:rPr>
              <a:t>　＝　ツール実行の前後に必ず呼ばれる関数（決定的にブロックできる）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E2761"/>
                </a:solidFill>
              </a:rPr>
              <a:t>●  プロンプトインジェクション</a:t>
            </a:r>
            <a:r>
              <a:rPr sz="1400" b="0">
                <a:solidFill>
                  <a:srgbClr val="2D3748"/>
                </a:solidFill>
              </a:rPr>
              <a:t>　＝　外部に仕込まれた指示でAIが誘導される攻撃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E2761"/>
                </a:solidFill>
              </a:rPr>
              <a:t>●  ラテラルムーブメント</a:t>
            </a:r>
            <a:r>
              <a:rPr sz="1400" b="0">
                <a:solidFill>
                  <a:srgbClr val="2D3748"/>
                </a:solidFill>
              </a:rPr>
              <a:t>　＝　1台が侵害されたあと他の機器に被害が拡がること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1">
                <a:solidFill>
                  <a:srgbClr val="64748B"/>
                </a:solidFill>
              </a:rPr>
              <a:t>★ 用語が分からなくなったらここへ戻ってください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なぜ「セキュリティの話」から始めるのか</a:t>
            </a:r>
            <a:endParaRPr lang="en-US" sz="280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4592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3774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使うリスク &lt; 使わないリスク</a:t>
            </a:r>
            <a:endParaRPr lang="en-US" sz="1500"/>
          </a:p>
        </p:txBody>
      </p:sp>
      <p:sp>
        <p:nvSpPr>
          <p:cNvPr id="8" name="Text 5"/>
          <p:cNvSpPr/>
          <p:nvPr/>
        </p:nvSpPr>
        <p:spPr>
          <a:xfrm>
            <a:off x="731520" y="3154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競合は既にClaude Codeで開発速度を上げている。使わない選択が、生産性・コスト・品質の面で遅れを生む。</a:t>
            </a:r>
            <a:endParaRPr lang="en-US" sz="1100"/>
          </a:p>
        </p:txBody>
      </p:sp>
      <p:sp>
        <p:nvSpPr>
          <p:cNvPr id="9" name="Shape 6"/>
          <p:cNvSpPr/>
          <p:nvPr/>
        </p:nvSpPr>
        <p:spPr>
          <a:xfrm>
            <a:off x="3291840" y="132588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7"/>
          <p:cNvSpPr/>
          <p:nvPr/>
        </p:nvSpPr>
        <p:spPr>
          <a:xfrm>
            <a:off x="3291840" y="13258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645920"/>
            <a:ext cx="594360" cy="594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3774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ただし無防備はダメ</a:t>
            </a:r>
            <a:endParaRPr lang="en-US" sz="1500"/>
          </a:p>
        </p:txBody>
      </p:sp>
      <p:sp>
        <p:nvSpPr>
          <p:cNvPr id="13" name="Text 9"/>
          <p:cNvSpPr/>
          <p:nvPr/>
        </p:nvSpPr>
        <p:spPr>
          <a:xfrm>
            <a:off x="3566160" y="3154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は自律的に動けるが、やってはいけないことを理解しているわけではない。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26480" y="132588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1"/>
          <p:cNvSpPr/>
          <p:nvPr/>
        </p:nvSpPr>
        <p:spPr>
          <a:xfrm>
            <a:off x="6126480" y="13258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645920"/>
            <a:ext cx="594360" cy="5943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00800" y="23774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知っていれば回避できる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400800" y="3154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リスクの大半は「型」を押さえれば防げる。今日はその型をシリーズ全10回の背骨として渡す。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</a:t>
            </a:r>
            <a:r>
              <a:rPr lang="en-US" sz="2600" b="1" dirty="0" err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Codeで起こりうる脅威</a:t>
            </a: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― 3つのカテゴリ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697480" cy="10972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入口リスク</a:t>
            </a:r>
            <a:endParaRPr lang="en-US" sz="1800"/>
          </a:p>
        </p:txBody>
      </p:sp>
      <p:sp>
        <p:nvSpPr>
          <p:cNvPr id="8" name="Text 5"/>
          <p:cNvSpPr/>
          <p:nvPr/>
        </p:nvSpPr>
        <p:spPr>
          <a:xfrm>
            <a:off x="731520" y="22860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汚染されたものが入ってくる</a:t>
            </a:r>
            <a:endParaRPr lang="en-US" sz="1100"/>
          </a:p>
        </p:txBody>
      </p:sp>
      <p:sp>
        <p:nvSpPr>
          <p:cNvPr id="9" name="Shape 6"/>
          <p:cNvSpPr/>
          <p:nvPr/>
        </p:nvSpPr>
        <p:spPr>
          <a:xfrm>
            <a:off x="731520" y="26974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7"/>
          <p:cNvSpPr/>
          <p:nvPr/>
        </p:nvSpPr>
        <p:spPr>
          <a:xfrm>
            <a:off x="731520" y="28346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サプライチェーン攻撃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信頼性の低いライブラリ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悪意あるスキル / プラグイン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>
          <a:xfrm>
            <a:off x="3291840" y="128016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9"/>
          <p:cNvSpPr/>
          <p:nvPr/>
        </p:nvSpPr>
        <p:spPr>
          <a:xfrm>
            <a:off x="3291840" y="1280160"/>
            <a:ext cx="2697480" cy="10972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60020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出口リスク</a:t>
            </a:r>
            <a:endParaRPr lang="en-US" sz="1800"/>
          </a:p>
        </p:txBody>
      </p:sp>
      <p:sp>
        <p:nvSpPr>
          <p:cNvPr id="15" name="Text 11"/>
          <p:cNvSpPr/>
          <p:nvPr/>
        </p:nvSpPr>
        <p:spPr>
          <a:xfrm>
            <a:off x="3566160" y="22860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意図しない操作をしてしまう</a:t>
            </a:r>
            <a:endParaRPr lang="en-US" sz="1100"/>
          </a:p>
        </p:txBody>
      </p:sp>
      <p:sp>
        <p:nvSpPr>
          <p:cNvPr id="16" name="Shape 12"/>
          <p:cNvSpPr/>
          <p:nvPr/>
        </p:nvSpPr>
        <p:spPr>
          <a:xfrm>
            <a:off x="3566160" y="26974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3"/>
          <p:cNvSpPr/>
          <p:nvPr/>
        </p:nvSpPr>
        <p:spPr>
          <a:xfrm>
            <a:off x="3566160" y="28346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ファイル削除 (rm -rf)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Web経由で外部送信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APIキー・認証情報の漏洩</a:t>
            </a:r>
            <a:endParaRPr lang="en-US" sz="1200"/>
          </a:p>
        </p:txBody>
      </p:sp>
      <p:sp>
        <p:nvSpPr>
          <p:cNvPr id="18" name="Shape 14"/>
          <p:cNvSpPr/>
          <p:nvPr/>
        </p:nvSpPr>
        <p:spPr>
          <a:xfrm>
            <a:off x="6126480" y="128016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5"/>
          <p:cNvSpPr/>
          <p:nvPr/>
        </p:nvSpPr>
        <p:spPr>
          <a:xfrm>
            <a:off x="6126480" y="1280160"/>
            <a:ext cx="2697480" cy="10972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600200"/>
            <a:ext cx="548640" cy="5486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04088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境界リスク</a:t>
            </a:r>
            <a:endParaRPr lang="en-US" sz="1800"/>
          </a:p>
        </p:txBody>
      </p:sp>
      <p:sp>
        <p:nvSpPr>
          <p:cNvPr id="22" name="Text 17"/>
          <p:cNvSpPr/>
          <p:nvPr/>
        </p:nvSpPr>
        <p:spPr>
          <a:xfrm>
            <a:off x="6400800" y="22860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自分の外に被害が拡がる</a:t>
            </a:r>
            <a:endParaRPr lang="en-US" sz="1100"/>
          </a:p>
        </p:txBody>
      </p:sp>
      <p:sp>
        <p:nvSpPr>
          <p:cNvPr id="23" name="Shape 18"/>
          <p:cNvSpPr/>
          <p:nvPr/>
        </p:nvSpPr>
        <p:spPr>
          <a:xfrm>
            <a:off x="6400800" y="26974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6400800" y="28346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踏み台化（社内他端末へ）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クラウドIAMの暴走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課金爆発・他サービス侵害</a:t>
            </a:r>
            <a:endParaRPr lang="en-US" sz="1200"/>
          </a:p>
        </p:txBody>
      </p:sp>
      <p:sp>
        <p:nvSpPr>
          <p:cNvPr id="25" name="Shape 20"/>
          <p:cNvSpPr/>
          <p:nvPr/>
        </p:nvSpPr>
        <p:spPr>
          <a:xfrm>
            <a:off x="457200" y="4480560"/>
            <a:ext cx="8229600" cy="50292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1"/>
          <p:cNvSpPr/>
          <p:nvPr/>
        </p:nvSpPr>
        <p:spPr>
          <a:xfrm>
            <a:off x="594360" y="4480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この3カテゴリは、第3回「基本ガード」の </a:t>
            </a:r>
            <a:r>
              <a:rPr lang="en-US" sz="12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/ Permission / Hooks </a:t>
            </a:r>
            <a:r>
              <a:rPr lang="en-US" sz="1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の3点セットに対応します</a:t>
            </a:r>
            <a:endParaRPr 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AIセキュリティの3原則 ― 分ける・防ぐ・残す</a:t>
            </a:r>
            <a:endParaRPr lang="en-US" sz="260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このシリーズ全10回を貫く「背骨」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97480" cy="2743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965960" y="15087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0" b="1">
                <a:solidFill>
                  <a:srgbClr val="151B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520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373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4231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分ける</a:t>
            </a:r>
            <a:endParaRPr lang="en-US" sz="3600"/>
          </a:p>
        </p:txBody>
      </p:sp>
      <p:sp>
        <p:nvSpPr>
          <p:cNvPr id="9" name="Text 6"/>
          <p:cNvSpPr/>
          <p:nvPr/>
        </p:nvSpPr>
        <p:spPr>
          <a:xfrm>
            <a:off x="731520" y="31089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動作環境・アカウント・権限を、メイン環境から分離する。</a:t>
            </a:r>
            <a:endParaRPr lang="en-US" sz="1100"/>
          </a:p>
        </p:txBody>
      </p:sp>
      <p:sp>
        <p:nvSpPr>
          <p:cNvPr id="10" name="Shape 7"/>
          <p:cNvSpPr/>
          <p:nvPr/>
        </p:nvSpPr>
        <p:spPr>
          <a:xfrm>
            <a:off x="640080" y="3520440"/>
            <a:ext cx="2331720" cy="50292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8"/>
          <p:cNvSpPr/>
          <p:nvPr/>
        </p:nvSpPr>
        <p:spPr>
          <a:xfrm>
            <a:off x="731520" y="3520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第2回で深掘り </a:t>
            </a:r>
            <a:r>
              <a:rPr lang="en-US" sz="11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環境</a:t>
            </a:r>
            <a:endParaRPr lang="en-US" sz="1000"/>
          </a:p>
        </p:txBody>
      </p:sp>
      <p:sp>
        <p:nvSpPr>
          <p:cNvPr id="12" name="Shape 9"/>
          <p:cNvSpPr/>
          <p:nvPr/>
        </p:nvSpPr>
        <p:spPr>
          <a:xfrm>
            <a:off x="3291840" y="1417320"/>
            <a:ext cx="2697480" cy="2743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0"/>
          <p:cNvSpPr/>
          <p:nvPr/>
        </p:nvSpPr>
        <p:spPr>
          <a:xfrm>
            <a:off x="4800600" y="15087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0" b="1">
                <a:solidFill>
                  <a:srgbClr val="151B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520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737360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66160" y="24231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防ぐ</a:t>
            </a:r>
            <a:endParaRPr lang="en-US" sz="3600"/>
          </a:p>
        </p:txBody>
      </p:sp>
      <p:sp>
        <p:nvSpPr>
          <p:cNvPr id="16" name="Text 12"/>
          <p:cNvSpPr/>
          <p:nvPr/>
        </p:nvSpPr>
        <p:spPr>
          <a:xfrm>
            <a:off x="3566160" y="31089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悪意あるものを入れない、意図しない操作を止める。</a:t>
            </a:r>
            <a:endParaRPr lang="en-US" sz="1100"/>
          </a:p>
        </p:txBody>
      </p:sp>
      <p:sp>
        <p:nvSpPr>
          <p:cNvPr id="17" name="Shape 13"/>
          <p:cNvSpPr/>
          <p:nvPr/>
        </p:nvSpPr>
        <p:spPr>
          <a:xfrm>
            <a:off x="3474720" y="3520440"/>
            <a:ext cx="2331720" cy="50292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4"/>
          <p:cNvSpPr/>
          <p:nvPr/>
        </p:nvSpPr>
        <p:spPr>
          <a:xfrm>
            <a:off x="3566160" y="3520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第3回で深掘り </a:t>
            </a:r>
            <a:r>
              <a:rPr lang="en-US" sz="11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基本ガード</a:t>
            </a:r>
            <a:endParaRPr lang="en-US" sz="1000"/>
          </a:p>
        </p:txBody>
      </p:sp>
      <p:sp>
        <p:nvSpPr>
          <p:cNvPr id="19" name="Shape 15"/>
          <p:cNvSpPr/>
          <p:nvPr/>
        </p:nvSpPr>
        <p:spPr>
          <a:xfrm>
            <a:off x="6126480" y="1417320"/>
            <a:ext cx="2697480" cy="2743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6"/>
          <p:cNvSpPr/>
          <p:nvPr/>
        </p:nvSpPr>
        <p:spPr>
          <a:xfrm>
            <a:off x="7635240" y="15087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0" b="1">
                <a:solidFill>
                  <a:srgbClr val="151B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520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737360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0" y="24231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残す</a:t>
            </a:r>
            <a:endParaRPr lang="en-US" sz="3600"/>
          </a:p>
        </p:txBody>
      </p:sp>
      <p:sp>
        <p:nvSpPr>
          <p:cNvPr id="23" name="Text 18"/>
          <p:cNvSpPr/>
          <p:nvPr/>
        </p:nvSpPr>
        <p:spPr>
          <a:xfrm>
            <a:off x="6400800" y="31089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エージェントの行動ログを記録し、監査・評価できる状態にする。</a:t>
            </a:r>
            <a:endParaRPr lang="en-US" sz="1100"/>
          </a:p>
        </p:txBody>
      </p:sp>
      <p:sp>
        <p:nvSpPr>
          <p:cNvPr id="24" name="Shape 19"/>
          <p:cNvSpPr/>
          <p:nvPr/>
        </p:nvSpPr>
        <p:spPr>
          <a:xfrm>
            <a:off x="6309360" y="3520440"/>
            <a:ext cx="2331720" cy="50292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0"/>
          <p:cNvSpPr/>
          <p:nvPr/>
        </p:nvSpPr>
        <p:spPr>
          <a:xfrm>
            <a:off x="6400800" y="3520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第6回で深掘り </a:t>
            </a:r>
            <a:r>
              <a:rPr lang="en-US" sz="11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ログ / トレース</a:t>
            </a:r>
            <a:endParaRPr lang="en-US" sz="1000"/>
          </a:p>
        </p:txBody>
      </p:sp>
      <p:sp>
        <p:nvSpPr>
          <p:cNvPr id="26" name="Text 21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 GMOフラットセキュリティ CTO 米氏 対談より ／ ※3原則の概念は米氏対談、順序は本シリーズの構成上の都合で入れ替え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入口リスク ― 汚染されたものを入れない</a:t>
            </a:r>
            <a:endParaRPr lang="en-US" sz="260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信頼できないものをエージェントの実行環境に入れてしまうリスク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737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サプライチェーン</a:t>
            </a:r>
            <a:endParaRPr lang="en-US" sz="1500"/>
          </a:p>
        </p:txBody>
      </p:sp>
      <p:sp>
        <p:nvSpPr>
          <p:cNvPr id="9" name="Text 6"/>
          <p:cNvSpPr/>
          <p:nvPr/>
        </p:nvSpPr>
        <p:spPr>
          <a:xfrm>
            <a:off x="731520" y="23774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1日100〜200件</a:t>
            </a:r>
            <a:endParaRPr lang="en-US" sz="1700"/>
          </a:p>
        </p:txBody>
      </p:sp>
      <p:sp>
        <p:nvSpPr>
          <p:cNvPr id="10" name="Text 7"/>
          <p:cNvSpPr/>
          <p:nvPr/>
        </p:nvSpPr>
        <p:spPr>
          <a:xfrm>
            <a:off x="731520" y="2788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npm/pipの汚染パッケージ公開</a:t>
            </a:r>
            <a:endParaRPr lang="en-US" sz="1000"/>
          </a:p>
        </p:txBody>
      </p:sp>
      <p:sp>
        <p:nvSpPr>
          <p:cNvPr id="11" name="Shape 8"/>
          <p:cNvSpPr/>
          <p:nvPr/>
        </p:nvSpPr>
        <p:spPr>
          <a:xfrm>
            <a:off x="731520" y="31546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9"/>
          <p:cNvSpPr/>
          <p:nvPr/>
        </p:nvSpPr>
        <p:spPr>
          <a:xfrm>
            <a:off x="731520" y="324612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installしたら最後：ブラウザのログイン情報・APIキー・SSH鍵が丸ごと抜かれる。</a:t>
            </a:r>
            <a:endParaRPr lang="en-US" sz="1050"/>
          </a:p>
          <a:p>
            <a:pPr marL="0" indent="0">
              <a:spcAft>
                <a:spcPts val="300"/>
              </a:spcAft>
              <a:buNone/>
            </a:pPr>
            <a:r>
              <a:rPr lang="en-US" sz="105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2段階認証も、エージェントがブラウザ自動操作できれば突破される。</a:t>
            </a:r>
            <a:endParaRPr lang="en-US" sz="1050"/>
          </a:p>
        </p:txBody>
      </p:sp>
      <p:sp>
        <p:nvSpPr>
          <p:cNvPr id="13" name="Shape 10"/>
          <p:cNvSpPr/>
          <p:nvPr/>
        </p:nvSpPr>
        <p:spPr>
          <a:xfrm>
            <a:off x="329184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1"/>
          <p:cNvSpPr/>
          <p:nvPr/>
        </p:nvSpPr>
        <p:spPr>
          <a:xfrm>
            <a:off x="329184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178308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23360" y="1737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低信頼ライブラリ</a:t>
            </a:r>
            <a:endParaRPr lang="en-US" sz="1500"/>
          </a:p>
        </p:txBody>
      </p:sp>
      <p:sp>
        <p:nvSpPr>
          <p:cNvPr id="17" name="Text 13"/>
          <p:cNvSpPr/>
          <p:nvPr/>
        </p:nvSpPr>
        <p:spPr>
          <a:xfrm>
            <a:off x="3566160" y="23774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★数・ランキング</a:t>
            </a:r>
            <a:endParaRPr lang="en-US" sz="1700"/>
          </a:p>
        </p:txBody>
      </p:sp>
      <p:sp>
        <p:nvSpPr>
          <p:cNvPr id="18" name="Text 14"/>
          <p:cNvSpPr/>
          <p:nvPr/>
        </p:nvSpPr>
        <p:spPr>
          <a:xfrm>
            <a:off x="3566160" y="2788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は操作可能</a:t>
            </a:r>
            <a:endParaRPr lang="en-US" sz="1000"/>
          </a:p>
        </p:txBody>
      </p:sp>
      <p:sp>
        <p:nvSpPr>
          <p:cNvPr id="19" name="Shape 15"/>
          <p:cNvSpPr/>
          <p:nvPr/>
        </p:nvSpPr>
        <p:spPr>
          <a:xfrm>
            <a:off x="3566160" y="31546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6"/>
          <p:cNvSpPr/>
          <p:nvPr/>
        </p:nvSpPr>
        <p:spPr>
          <a:xfrm>
            <a:off x="3566160" y="324612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人気指標は操作できる。Claude Codeに「良さそうなライブラリ入れて」と頼むと、汚染版を掴むリスクがある。</a:t>
            </a:r>
            <a:endParaRPr lang="en-US" sz="1050"/>
          </a:p>
        </p:txBody>
      </p:sp>
      <p:sp>
        <p:nvSpPr>
          <p:cNvPr id="21" name="Shape 17"/>
          <p:cNvSpPr/>
          <p:nvPr/>
        </p:nvSpPr>
        <p:spPr>
          <a:xfrm>
            <a:off x="612648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18"/>
          <p:cNvSpPr/>
          <p:nvPr/>
        </p:nvSpPr>
        <p:spPr>
          <a:xfrm>
            <a:off x="612648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783080"/>
            <a:ext cx="411480" cy="4114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58000" y="1737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悪意あるスキル</a:t>
            </a:r>
            <a:endParaRPr lang="en-US" sz="1500"/>
          </a:p>
        </p:txBody>
      </p:sp>
      <p:sp>
        <p:nvSpPr>
          <p:cNvPr id="25" name="Text 20"/>
          <p:cNvSpPr/>
          <p:nvPr/>
        </p:nvSpPr>
        <p:spPr>
          <a:xfrm>
            <a:off x="6400800" y="23774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プロンプト注入</a:t>
            </a:r>
            <a:endParaRPr lang="en-US" sz="1700"/>
          </a:p>
        </p:txBody>
      </p:sp>
      <p:sp>
        <p:nvSpPr>
          <p:cNvPr id="26" name="Text 21"/>
          <p:cNvSpPr/>
          <p:nvPr/>
        </p:nvSpPr>
        <p:spPr>
          <a:xfrm>
            <a:off x="6400800" y="2788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を仕込まれたスキル</a:t>
            </a:r>
            <a:endParaRPr lang="en-US" sz="1000"/>
          </a:p>
        </p:txBody>
      </p:sp>
      <p:sp>
        <p:nvSpPr>
          <p:cNvPr id="27" name="Shape 22"/>
          <p:cNvSpPr/>
          <p:nvPr/>
        </p:nvSpPr>
        <p:spPr>
          <a:xfrm>
            <a:off x="6400800" y="31546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3"/>
          <p:cNvSpPr/>
          <p:nvPr/>
        </p:nvSpPr>
        <p:spPr>
          <a:xfrm>
            <a:off x="6400800" y="324612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Skillマーケットやプラグイン配布でも同じ構図。悪意ある指示を仕込まれたスキルが、エージェントを操って攻撃を手伝わせる。</a:t>
            </a:r>
            <a:endParaRPr lang="en-US" sz="1050"/>
          </a:p>
        </p:txBody>
      </p:sp>
      <p:sp>
        <p:nvSpPr>
          <p:cNvPr id="29" name="Shape 24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5"/>
          <p:cNvSpPr/>
          <p:nvPr/>
        </p:nvSpPr>
        <p:spPr>
          <a:xfrm>
            <a:off x="594360" y="44805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 ▸ </a:t>
            </a: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第3回の Deny ルール / パッケージ </a:t>
            </a: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minimumReleaseAge </a:t>
            </a: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でクールダウン</a:t>
            </a:r>
            <a:endParaRPr lang="en-US" sz="1100"/>
          </a:p>
        </p:txBody>
      </p:sp>
      <p:sp>
        <p:nvSpPr>
          <p:cNvPr id="31" name="Text 26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 ○ ○ ○ ○ ○ ○</a:t>
            </a:r>
            <a:endParaRPr lang="en-US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出口リスク ― 意図しない操作をさせない</a:t>
            </a:r>
            <a:endParaRPr lang="en-US" sz="260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エージェントが内側から外に向けて予期せぬ操作をしてしまうリスク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ファイル削除・破壊</a:t>
            </a:r>
            <a:endParaRPr lang="en-US" sz="1500"/>
          </a:p>
        </p:txBody>
      </p:sp>
      <p:sp>
        <p:nvSpPr>
          <p:cNvPr id="9" name="Shape 6"/>
          <p:cNvSpPr/>
          <p:nvPr/>
        </p:nvSpPr>
        <p:spPr>
          <a:xfrm>
            <a:off x="731520" y="29260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7"/>
          <p:cNvSpPr/>
          <p:nvPr/>
        </p:nvSpPr>
        <p:spPr>
          <a:xfrm>
            <a:off x="731520" y="3017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エージェントが rm -rf を実行しても、非エンジニアには意味が分からない。Google Drive / SaaS に権限を渡すと、ファイルを勝手に書き換えるリスク。</a:t>
            </a:r>
            <a:endParaRPr lang="en-US" sz="1100"/>
          </a:p>
        </p:txBody>
      </p:sp>
      <p:sp>
        <p:nvSpPr>
          <p:cNvPr id="11" name="Shape 8"/>
          <p:cNvSpPr/>
          <p:nvPr/>
        </p:nvSpPr>
        <p:spPr>
          <a:xfrm>
            <a:off x="329184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9"/>
          <p:cNvSpPr/>
          <p:nvPr/>
        </p:nvSpPr>
        <p:spPr>
          <a:xfrm>
            <a:off x="329184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8308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616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Web経由の情報流出</a:t>
            </a:r>
            <a:endParaRPr lang="en-US" sz="1500"/>
          </a:p>
        </p:txBody>
      </p:sp>
      <p:sp>
        <p:nvSpPr>
          <p:cNvPr id="15" name="Shape 11"/>
          <p:cNvSpPr/>
          <p:nvPr/>
        </p:nvSpPr>
        <p:spPr>
          <a:xfrm>
            <a:off x="3566160" y="29260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/>
          <p:nvPr/>
        </p:nvSpPr>
        <p:spPr>
          <a:xfrm>
            <a:off x="3566160" y="3017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Web検索・Fetch を通じて、社内情報を外部送信してしまうケース。許可ドメイン制がないと、機密情報がどこへ流れるか追跡不能になる。</a:t>
            </a:r>
            <a:endParaRPr lang="en-US" sz="1100"/>
          </a:p>
        </p:txBody>
      </p:sp>
      <p:sp>
        <p:nvSpPr>
          <p:cNvPr id="17" name="Shape 13"/>
          <p:cNvSpPr/>
          <p:nvPr/>
        </p:nvSpPr>
        <p:spPr>
          <a:xfrm>
            <a:off x="6126480" y="1463040"/>
            <a:ext cx="2697480" cy="283464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4"/>
          <p:cNvSpPr/>
          <p:nvPr/>
        </p:nvSpPr>
        <p:spPr>
          <a:xfrm>
            <a:off x="6126480" y="1463040"/>
            <a:ext cx="2697480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783080"/>
            <a:ext cx="594360" cy="5943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00800" y="2514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APIキー・認証情報の漏洩</a:t>
            </a:r>
            <a:endParaRPr lang="en-US" sz="1500"/>
          </a:p>
        </p:txBody>
      </p:sp>
      <p:sp>
        <p:nvSpPr>
          <p:cNvPr id="21" name="Shape 16"/>
          <p:cNvSpPr/>
          <p:nvPr/>
        </p:nvSpPr>
        <p:spPr>
          <a:xfrm>
            <a:off x="6400800" y="292608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17"/>
          <p:cNvSpPr/>
          <p:nvPr/>
        </p:nvSpPr>
        <p:spPr>
          <a:xfrm>
            <a:off x="6400800" y="3017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.env / credentials ファイルをエージェントが読む → プロンプト経由で流出。dotenvx + SOPS による .env 暗号化が基本線。</a:t>
            </a:r>
            <a:endParaRPr lang="en-US" sz="1100"/>
          </a:p>
        </p:txBody>
      </p:sp>
      <p:sp>
        <p:nvSpPr>
          <p:cNvPr id="23" name="Shape 18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594360" y="44805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 ▸ </a:t>
            </a: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第3回の </a:t>
            </a: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Deny</a:t>
            </a: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ルール / 許可ドメインリスト / PreToolUse Hook</a:t>
            </a:r>
            <a:endParaRPr lang="en-US" sz="1100"/>
          </a:p>
        </p:txBody>
      </p:sp>
      <p:sp>
        <p:nvSpPr>
          <p:cNvPr id="25" name="Text 20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 ○ ○ ○ ○ ○ ○</a:t>
            </a:r>
            <a:endParaRPr lang="en-US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境界リスク ― 自分の外に被害が拡がる</a:t>
            </a:r>
            <a:endParaRPr lang="en-US" sz="260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侵害や操作が自分の環境を超えて、他者や他サービスに波及するリスク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229600" cy="14173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91440" cy="1417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6459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踏み台（ラテラルムーブメント）</a:t>
            </a:r>
            <a:endParaRPr lang="en-US" sz="1700"/>
          </a:p>
        </p:txBody>
      </p:sp>
      <p:sp>
        <p:nvSpPr>
          <p:cNvPr id="9" name="Text 6"/>
          <p:cNvSpPr/>
          <p:nvPr/>
        </p:nvSpPr>
        <p:spPr>
          <a:xfrm>
            <a:off x="169164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自分のPCが侵害される → そこを起点に社内ネットワーク・自宅ネットワークの他機器へ攻撃が拡がる</a:t>
            </a:r>
            <a:endParaRPr lang="en-US" sz="110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知らないうちに、自分のPCが他者への犯罪の踏み台になる</a:t>
            </a:r>
            <a:endParaRPr lang="en-US" sz="110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一度踏み台になると、法的責任を問われる可能性もある</a:t>
            </a:r>
            <a:endParaRPr lang="en-US" sz="1100"/>
          </a:p>
        </p:txBody>
      </p:sp>
      <p:sp>
        <p:nvSpPr>
          <p:cNvPr id="10" name="Shape 7"/>
          <p:cNvSpPr/>
          <p:nvPr/>
        </p:nvSpPr>
        <p:spPr>
          <a:xfrm>
            <a:off x="457200" y="3063240"/>
            <a:ext cx="8229600" cy="14173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8"/>
          <p:cNvSpPr/>
          <p:nvPr/>
        </p:nvSpPr>
        <p:spPr>
          <a:xfrm>
            <a:off x="457200" y="3063240"/>
            <a:ext cx="91440" cy="1417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2004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クラウドIAMの暴走</a:t>
            </a:r>
            <a:endParaRPr lang="en-US" sz="1700"/>
          </a:p>
        </p:txBody>
      </p:sp>
      <p:sp>
        <p:nvSpPr>
          <p:cNvPr id="14" name="Text 10"/>
          <p:cNvSpPr/>
          <p:nvPr/>
        </p:nvSpPr>
        <p:spPr>
          <a:xfrm>
            <a:off x="1691640" y="361188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クラウド上のサーバーには想定外のIAMロールがついていることがある</a:t>
            </a:r>
            <a:endParaRPr lang="en-US" sz="110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エージェントがそこで動くと、AWS/GCPの他リソースに勝手にアクセス</a:t>
            </a:r>
            <a:endParaRPr lang="en-US" sz="110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課金爆発・他サービス侵害・データ流出につながる</a:t>
            </a:r>
            <a:endParaRPr lang="en-US" sz="1100"/>
          </a:p>
        </p:txBody>
      </p:sp>
      <p:sp>
        <p:nvSpPr>
          <p:cNvPr id="15" name="Shape 11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/>
          <p:nvPr/>
        </p:nvSpPr>
        <p:spPr>
          <a:xfrm>
            <a:off x="594360" y="44805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 ▸ </a:t>
            </a: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第2回「分ける」でエージェント専用アカウント + 最小権限 / 第6回「残す」で行動ログ</a:t>
            </a:r>
            <a:endParaRPr lang="en-US" sz="1100"/>
          </a:p>
        </p:txBody>
      </p:sp>
      <p:sp>
        <p:nvSpPr>
          <p:cNvPr id="17" name="Text 13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 ○ ○ ○ ○ ○ ○</a:t>
            </a:r>
            <a:endParaRPr lang="en-US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80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 E M O</a:t>
            </a:r>
            <a:endParaRPr lang="en-US" sz="140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ここからは実演</a:t>
            </a:r>
            <a:endParaRPr lang="en-US" sz="440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sz="16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防ぐ」の最小単位</a:t>
            </a: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― Deny </a:t>
            </a:r>
            <a:r>
              <a:rPr lang="en-US" sz="16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ルールと</a:t>
            </a: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6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PreToolUse</a:t>
            </a: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Hook、2つの違いを見る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457200" y="2651760"/>
            <a:ext cx="393192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   </a:t>
            </a:r>
            <a:r>
              <a:rPr lang="en-US" sz="110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分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 ルールで防御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rm -rf / curl などを Deny ルールで禁止。実行を試み、ルールがブロックする様子を確認。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4251960"/>
            <a:ext cx="1828800" cy="256032"/>
          </a:xfrm>
          <a:prstGeom prst="rect">
            <a:avLst/>
          </a:prstGeom>
          <a:solidFill>
            <a:srgbClr val="151B4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73152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通ってしまう</a:t>
            </a:r>
            <a:endParaRPr lang="en-US" sz="1000"/>
          </a:p>
        </p:txBody>
      </p:sp>
      <p:sp>
        <p:nvSpPr>
          <p:cNvPr id="12" name="Shape 10"/>
          <p:cNvSpPr/>
          <p:nvPr/>
        </p:nvSpPr>
        <p:spPr>
          <a:xfrm>
            <a:off x="4754880" y="2651760"/>
            <a:ext cx="393192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502920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 </a:t>
            </a: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</a:t>
            </a:r>
            <a:r>
              <a:rPr lang="en-US" sz="1100" dirty="0" err="1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3246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 で動的検査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29200" y="3749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PreToolUse Hook を設定し、同じコマンドを実行。Hook がツール呼び出し前に検査し exit code 2 でブロック。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4251960"/>
            <a:ext cx="1828800" cy="25603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502920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決定的に止まる</a:t>
            </a:r>
            <a:endParaRPr lang="en-US" sz="100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</a:t>
            </a:r>
            <a:r>
              <a:rPr lang="en-US" sz="1100" i="1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助言的（CLAUDE.md</a:t>
            </a: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）」</a:t>
            </a:r>
            <a:r>
              <a:rPr lang="en-US" sz="1100" i="1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に記載しても防げないので「決定的（Hooks</a:t>
            </a: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）」</a:t>
            </a:r>
            <a:r>
              <a:rPr lang="en-US" sz="1100" i="1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で確実にブロックする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976499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実演の参考</a:t>
            </a:r>
            <a:r>
              <a:rPr lang="en-US" sz="2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― 設定サンプル</a:t>
            </a:r>
            <a:endParaRPr lang="en-US" sz="260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DEMO A ▸ </a:t>
            </a:r>
            <a:r>
              <a:rPr lang="en-US" sz="1300" b="1" dirty="0" err="1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settings.json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4023360" cy="292608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"permissions": {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"deny": [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"Bash(rm -rf *)",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"Bash(curl *)",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"Bash(wget *)",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"Read(.env*)",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"Read(**/credentials*)"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"allow": [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"Bash(git *)",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"Bash(npm run *)"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/>
          </a:p>
        </p:txBody>
      </p:sp>
      <p:sp>
        <p:nvSpPr>
          <p:cNvPr id="8" name="Text 6"/>
          <p:cNvSpPr/>
          <p:nvPr/>
        </p:nvSpPr>
        <p:spPr>
          <a:xfrm>
            <a:off x="466344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DEMO B ▸ </a:t>
            </a:r>
            <a:r>
              <a:rPr lang="en-US" sz="1300" b="1" dirty="0" err="1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PreToolUse</a:t>
            </a: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Hook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023360" cy="292608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4846320" y="16002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.claude/hooks/pretool-guard.sh</a:t>
            </a:r>
            <a:endParaRPr lang="en-US" sz="1000"/>
          </a:p>
          <a:p>
            <a:pPr marL="0" indent="0">
              <a:buNone/>
            </a:pP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input=$(cat)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cmd=$(echo "$input" | jq -r .command)</a:t>
            </a:r>
            <a:endParaRPr lang="en-US" sz="1000"/>
          </a:p>
          <a:p>
            <a:pPr marL="0" indent="0">
              <a:buNone/>
            </a:pP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echo "$cmd" | grep -qE \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-rf|curl |\.env"; then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echo "Blocked: $cmd" &gt;&amp;2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exit 2   # ← 決定的にブロック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</a:t>
            </a:r>
            <a:endParaRPr lang="en-US" sz="1000"/>
          </a:p>
          <a:p>
            <a:pPr marL="0" indent="0">
              <a:buNone/>
            </a:pP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0   # ← 許可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594360" y="45262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 ▸ </a:t>
            </a:r>
            <a:r>
              <a:rPr lang="en-US" sz="11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 = Claude Codeが解釈 / Hook = OSレベルで強制。両方組み合わせるのが実務的</a:t>
            </a:r>
            <a:endParaRPr lang="en-US" sz="1100"/>
          </a:p>
        </p:txBody>
      </p:sp>
      <p:sp>
        <p:nvSpPr>
          <p:cNvPr id="13" name="Text 11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 ○ ○ ○ ○ ○ ○</a:t>
            </a:r>
            <a:endParaRPr lang="en-US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60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 E Y   T A K E A W A Y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今日のKey Takeaway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ja-JP" sz="2200" b="1">
                <a:solidFill>
                  <a:srgbClr val="FFC800"/>
                </a:solidFill>
                <a:latin typeface="+mj-lt"/>
              </a:rPr>
              <a:t>★ 「分ける・防ぐ・残す、だけ覚えて帰る」</a:t>
            </a:r>
          </a:p>
          <a:p>
            <a:endParaRPr lang="ja-JP" sz="80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使わないリスク </a:t>
            </a:r>
            <a:r>
              <a:rPr lang="en-US" sz="22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＞ </a:t>
            </a:r>
            <a:r>
              <a:rPr lang="en-US" sz="22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使うリスク。</a:t>
            </a:r>
            <a:endParaRPr lang="en-US" sz="2200"/>
          </a:p>
          <a:p>
            <a:pPr marL="0" indent="0">
              <a:spcAft>
                <a:spcPts val="800"/>
              </a:spcAft>
              <a:buNone/>
            </a:pPr>
            <a:r>
              <a:rPr lang="en-US" sz="2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 </a:t>
            </a:r>
            <a:r>
              <a:rPr lang="en-US" sz="22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「分ける・防ぐ・残す」</a:t>
            </a:r>
            <a:r>
              <a:rPr lang="en-US" sz="2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の3原則を押さえた人だけが、</a:t>
            </a:r>
            <a:endParaRPr lang="en-US" sz="2200"/>
          </a:p>
          <a:p>
            <a:pPr marL="0" indent="0">
              <a:spcAft>
                <a:spcPts val="800"/>
              </a:spcAft>
              <a:buNone/>
            </a:pPr>
            <a:r>
              <a:rPr lang="en-US" sz="2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安全に</a:t>
            </a:r>
            <a:r>
              <a:rPr lang="en-US" sz="22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速く</a:t>
            </a:r>
            <a:r>
              <a:rPr lang="en-US" sz="2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走れる。</a:t>
            </a:r>
            <a:endParaRPr lang="en-US" sz="220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8229600" cy="13716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今日持ち帰るチェック項目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>
            <a:off x="685800" y="3886200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960120" y="3840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3つの脅威カテゴリ（入口・出口・境界）を説明できる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960120" y="413308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3原則（分ける・防ぐ・残す）とそれぞれの深掘り回を対応付けられる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685800" y="4471416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960120" y="44256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Denyルールと</a:t>
            </a: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Hooks </a:t>
            </a:r>
            <a:r>
              <a:rPr lang="en-US" sz="12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の違い（助言的</a:t>
            </a: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vs </a:t>
            </a:r>
            <a:r>
              <a:rPr lang="en-US" sz="1200" dirty="0" err="1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決定的）が分かる</a:t>
            </a:r>
            <a:endParaRPr lang="en-US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457200" y="4900000"/>
            <a:ext cx="8229600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FFC800"/>
                </a:solidFill>
              </a:rPr>
              <a:t>3原則の現在地：  01 分ける ⏳    02 防ぐ ⏳    03 残す ⏳    （今日: 3原則の導入）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60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E X T   S E S S I O 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次回 ― 第2回「環境」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2004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 ▸ </a:t>
            </a:r>
            <a:r>
              <a:rPr lang="en-US" sz="1300" b="1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3原則の【分ける】の実践編</a:t>
            </a:r>
            <a:endParaRPr lang="en-US" sz="110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取り扱う内容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分離には4段階ある（プロセス / コンテナ / VM / 物理マシン）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502920" y="3319272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777240" y="322783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/ VS Code拡張 / ローカル直接 の権限境界比較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502920" y="3666744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777240" y="357530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エージェント専用アカウント・最小権限の考え方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9144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31520" y="4069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実演  </a:t>
            </a:r>
            <a:r>
              <a:rPr lang="en-US" sz="130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vs ローカル ― 同じタスクでの挙動の違いを見る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○ ○ ○ ○ ○ ○ ○ ○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A: Claude Code 7つの典型事故パターン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発信者自身もAPIキー管理が甘く約100万円の不正請求を受けた経験あり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457200" y="1417320"/>
          <a:ext cx="7498080" cy="2663952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事故パターン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何が起きるか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対応する防御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96167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.envをGitHubにコミット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数分以内にクローラーがAPIキーを発見→不正利用→数万〜数百万円請求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Deny: Read(.env*)</a:t>
                      </a:r>
                      <a:endParaRPr lang="en-US" sz="800" dirty="0"/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.gitignore設定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9616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本番DBにDROP TABLE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AIが本番環境のDBに接続した状態でテーブル丸ごと削除。3日分のデータ消失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環境分離（第2回）</a:t>
                      </a:r>
                      <a:endParaRPr lang="en-US" sz="800" dirty="0"/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HooksでSQL制限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96167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rm -rf で全ファイル削除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誤ったパスで問答無用の全削除。Git管理外のファイルは復旧不能。「朝起きたらデータが消えていた」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Deny + Hooks</a:t>
                      </a:r>
                      <a:endParaRPr lang="en-US" sz="800" dirty="0"/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(本編DEMO)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APIキーをプロンプトに直書き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AIに聞かれて貼る→ログファイルにAPIキーが記録→ログ流出で不正利用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ログのPIIマスキング</a:t>
                      </a:r>
                      <a:endParaRPr lang="en-US" sz="800" dirty="0"/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(第6回)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APIの無限リトライで高額請求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リトライ上限なしで1時間3,000回API呼び出し（約3万円/h）。気づかなければ膨張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コスト監視</a:t>
                      </a:r>
                      <a:endParaRPr lang="en-US" sz="800" dirty="0"/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Langfuse(第6回)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git push --force で同僚のコミット消去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AIが強制プッシュを実行し、同僚の3件分のコミットが完全に消えた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Deny: force push</a:t>
                      </a:r>
                      <a:endParaRPr lang="en-US" sz="800" dirty="0"/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Hooksで阻止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過剰権限で意図しないリソース使用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「ストレージだけ使って」と指示したのに、権限が広すぎてBigQuery等にも接続→課金発生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最小権限の原則</a:t>
                      </a:r>
                      <a:endParaRPr lang="en-US" sz="800" dirty="0"/>
                    </a:p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Sandbox(App.C)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4206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</a:t>
            </a: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共通の教訓: </a:t>
            </a: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AIが危険なのではなく「ガードなしだと人間以上のスピードで事故が起きる」。Appendix B の設定で #1 #3 #6 を即座に防御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 中島氏 YouTube動画「Claude Code AIエージェントで起きた重大事故とセキュリティ対策」「Claude Codeで知っておくべきセキュリティ基礎」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B: これだけは設定しておこう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初日に貼るだけで主要リスクの8割をカバーする推奨設定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3108960"/>
          </a:xfrm>
          <a:prstGeom prst="rect">
            <a:avLst/>
          </a:prstGeom>
          <a:solidFill>
            <a:srgbClr val="0F1434"/>
          </a:solidFill>
          <a:ln w="9525">
            <a:solidFill>
              <a:srgbClr val="2A2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72184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.claude/settings.json ― 推奨テンプレート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7955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"permissions": {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"deny": [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"Bash(rm -rf *)",         // 再帰削除をブロック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"Bash(curl *)",           // 外部通信をブロック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"Bash(wget *)",           // 外部ダウンロードをブロック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"Bash(git push --force*)",// 強制プッシュをブロック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"Read(.env*)",            // 認証情報の読み取りをブロック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"Read(**/.ssh/*)",        // SSH鍵の読み取りをブロック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"Read(**/credentials*)"   // クラウド認証情報をブロック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"allow": [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"Bash(git *)", "Bash(npm *)", "Bash(node *)", "Bash(python *)"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"hooks": {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"PreToolUse": [{ "matcher": "Bash",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"hooks": [{ "type": "command",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"command": "grep -qE \"rm -rf|curl |wget |\\.env\" &lt;&lt;&lt; \"$CLAUDE_TOOL_INPUT\" &amp;&amp; exit 2 || exit 0"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}]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}]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750" dirty="0"/>
          </a:p>
          <a:p>
            <a:pPr marL="0" indent="0">
              <a:spcAft>
                <a:spcPts val="30"/>
              </a:spcAft>
              <a:buNone/>
            </a:pPr>
            <a:r>
              <a:rPr lang="en-US" sz="7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46177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Deny（助言的）+ Hooks（決定的）の2段構え。</a:t>
            </a: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これをコピペするだけで、事例①②④の大半を予防できる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C: Sandbox推奨設定テンプレート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OSレベルの隔離でプロンプトインジェクション被害を最小化する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846320" cy="2560320"/>
          </a:xfrm>
          <a:prstGeom prst="rect">
            <a:avLst/>
          </a:prstGeom>
          <a:solidFill>
            <a:srgbClr val="0F1434"/>
          </a:solidFill>
          <a:ln w="9525">
            <a:solidFill>
              <a:srgbClr val="2A2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7218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settings.json ― sandbox セクション（標準版）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"sandbox": {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"enabled": true,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"network": {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"domains": [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"github.com", "api.github.com",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"registry.npmjs.org", "pypi.org",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"cdn.jsdelivr.net",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"objects.githubusercontent.com"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"fileSystem": {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"allowWrite": []    // プロジェクト内は自動許可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"allowUnsandboxedCommands": false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// ↑ 脱出口を封じる</a:t>
            </a:r>
            <a:endParaRPr lang="en-US" sz="800" dirty="0"/>
          </a:p>
          <a:p>
            <a:pPr marL="0" indent="0">
              <a:spcAft>
                <a:spcPts val="30"/>
              </a:spcAft>
              <a:buNone/>
            </a:pPr>
            <a:r>
              <a:rPr lang="en-US" sz="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0" y="14173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852160" y="141732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Sandboxとは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52160" y="1600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OSレベル（macOS Seatbelt / WSL2 bubblewrap）でbashプロセスを隔離する仕組み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9202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0" y="192024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network.domains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852160" y="2103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許可リスト外のドメインへの通信をブロック。最もよく編集する項目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0" y="242316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52160" y="242316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allowWrite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プロジェクト外への書き込みを制限。通常はデフォルトで十分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486400" y="29260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🚫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852160" y="292608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脱出口を封じる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52160" y="3108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allowUnsandboxedCommands: false で --disable-sandbox フラグを無効化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0" y="34290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⚠️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852160" y="342900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絶対やってはいけない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52160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allowWriteに~/ を入れない。許可ドメインを漠然と広くしない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8229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142232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設定したのに効かない時の診断フロー（3ステップ）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" y="43708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/sandbox コマンドでモードと設定を確認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② Claude Codeを再起動（設定変更は再起動で反映されることが多い）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③ 設定ファイルの優先順位を確認（Managed &gt; CLI &gt; Local &gt; Project &gt; User）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 「Claude Codeのsandboxを正しく理解する」YouTube動画 + Claude Code公式ドキュメント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5C6EB5-D8F0-EA40-A81E-22C5A5B7EB8C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8a0d3b6-460c-40dd-9ae8-7b0e26b1e1f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520</TotalTime>
  <Words>1662</Words>
  <Application>Microsoft Macintosh PowerPoint</Application>
  <PresentationFormat>画面に合わせる (16:9)</PresentationFormat>
  <Paragraphs>283</Paragraphs>
  <Slides>15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Meiryo</vt:lpstr>
      <vt:lpstr>Arial</vt:lpstr>
      <vt:lpstr>Arial Black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勉強会 第1回 セキュリティ</dc:title>
  <dc:subject>PptxGenJS Presentation</dc:subject>
  <dc:creator>Koji</dc:creator>
  <cp:lastModifiedBy>晃司 土田</cp:lastModifiedBy>
  <cp:revision>4</cp:revision>
  <dcterms:created xsi:type="dcterms:W3CDTF">2026-04-16T13:35:12Z</dcterms:created>
  <dcterms:modified xsi:type="dcterms:W3CDTF">2026-05-02T00:19:32Z</dcterms:modified>
</cp:coreProperties>
</file>