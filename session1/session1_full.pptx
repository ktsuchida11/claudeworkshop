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3" r:id="rId2"/>
    <p:sldId id="274" r:id="rId3"/>
    <p:sldId id="275" r:id="rId4"/>
    <p:sldId id="276" r:id="rId5"/>
    <p:sldId id="277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8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100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</a:t>
            </a:r>
            <a:r>
              <a:rPr lang="en-US" sz="1100" b="1" kern="0" spc="4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勉強会</a:t>
            </a:r>
            <a:r>
              <a:rPr lang="en-US" sz="1100" b="1" kern="0" spc="40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全10回シリーズ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1 回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セキュリティ</a:t>
            </a:r>
            <a:endParaRPr lang="en-US" sz="640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73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生産性・コスト・品質を手に入れるために</a:t>
            </a:r>
            <a:endParaRPr lang="en-US" sz="220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今日のテーマ:  本シリーズで使う3原則「分ける・防ぐ・残す」の全体像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54864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kern="0" spc="20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 ○ ○ ○ ○ ○ ○ ○ ○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94421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土田</a:t>
            </a:r>
            <a:r>
              <a:rPr lang="ja-JP" altLang="en-US" sz="1100">
                <a:solidFill>
                  <a:schemeClr val="bg1"/>
                </a:solidFill>
              </a:rPr>
              <a:t>　晃司</a:t>
            </a:r>
            <a:endParaRPr lang="en-US" altLang="ja-JP" sz="11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80000"/>
            <a:ext cx="8229600" cy="2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FFC800"/>
                </a:solidFill>
              </a:rPr>
              <a:t>★ 覚えて帰る一言: 「分ける・防ぐ・残す、だけ覚えて帰る」</a:t>
            </a:r>
          </a:p>
        </p:txBody>
      </p:sp>
    </p:spTree>
    <p:extLst>
      <p:ext uri="{BB962C8B-B14F-4D97-AF65-F5344CB8AC3E}">
        <p14:creationId xmlns:p14="http://schemas.microsoft.com/office/powerpoint/2010/main" val="1732995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1E2761"/>
                </a:solidFill>
              </a:rPr>
              <a:t>今日の用語ミニ辞典 ― 迷ったらここに戻る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今日のスライドで初めて出てくるカタカナ語を1行で説明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8229600" cy="23134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E2761"/>
                </a:solidFill>
              </a:rPr>
              <a:t>●  </a:t>
            </a:r>
            <a:r>
              <a:rPr sz="1300" b="1" dirty="0" err="1">
                <a:solidFill>
                  <a:srgbClr val="1E2761"/>
                </a:solidFill>
              </a:rPr>
              <a:t>DevContainer</a:t>
            </a:r>
            <a:r>
              <a:rPr sz="1200" b="0" dirty="0">
                <a:solidFill>
                  <a:srgbClr val="2D3748"/>
                </a:solidFill>
              </a:rPr>
              <a:t>　＝　</a:t>
            </a:r>
            <a:r>
              <a:rPr sz="1200" b="0" dirty="0" err="1">
                <a:solidFill>
                  <a:srgbClr val="2D3748"/>
                </a:solidFill>
              </a:rPr>
              <a:t>自分のPC本体</a:t>
            </a:r>
            <a:r>
              <a:rPr lang="ja-JP" altLang="en-US" sz="1200" b="0">
                <a:solidFill>
                  <a:srgbClr val="2D3748"/>
                </a:solidFill>
              </a:rPr>
              <a:t>とは</a:t>
            </a:r>
            <a:r>
              <a:rPr sz="1200" b="0" dirty="0" err="1">
                <a:solidFill>
                  <a:srgbClr val="2D3748"/>
                </a:solidFill>
              </a:rPr>
              <a:t>別に立てる、使い捨ての作業部屋（プロジェクト単位</a:t>
            </a:r>
            <a:r>
              <a:rPr sz="1200" b="0" dirty="0">
                <a:solidFill>
                  <a:srgbClr val="2D3748"/>
                </a:solidFill>
              </a:rPr>
              <a:t>）</a:t>
            </a:r>
          </a:p>
          <a:p>
            <a:pPr>
              <a:spcBef>
                <a:spcPts val="500"/>
              </a:spcBef>
            </a:pPr>
            <a:r>
              <a:rPr sz="1300" b="1" dirty="0">
                <a:solidFill>
                  <a:srgbClr val="1E2761"/>
                </a:solidFill>
              </a:rPr>
              <a:t>●  Sandbox</a:t>
            </a:r>
            <a:r>
              <a:rPr sz="1200" b="0" dirty="0">
                <a:solidFill>
                  <a:srgbClr val="2D3748"/>
                </a:solidFill>
              </a:rPr>
              <a:t>　＝　</a:t>
            </a:r>
            <a:r>
              <a:rPr sz="1200" b="0" dirty="0" err="1">
                <a:solidFill>
                  <a:srgbClr val="2D3748"/>
                </a:solidFill>
              </a:rPr>
              <a:t>パソコンの土台（OS）が「ここから先は触らせない」と決める砂場</a:t>
            </a:r>
            <a:endParaRPr sz="1200" b="0" dirty="0">
              <a:solidFill>
                <a:srgbClr val="2D3748"/>
              </a:solidFill>
            </a:endParaRPr>
          </a:p>
          <a:p>
            <a:pPr>
              <a:spcBef>
                <a:spcPts val="500"/>
              </a:spcBef>
            </a:pPr>
            <a:r>
              <a:rPr sz="1300" b="1" dirty="0">
                <a:solidFill>
                  <a:srgbClr val="1E2761"/>
                </a:solidFill>
              </a:rPr>
              <a:t>●  Hooks</a:t>
            </a:r>
            <a:r>
              <a:rPr sz="1200" b="0" dirty="0">
                <a:solidFill>
                  <a:srgbClr val="2D3748"/>
                </a:solidFill>
              </a:rPr>
              <a:t>　＝　</a:t>
            </a:r>
            <a:r>
              <a:rPr sz="1200" b="0" dirty="0" err="1">
                <a:solidFill>
                  <a:srgbClr val="2D3748"/>
                </a:solidFill>
              </a:rPr>
              <a:t>ツール実行の前後に必ず呼ばれる関数（確実に止められる＝無視できない</a:t>
            </a:r>
            <a:r>
              <a:rPr sz="1200" b="0" dirty="0">
                <a:solidFill>
                  <a:srgbClr val="2D3748"/>
                </a:solidFill>
              </a:rPr>
              <a:t>）</a:t>
            </a:r>
          </a:p>
          <a:p>
            <a:pPr>
              <a:spcBef>
                <a:spcPts val="500"/>
              </a:spcBef>
            </a:pPr>
            <a:r>
              <a:rPr sz="1300" b="1" dirty="0">
                <a:solidFill>
                  <a:srgbClr val="1E2761"/>
                </a:solidFill>
              </a:rPr>
              <a:t>●  </a:t>
            </a:r>
            <a:r>
              <a:rPr sz="1300" b="1" dirty="0" err="1">
                <a:solidFill>
                  <a:srgbClr val="1E2761"/>
                </a:solidFill>
              </a:rPr>
              <a:t>プロンプトインジェクション</a:t>
            </a:r>
            <a:r>
              <a:rPr sz="1200" b="0" dirty="0">
                <a:solidFill>
                  <a:srgbClr val="2D3748"/>
                </a:solidFill>
              </a:rPr>
              <a:t>　＝　</a:t>
            </a:r>
            <a:r>
              <a:rPr sz="1200" b="0" dirty="0" err="1">
                <a:solidFill>
                  <a:srgbClr val="2D3748"/>
                </a:solidFill>
              </a:rPr>
              <a:t>Webページや読み込ませた資料に仕込まれた指示でAIが誘導される攻撃</a:t>
            </a:r>
            <a:endParaRPr sz="1200" b="0" dirty="0">
              <a:solidFill>
                <a:srgbClr val="2D3748"/>
              </a:solidFill>
            </a:endParaRPr>
          </a:p>
          <a:p>
            <a:pPr>
              <a:spcBef>
                <a:spcPts val="500"/>
              </a:spcBef>
            </a:pPr>
            <a:r>
              <a:rPr sz="1300" b="1" dirty="0">
                <a:solidFill>
                  <a:srgbClr val="1E2761"/>
                </a:solidFill>
              </a:rPr>
              <a:t>●  </a:t>
            </a:r>
            <a:r>
              <a:rPr sz="1300" b="1" dirty="0" err="1">
                <a:solidFill>
                  <a:srgbClr val="1E2761"/>
                </a:solidFill>
              </a:rPr>
              <a:t>ラテラルムーブメント（横展開</a:t>
            </a:r>
            <a:r>
              <a:rPr sz="1300" b="1" dirty="0">
                <a:solidFill>
                  <a:srgbClr val="1E2761"/>
                </a:solidFill>
              </a:rPr>
              <a:t>）</a:t>
            </a:r>
            <a:r>
              <a:rPr sz="1200" b="0" dirty="0">
                <a:solidFill>
                  <a:srgbClr val="2D3748"/>
                </a:solidFill>
              </a:rPr>
              <a:t>　＝　1台が侵害されたあと他の機器に被害が拡がること</a:t>
            </a:r>
          </a:p>
          <a:p>
            <a:pPr>
              <a:spcBef>
                <a:spcPts val="500"/>
              </a:spcBef>
            </a:pPr>
            <a:r>
              <a:rPr sz="1300" b="1" dirty="0">
                <a:solidFill>
                  <a:srgbClr val="1E2761"/>
                </a:solidFill>
              </a:rPr>
              <a:t>●  </a:t>
            </a:r>
            <a:r>
              <a:rPr sz="1300" b="1" dirty="0" err="1">
                <a:solidFill>
                  <a:srgbClr val="1E2761"/>
                </a:solidFill>
              </a:rPr>
              <a:t>サプライチェーン攻撃</a:t>
            </a:r>
            <a:r>
              <a:rPr sz="1200" b="0" dirty="0">
                <a:solidFill>
                  <a:srgbClr val="2D3748"/>
                </a:solidFill>
              </a:rPr>
              <a:t>　＝　</a:t>
            </a:r>
            <a:r>
              <a:rPr sz="1200" b="0" dirty="0" err="1">
                <a:solidFill>
                  <a:srgbClr val="2D3748"/>
                </a:solidFill>
              </a:rPr>
              <a:t>ライブラリ等の供給経路に悪意あるコードを混ぜ込む攻撃</a:t>
            </a:r>
            <a:endParaRPr sz="1200" b="0" dirty="0">
              <a:solidFill>
                <a:srgbClr val="2D3748"/>
              </a:solidFill>
            </a:endParaRPr>
          </a:p>
          <a:p>
            <a:pPr>
              <a:spcBef>
                <a:spcPts val="500"/>
              </a:spcBef>
            </a:pPr>
            <a:r>
              <a:rPr sz="1300" b="1" dirty="0">
                <a:solidFill>
                  <a:srgbClr val="1E2761"/>
                </a:solidFill>
              </a:rPr>
              <a:t>●  IAM</a:t>
            </a:r>
            <a:r>
              <a:rPr sz="1200" b="0" dirty="0">
                <a:solidFill>
                  <a:srgbClr val="2D3748"/>
                </a:solidFill>
              </a:rPr>
              <a:t>　＝　</a:t>
            </a:r>
            <a:r>
              <a:rPr sz="1200" b="0" dirty="0" err="1">
                <a:solidFill>
                  <a:srgbClr val="2D3748"/>
                </a:solidFill>
              </a:rPr>
              <a:t>クラウド上で「誰が何にアクセスできるか」を決める権限の仕組み</a:t>
            </a:r>
            <a:endParaRPr sz="1200" b="0" dirty="0">
              <a:solidFill>
                <a:srgbClr val="2D3748"/>
              </a:solidFill>
            </a:endParaRPr>
          </a:p>
          <a:p>
            <a:pPr>
              <a:spcBef>
                <a:spcPts val="500"/>
              </a:spcBef>
            </a:pPr>
            <a:r>
              <a:rPr sz="1300" b="1" dirty="0">
                <a:solidFill>
                  <a:srgbClr val="1E2761"/>
                </a:solidFill>
              </a:rPr>
              <a:t>●  </a:t>
            </a:r>
            <a:r>
              <a:rPr sz="1300" b="1" dirty="0" err="1">
                <a:solidFill>
                  <a:srgbClr val="1E2761"/>
                </a:solidFill>
              </a:rPr>
              <a:t>助言的</a:t>
            </a:r>
            <a:r>
              <a:rPr sz="1300" b="1" dirty="0">
                <a:solidFill>
                  <a:srgbClr val="1E2761"/>
                </a:solidFill>
              </a:rPr>
              <a:t> vs </a:t>
            </a:r>
            <a:r>
              <a:rPr sz="1300" b="1" dirty="0" err="1">
                <a:solidFill>
                  <a:srgbClr val="1E2761"/>
                </a:solidFill>
              </a:rPr>
              <a:t>決定的</a:t>
            </a:r>
            <a:r>
              <a:rPr sz="1200" b="0" dirty="0">
                <a:solidFill>
                  <a:srgbClr val="2D3748"/>
                </a:solidFill>
              </a:rPr>
              <a:t>　＝　</a:t>
            </a:r>
            <a:r>
              <a:rPr sz="1200" b="0" dirty="0" err="1">
                <a:solidFill>
                  <a:srgbClr val="2D3748"/>
                </a:solidFill>
              </a:rPr>
              <a:t>お願いベース（守られないことがある）か、強制ベース（必ず止まる）か</a:t>
            </a:r>
            <a:endParaRPr sz="1200" b="0" dirty="0">
              <a:solidFill>
                <a:srgbClr val="2D3748"/>
              </a:solidFill>
            </a:endParaRPr>
          </a:p>
          <a:p>
            <a:pPr>
              <a:spcBef>
                <a:spcPts val="500"/>
              </a:spcBef>
            </a:pPr>
            <a:r>
              <a:rPr sz="1300" b="1" dirty="0">
                <a:solidFill>
                  <a:srgbClr val="1E2761"/>
                </a:solidFill>
              </a:rPr>
              <a:t>●  </a:t>
            </a:r>
            <a:r>
              <a:rPr sz="1300" b="1" dirty="0" err="1">
                <a:solidFill>
                  <a:srgbClr val="1E2761"/>
                </a:solidFill>
              </a:rPr>
              <a:t>最小権限の原則</a:t>
            </a:r>
            <a:r>
              <a:rPr sz="1200" b="0" dirty="0">
                <a:solidFill>
                  <a:srgbClr val="2D3748"/>
                </a:solidFill>
              </a:rPr>
              <a:t>　＝　</a:t>
            </a:r>
            <a:r>
              <a:rPr sz="1200" b="0" dirty="0" err="1">
                <a:solidFill>
                  <a:srgbClr val="2D3748"/>
                </a:solidFill>
              </a:rPr>
              <a:t>仕事に必要な最低限の権限だけを与える（広く渡さない）という考え方</a:t>
            </a:r>
            <a:endParaRPr sz="1200" b="0" dirty="0">
              <a:solidFill>
                <a:srgbClr val="2D374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64748B"/>
                </a:solidFill>
              </a:rPr>
              <a:t>★ 用語が分からなくなったらここへ戻ってください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921810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なぜ「セキュリティの話」から始めるのか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sz="17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使うリスク &lt; 使わないリスク</a:t>
            </a:r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競合は既にClaude Codeで開発速度を上げている。使わない選択が、生産性・コスト・品質の面で遅れを生む。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69748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64592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377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ただし無防備はダメ</a:t>
            </a:r>
            <a:endParaRPr lang="en-US" sz="1500"/>
          </a:p>
        </p:txBody>
      </p:sp>
      <p:sp>
        <p:nvSpPr>
          <p:cNvPr id="13" name="Text 9"/>
          <p:cNvSpPr/>
          <p:nvPr/>
        </p:nvSpPr>
        <p:spPr>
          <a:xfrm>
            <a:off x="3566160" y="3154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は自律的に動けるが、やってはいけないことを理解しているわけではない。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325880"/>
            <a:ext cx="269748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6126480" y="132588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64592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377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知っていれば回避できる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3154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ja-JP" sz="11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リスクの大半は「型」を押さえれば防げる。今日はその型を、シリーズ全10回を貫く軸として</a:t>
            </a:r>
            <a:r>
              <a:rPr lang="ja-JP" altLang="en-US" sz="11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示す</a:t>
            </a:r>
            <a:r>
              <a:rPr lang="ja-JP" sz="11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506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</a:t>
            </a:r>
            <a:r>
              <a:rPr lang="en-US" sz="2600" b="1" dirty="0" err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Codeで起こりうる脅威</a:t>
            </a: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― 3つのカテゴリ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入口リスク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100" i="1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エージェントが汚染されたものを取り込む</a:t>
            </a:r>
          </a:p>
        </p:txBody>
      </p:sp>
      <p:sp>
        <p:nvSpPr>
          <p:cNvPr id="9" name="Shape 6"/>
          <p:cNvSpPr/>
          <p:nvPr/>
        </p:nvSpPr>
        <p:spPr>
          <a:xfrm>
            <a:off x="731520" y="269748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731520" y="2834639"/>
            <a:ext cx="2148840" cy="137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 err="1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サプライチェーン攻撃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 err="1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信頼性の低いライブラリ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 err="1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Web検索</a:t>
            </a: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</a:t>
            </a:r>
            <a:r>
              <a:rPr lang="en-US" sz="1200" dirty="0" err="1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悪意あるスキル</a:t>
            </a: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</a:t>
            </a:r>
            <a:r>
              <a:rPr lang="en-US" sz="1200" dirty="0" err="1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</a:t>
            </a:r>
            <a:endParaRPr lang="en-US" sz="1200" dirty="0">
              <a:solidFill>
                <a:srgbClr val="2D3748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69748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3291840" y="1280160"/>
            <a:ext cx="269748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6002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出口リスク</a:t>
            </a:r>
            <a:endParaRPr lang="en-US" sz="1800"/>
          </a:p>
        </p:txBody>
      </p:sp>
      <p:sp>
        <p:nvSpPr>
          <p:cNvPr id="15" name="Text 11"/>
          <p:cNvSpPr/>
          <p:nvPr/>
        </p:nvSpPr>
        <p:spPr>
          <a:xfrm>
            <a:off x="3566160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100" i="1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エージェントが意図しない操作をする</a:t>
            </a:r>
          </a:p>
        </p:txBody>
      </p:sp>
      <p:sp>
        <p:nvSpPr>
          <p:cNvPr id="16" name="Shape 12"/>
          <p:cNvSpPr/>
          <p:nvPr/>
        </p:nvSpPr>
        <p:spPr>
          <a:xfrm>
            <a:off x="3566160" y="269748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3"/>
          <p:cNvSpPr/>
          <p:nvPr/>
        </p:nvSpPr>
        <p:spPr>
          <a:xfrm>
            <a:off x="3566160" y="28346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 err="1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ファイル削除</a:t>
            </a: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(rm -rf)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 err="1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Web経由で外部送信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 err="1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</a:t>
            </a: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ー・</a:t>
            </a:r>
            <a:r>
              <a:rPr lang="en-US" sz="1200" dirty="0" err="1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認証情報の漏洩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1280160"/>
            <a:ext cx="269748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6126480" y="1280160"/>
            <a:ext cx="269748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0020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4088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境界リスク</a:t>
            </a:r>
            <a:endParaRPr lang="en-US" sz="1800"/>
          </a:p>
        </p:txBody>
      </p:sp>
      <p:sp>
        <p:nvSpPr>
          <p:cNvPr id="22" name="Text 17"/>
          <p:cNvSpPr/>
          <p:nvPr/>
        </p:nvSpPr>
        <p:spPr>
          <a:xfrm>
            <a:off x="6400800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100" i="1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被害がエージェントの外へ拡がる</a:t>
            </a:r>
          </a:p>
        </p:txBody>
      </p:sp>
      <p:sp>
        <p:nvSpPr>
          <p:cNvPr id="23" name="Shape 18"/>
          <p:cNvSpPr/>
          <p:nvPr/>
        </p:nvSpPr>
        <p:spPr>
          <a:xfrm>
            <a:off x="6400800" y="269748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6400800" y="2834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ja-JP" sz="12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踏み台化（社内他端末へ）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ja-JP" sz="12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クラウドの権限（IAM）の暴走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ja-JP" sz="12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課金爆発・他サービス侵害</a:t>
            </a:r>
          </a:p>
        </p:txBody>
      </p:sp>
      <p:sp>
        <p:nvSpPr>
          <p:cNvPr id="25" name="Shape 20"/>
          <p:cNvSpPr/>
          <p:nvPr/>
        </p:nvSpPr>
        <p:spPr>
          <a:xfrm>
            <a:off x="457200" y="4453122"/>
            <a:ext cx="8229600" cy="50292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1"/>
          <p:cNvSpPr/>
          <p:nvPr/>
        </p:nvSpPr>
        <p:spPr>
          <a:xfrm>
            <a:off x="594360" y="447141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この3カテゴリは、第3回「基本ガード」の </a:t>
            </a:r>
            <a:r>
              <a:rPr lang="en-US" sz="12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Sandbox / Permission / Hooks </a:t>
            </a: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の4点セットで対応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3322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AIセキュリティの3原則 ― 分ける・防ぐ・残す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このシリーズ全10回を貫く「背骨」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965960" y="1508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>
                <a:solidFill>
                  <a:srgbClr val="151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2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分ける</a:t>
            </a:r>
            <a:endParaRPr lang="en-US" sz="360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sz="110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動作環境・アカウント・権限を、普段使うPCやアカウントから分離する。</a:t>
            </a:r>
          </a:p>
        </p:txBody>
      </p:sp>
      <p:sp>
        <p:nvSpPr>
          <p:cNvPr id="10" name="Shape 7"/>
          <p:cNvSpPr/>
          <p:nvPr/>
        </p:nvSpPr>
        <p:spPr>
          <a:xfrm>
            <a:off x="640080" y="3615033"/>
            <a:ext cx="2331720" cy="50292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868680" y="3657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第2回で深掘り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</a:t>
            </a:r>
            <a:r>
              <a:rPr lang="en-US" sz="11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417320"/>
            <a:ext cx="2697480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4800600" y="1508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>
                <a:solidFill>
                  <a:srgbClr val="151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2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7373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防ぐ</a:t>
            </a:r>
            <a:endParaRPr lang="en-US" sz="3600"/>
          </a:p>
        </p:txBody>
      </p:sp>
      <p:sp>
        <p:nvSpPr>
          <p:cNvPr id="16" name="Text 12"/>
          <p:cNvSpPr/>
          <p:nvPr/>
        </p:nvSpPr>
        <p:spPr>
          <a:xfrm>
            <a:off x="3566160" y="3108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悪意あるものを入れない、意図しない操作を止める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474720" y="3634740"/>
            <a:ext cx="2331720" cy="50292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4"/>
          <p:cNvSpPr/>
          <p:nvPr/>
        </p:nvSpPr>
        <p:spPr>
          <a:xfrm>
            <a:off x="3566160" y="3657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第3回で深掘り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</a:t>
            </a:r>
            <a:r>
              <a:rPr lang="en-US" sz="11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基本ガード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1417320"/>
            <a:ext cx="2697480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/>
          <p:nvPr/>
        </p:nvSpPr>
        <p:spPr>
          <a:xfrm>
            <a:off x="7635240" y="1508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>
                <a:solidFill>
                  <a:srgbClr val="151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2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73736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残す</a:t>
            </a:r>
            <a:endParaRPr lang="en-US" sz="3600"/>
          </a:p>
        </p:txBody>
      </p:sp>
      <p:sp>
        <p:nvSpPr>
          <p:cNvPr id="23" name="Text 18"/>
          <p:cNvSpPr/>
          <p:nvPr/>
        </p:nvSpPr>
        <p:spPr>
          <a:xfrm>
            <a:off x="6400800" y="3108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sz="110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エージェントの行動ログを記録し、あとから何をしたか追える状態にする。</a:t>
            </a:r>
          </a:p>
        </p:txBody>
      </p:sp>
      <p:sp>
        <p:nvSpPr>
          <p:cNvPr id="24" name="Shape 19"/>
          <p:cNvSpPr/>
          <p:nvPr/>
        </p:nvSpPr>
        <p:spPr>
          <a:xfrm>
            <a:off x="6309360" y="3615033"/>
            <a:ext cx="2331720" cy="50292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0"/>
          <p:cNvSpPr/>
          <p:nvPr/>
        </p:nvSpPr>
        <p:spPr>
          <a:xfrm>
            <a:off x="6400800" y="36347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第6回で深掘り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</a:t>
            </a:r>
            <a:r>
              <a:rPr lang="en-US" sz="11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</a:t>
            </a:r>
            <a:r>
              <a:rPr lang="en-US" sz="11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トレース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GMOフラットセキュリティ CTO 米氏 対談より ／ ※3原則の概念は米氏対談、順序は本シリーズの構成上の都合で入れ替え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479984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入口リスク ― 汚染されたものを入れない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信頼できないものをエージェントの実行環境に入れてしまうリスク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28346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9748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400" b="1">
                <a:solidFill>
                  <a:srgbClr val="1E2761"/>
                </a:solidFill>
                <a:latin typeface="Meiryo"/>
                <a:ea typeface="Meiryo"/>
                <a:cs typeface="Meiryo"/>
              </a:rPr>
              <a:t>汚染されたパッケージ</a:t>
            </a:r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1日100〜200件</a:t>
            </a:r>
            <a:endParaRPr lang="en-US" sz="1700"/>
          </a:p>
        </p:txBody>
      </p:sp>
      <p:sp>
        <p:nvSpPr>
          <p:cNvPr id="10" name="Text 7"/>
          <p:cNvSpPr/>
          <p:nvPr/>
        </p:nvSpPr>
        <p:spPr>
          <a:xfrm>
            <a:off x="73152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npm/pipの汚染パッケージ公開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731520" y="315468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731520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ja-JP" sz="105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一度入れてしまうと、ブラウザのログイン情報・APIキー・SSH鍵が丸ごと抜かれる。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ja-JP" sz="105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2段階認証も、エージェントがブラウザ自動操作できれば突破される。</a:t>
            </a:r>
          </a:p>
        </p:txBody>
      </p:sp>
      <p:sp>
        <p:nvSpPr>
          <p:cNvPr id="13" name="Shape 10"/>
          <p:cNvSpPr/>
          <p:nvPr/>
        </p:nvSpPr>
        <p:spPr>
          <a:xfrm>
            <a:off x="3291840" y="1463040"/>
            <a:ext cx="2697480" cy="28346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3291840" y="1463040"/>
            <a:ext cx="269748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7830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2336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400" b="1">
                <a:solidFill>
                  <a:srgbClr val="1E2761"/>
                </a:solidFill>
                <a:latin typeface="Meiryo"/>
                <a:ea typeface="Meiryo"/>
                <a:cs typeface="Meiryo"/>
              </a:rPr>
              <a:t>信頼性の低いライブラリ</a:t>
            </a:r>
          </a:p>
        </p:txBody>
      </p:sp>
      <p:sp>
        <p:nvSpPr>
          <p:cNvPr id="17" name="Text 13"/>
          <p:cNvSpPr/>
          <p:nvPr/>
        </p:nvSpPr>
        <p:spPr>
          <a:xfrm>
            <a:off x="3566160" y="2377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500" b="1">
                <a:solidFill>
                  <a:srgbClr val="F96167"/>
                </a:solidFill>
                <a:latin typeface="Arial Black"/>
                <a:ea typeface="Meiryo"/>
                <a:cs typeface="Meiryo"/>
              </a:rPr>
              <a:t>★数やランキングは操作できる</a:t>
            </a:r>
          </a:p>
        </p:txBody>
      </p:sp>
      <p:sp>
        <p:nvSpPr>
          <p:cNvPr id="18" name="Text 14"/>
          <p:cNvSpPr/>
          <p:nvPr/>
        </p:nvSpPr>
        <p:spPr>
          <a:xfrm>
            <a:off x="356616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10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人気指標は信用しすぎない</a:t>
            </a:r>
          </a:p>
        </p:txBody>
      </p:sp>
      <p:sp>
        <p:nvSpPr>
          <p:cNvPr id="19" name="Shape 15"/>
          <p:cNvSpPr/>
          <p:nvPr/>
        </p:nvSpPr>
        <p:spPr>
          <a:xfrm>
            <a:off x="3566160" y="315468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/>
          <p:nvPr/>
        </p:nvSpPr>
        <p:spPr>
          <a:xfrm>
            <a:off x="3566160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人気指標は操作できる。Claude Codeに「良さそうなライブラリ入れて」と頼むと、汚染版を掴むリスクがある。</a:t>
            </a:r>
            <a:endParaRPr lang="en-US" sz="1050"/>
          </a:p>
        </p:txBody>
      </p:sp>
      <p:sp>
        <p:nvSpPr>
          <p:cNvPr id="21" name="Shape 17"/>
          <p:cNvSpPr/>
          <p:nvPr/>
        </p:nvSpPr>
        <p:spPr>
          <a:xfrm>
            <a:off x="6126480" y="1463040"/>
            <a:ext cx="2697480" cy="28346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8"/>
          <p:cNvSpPr/>
          <p:nvPr/>
        </p:nvSpPr>
        <p:spPr>
          <a:xfrm>
            <a:off x="6126480" y="1463040"/>
            <a:ext cx="269748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78308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5800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400" b="1">
                <a:solidFill>
                  <a:srgbClr val="1E2761"/>
                </a:solidFill>
                <a:latin typeface="Meiryo"/>
                <a:ea typeface="Meiryo"/>
                <a:cs typeface="Meiryo"/>
              </a:rPr>
              <a:t>悪意あるスキル/プラグイン</a:t>
            </a:r>
          </a:p>
        </p:txBody>
      </p:sp>
      <p:sp>
        <p:nvSpPr>
          <p:cNvPr id="25" name="Text 20"/>
          <p:cNvSpPr/>
          <p:nvPr/>
        </p:nvSpPr>
        <p:spPr>
          <a:xfrm>
            <a:off x="6400800" y="2377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500" b="1">
                <a:solidFill>
                  <a:srgbClr val="F96167"/>
                </a:solidFill>
                <a:latin typeface="Arial Black"/>
                <a:ea typeface="Meiryo"/>
                <a:cs typeface="Meiryo"/>
              </a:rPr>
              <a:t>プロンプトインジェクション</a:t>
            </a:r>
          </a:p>
        </p:txBody>
      </p:sp>
      <p:sp>
        <p:nvSpPr>
          <p:cNvPr id="26" name="Text 21"/>
          <p:cNvSpPr/>
          <p:nvPr/>
        </p:nvSpPr>
        <p:spPr>
          <a:xfrm>
            <a:off x="640080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10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を仕込まれたスキル</a:t>
            </a:r>
          </a:p>
        </p:txBody>
      </p:sp>
      <p:sp>
        <p:nvSpPr>
          <p:cNvPr id="27" name="Shape 22"/>
          <p:cNvSpPr/>
          <p:nvPr/>
        </p:nvSpPr>
        <p:spPr>
          <a:xfrm>
            <a:off x="6400800" y="315468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3"/>
          <p:cNvSpPr/>
          <p:nvPr/>
        </p:nvSpPr>
        <p:spPr>
          <a:xfrm>
            <a:off x="6400800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Skillマーケットやプラグイン配布でも同じ構図。悪意ある指示を仕込まれたスキルが、エージェントを操って攻撃を手伝わせる。</a:t>
            </a:r>
            <a:endParaRPr lang="en-US" sz="1050"/>
          </a:p>
        </p:txBody>
      </p:sp>
      <p:sp>
        <p:nvSpPr>
          <p:cNvPr id="29" name="Shape 2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5"/>
          <p:cNvSpPr/>
          <p:nvPr/>
        </p:nvSpPr>
        <p:spPr>
          <a:xfrm>
            <a:off x="594360" y="44805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</a:t>
            </a: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▸ </a:t>
            </a:r>
            <a:r>
              <a:rPr lang="en-US" altLang="ja-JP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第3回「基本ガード」 </a:t>
            </a:r>
            <a:r>
              <a:rPr lang="en-US" sz="11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Deny </a:t>
            </a:r>
            <a:r>
              <a:rPr lang="en-US" sz="11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Hooks / </a:t>
            </a:r>
            <a:r>
              <a:rPr lang="en-US" sz="11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パッケージ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クールダウン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 ○ ○ ○ ○ ○ ○ ○ ○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657981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出口リスク ― 意図しない操作をさせない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エージェントが内側から外に向けて予期せぬ操作をしてしまうリスク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28346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9748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ファイル削除・破壊</a:t>
            </a:r>
            <a:endParaRPr lang="en-US" sz="1500"/>
          </a:p>
        </p:txBody>
      </p:sp>
      <p:sp>
        <p:nvSpPr>
          <p:cNvPr id="9" name="Shape 6"/>
          <p:cNvSpPr/>
          <p:nvPr/>
        </p:nvSpPr>
        <p:spPr>
          <a:xfrm>
            <a:off x="731520" y="292608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731520" y="3017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sz="11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エージェントが rm -rf（再帰削除コマンド）を実行しても、非エンジニアには意味が分からない。Google Drive / SaaS に権限を渡すと、ファイルを勝手に書き換えるリスク。</a:t>
            </a:r>
          </a:p>
        </p:txBody>
      </p:sp>
      <p:sp>
        <p:nvSpPr>
          <p:cNvPr id="11" name="Shape 8"/>
          <p:cNvSpPr/>
          <p:nvPr/>
        </p:nvSpPr>
        <p:spPr>
          <a:xfrm>
            <a:off x="3291840" y="1463040"/>
            <a:ext cx="2697480" cy="28346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3291840" y="1463040"/>
            <a:ext cx="269748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78308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Web経由の情報流出</a:t>
            </a:r>
            <a:endParaRPr lang="en-US" sz="1500"/>
          </a:p>
        </p:txBody>
      </p:sp>
      <p:sp>
        <p:nvSpPr>
          <p:cNvPr id="15" name="Shape 11"/>
          <p:cNvSpPr/>
          <p:nvPr/>
        </p:nvSpPr>
        <p:spPr>
          <a:xfrm>
            <a:off x="3566160" y="292608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/>
          <p:nvPr/>
        </p:nvSpPr>
        <p:spPr>
          <a:xfrm>
            <a:off x="3566160" y="3017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sz="11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Web検索やページ取得（Fetch）ツールを通じて、社内情報を外部送信してしまうケース。許可ドメイン制がないと、機密情報がどこへ流れるか追跡不能になる。</a:t>
            </a:r>
          </a:p>
        </p:txBody>
      </p:sp>
      <p:sp>
        <p:nvSpPr>
          <p:cNvPr id="17" name="Shape 13"/>
          <p:cNvSpPr/>
          <p:nvPr/>
        </p:nvSpPr>
        <p:spPr>
          <a:xfrm>
            <a:off x="6126480" y="1463040"/>
            <a:ext cx="2697480" cy="28346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4"/>
          <p:cNvSpPr/>
          <p:nvPr/>
        </p:nvSpPr>
        <p:spPr>
          <a:xfrm>
            <a:off x="6126480" y="1463040"/>
            <a:ext cx="269748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78308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APIキー・認証情報の漏洩</a:t>
            </a:r>
            <a:endParaRPr lang="en-US" sz="1500"/>
          </a:p>
        </p:txBody>
      </p:sp>
      <p:sp>
        <p:nvSpPr>
          <p:cNvPr id="21" name="Shape 16"/>
          <p:cNvSpPr/>
          <p:nvPr/>
        </p:nvSpPr>
        <p:spPr>
          <a:xfrm>
            <a:off x="6400800" y="292608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6400800" y="3017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sz="11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.env / credentials ファイルをエージェントが読む → プロンプト経由で流出。.env ファイルの暗号化（dotenvx + SOPS など）が基本線。</a:t>
            </a:r>
          </a:p>
        </p:txBody>
      </p:sp>
      <p:sp>
        <p:nvSpPr>
          <p:cNvPr id="23" name="Shape 1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594360" y="44805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</a:t>
            </a: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▸ </a:t>
            </a:r>
            <a:r>
              <a:rPr lang="en-US" altLang="ja-JP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第3回「基本ガード」 </a:t>
            </a:r>
            <a:r>
              <a:rPr lang="en-US" sz="11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</a:t>
            </a:r>
            <a:r>
              <a:rPr lang="en-US" sz="11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許可ドメインリスト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</a:t>
            </a:r>
            <a:r>
              <a:rPr lang="en-US" sz="11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PreToolUse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Hook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 ○ ○ ○ ○ ○ ○ ○ ○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096795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境界リスク ― 自分の外に被害が拡がる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侵害や操作が自分の環境を超えて、他者や他サービスに波及するリスク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4173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91440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645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踏み台（ラテラルムーブメント）</a:t>
            </a:r>
            <a:endParaRPr lang="en-US" sz="1700"/>
          </a:p>
        </p:txBody>
      </p:sp>
      <p:sp>
        <p:nvSpPr>
          <p:cNvPr id="9" name="Text 6"/>
          <p:cNvSpPr/>
          <p:nvPr/>
        </p:nvSpPr>
        <p:spPr>
          <a:xfrm>
            <a:off x="169164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Char char="●"/>
            </a:pPr>
            <a:r>
              <a:rPr lang="ja-JP" sz="12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自分のPCが侵害されると、社内ネットや自宅ネットの他機器へ攻撃が拡がる</a:t>
            </a:r>
          </a:p>
          <a:p>
            <a:pPr marL="228600" indent="-228600">
              <a:spcAft>
                <a:spcPts val="300"/>
              </a:spcAft>
              <a:buChar char="●"/>
            </a:pPr>
            <a:r>
              <a:rPr lang="ja-JP" sz="12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自分のPCが他者への犯罪の踏み台となり、法的責任を問われる可能性も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3063240"/>
            <a:ext cx="8229600" cy="14173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91440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3756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200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クラウドIAMの暴走</a:t>
            </a:r>
            <a:endParaRPr lang="en-US" sz="1700"/>
          </a:p>
        </p:txBody>
      </p:sp>
      <p:sp>
        <p:nvSpPr>
          <p:cNvPr id="14" name="Text 10"/>
          <p:cNvSpPr/>
          <p:nvPr/>
        </p:nvSpPr>
        <p:spPr>
          <a:xfrm>
            <a:off x="1691640" y="36118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Char char="●"/>
            </a:pPr>
            <a:r>
              <a:rPr lang="ja-JP" sz="12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クラウド上のサーバーには想定外の権限（IAMロール）がついていることがある</a:t>
            </a:r>
          </a:p>
          <a:p>
            <a:pPr marL="228600" indent="-228600">
              <a:spcAft>
                <a:spcPts val="300"/>
              </a:spcAft>
              <a:buChar char="●"/>
            </a:pPr>
            <a:r>
              <a:rPr lang="ja-JP" sz="12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エージェントがそこで動くと、AWS/GCPの他リソースに勝手にアクセス → 課金爆発・データ流出</a:t>
            </a:r>
          </a:p>
        </p:txBody>
      </p:sp>
      <p:sp>
        <p:nvSpPr>
          <p:cNvPr id="15" name="Shape 1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/>
          <p:nvPr/>
        </p:nvSpPr>
        <p:spPr>
          <a:xfrm>
            <a:off x="594360" y="44805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 ▸ </a:t>
            </a:r>
            <a:r>
              <a:rPr lang="en-US" sz="110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第2回「分ける」でエージェント専用アカウント + 最小権限 / 第6回「残す」で行動ログ</a:t>
            </a:r>
            <a:endParaRPr lang="en-US" sz="1100"/>
          </a:p>
        </p:txBody>
      </p:sp>
      <p:sp>
        <p:nvSpPr>
          <p:cNvPr id="17" name="Text 13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 ○ ○ ○ ○ ○ ○ ○ ○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629305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 E M 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ここからは実演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r>
              <a:rPr lang="en-US" sz="16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防ぐ」の最小単位</a:t>
            </a: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― Deny </a:t>
            </a:r>
            <a:r>
              <a:rPr lang="en-US" sz="16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ルールと</a:t>
            </a: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6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PreToolUse</a:t>
            </a: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Hook、2つの違いを見る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3931920" cy="19202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   </a:t>
            </a:r>
            <a:r>
              <a:rPr lang="en-US" sz="110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分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Deny ルールで防御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rm -rf / curl などを Deny ルールで禁止。実行を試み、ルールがブロックする様子を確認。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251960"/>
            <a:ext cx="1828800" cy="256032"/>
          </a:xfrm>
          <a:prstGeom prst="rect">
            <a:avLst/>
          </a:prstGeom>
          <a:solidFill>
            <a:srgbClr val="151B4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通ってしまう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3931920" cy="19202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B </a:t>
            </a: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en-US" sz="11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Hooks で動的検査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PreToolUse Hook を設定し、同じコマンドを実行。Hook がツール呼び出し前に検査し exit code 2 でブロック。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4251960"/>
            <a:ext cx="1828800" cy="25603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02920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決定的に止まる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100" i="1" dirty="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※プロンプト指示（CLAUDE.md などの設定ファイル）に記載する「助言的」なルールでは防げない。Hooksによる「決定的」なブロックが必要</a:t>
            </a:r>
          </a:p>
        </p:txBody>
      </p:sp>
    </p:spTree>
    <p:extLst>
      <p:ext uri="{BB962C8B-B14F-4D97-AF65-F5344CB8AC3E}">
        <p14:creationId xmlns:p14="http://schemas.microsoft.com/office/powerpoint/2010/main" val="1317229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実演の参考</a:t>
            </a:r>
            <a:r>
              <a:rPr lang="en-US" sz="2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― 設定サンプル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DEMO A ▸ </a:t>
            </a:r>
            <a:r>
              <a:rPr lang="en-US" sz="1300" b="1" dirty="0" err="1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292608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"permissions": {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"deny": [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"Bash(rm -rf *)",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"Bash(curl *)",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"Bash(wget *)",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"Read(.env*)",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"Read(**/credentials*)"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"allow": [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"Bash(git *)",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"Bash(npm run *)"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DEMO B ▸ </a:t>
            </a:r>
            <a:r>
              <a:rPr lang="en-US" sz="1300" b="1" dirty="0" err="1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Hook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292608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.claude/hooks/pretool-guard.sh</a:t>
            </a:r>
            <a:endParaRPr lang="en-US" sz="1000"/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input=$(cat)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cmd=$(echo "$input" | jq -r .command)</a:t>
            </a:r>
            <a:endParaRPr lang="en-US" sz="1000"/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echo "$cmd" | grep -qE \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"rm -rf|curl |\.env"; then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"Blocked: $cmd" &gt;&amp;2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exit 2   # ← 決定的にブロック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1000"/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0   # ← 許可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94360" y="4526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200" b="1">
                <a:solidFill>
                  <a:srgbClr val="F96167"/>
                </a:solidFill>
                <a:latin typeface="Meiryo"/>
                <a:ea typeface="Meiryo"/>
                <a:cs typeface="Meiryo"/>
              </a:rPr>
              <a:t>ポイント ▸ </a:t>
            </a:r>
            <a:r>
              <a:rPr lang="ja-JP" sz="1200" b="1">
                <a:solidFill>
                  <a:srgbClr val="1E2761"/>
                </a:solidFill>
                <a:latin typeface="Meiryo"/>
                <a:ea typeface="Meiryo"/>
                <a:cs typeface="Meiryo"/>
              </a:rPr>
              <a:t>Deny ＝ Claude Codeが解釈 ／ Hook ＝ OSレベルで強制</a:t>
            </a:r>
            <a:r>
              <a:rPr lang="ja-JP" sz="12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　両方組み合わせるのが実務的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 ○ ○ ○ ○ ○ ○ ○ ○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017948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 E Y   T A K E A W A Y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今日のKey</a:t>
            </a: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Takeaway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562440"/>
            <a:ext cx="8229600" cy="172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ja-JP" sz="2200" b="1">
                <a:solidFill>
                  <a:srgbClr val="FFC800"/>
                </a:solidFill>
                <a:latin typeface="+mj-lt"/>
              </a:rPr>
              <a:t>★ </a:t>
            </a:r>
            <a:r>
              <a:rPr lang="ja-JP" altLang="en-US" sz="2200" b="1">
                <a:solidFill>
                  <a:srgbClr val="FFC800"/>
                </a:solidFill>
                <a:latin typeface="+mj-lt"/>
              </a:rPr>
              <a:t>セキュリティを意識して利用する</a:t>
            </a:r>
            <a:endParaRPr lang="ja-JP" sz="2200" b="1">
              <a:solidFill>
                <a:srgbClr val="FFC800"/>
              </a:solidFill>
              <a:latin typeface="+mj-lt"/>
            </a:endParaRPr>
          </a:p>
          <a:p>
            <a:endParaRPr lang="ja-JP" sz="800"/>
          </a:p>
          <a:p>
            <a:pPr marL="0" indent="0">
              <a:spcAft>
                <a:spcPts val="800"/>
              </a:spcAft>
              <a:buNone/>
            </a:pPr>
            <a:r>
              <a:rPr lang="ja-JP"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使うリスク </a:t>
            </a:r>
            <a:r>
              <a:rPr lang="ja-JP" sz="2200" b="1">
                <a:solidFill>
                  <a:srgbClr val="F96167"/>
                </a:solidFill>
                <a:latin typeface="Meiryo"/>
                <a:ea typeface="Meiryo"/>
                <a:cs typeface="Meiryo"/>
              </a:rPr>
              <a:t>＜ </a:t>
            </a:r>
            <a:r>
              <a:rPr lang="ja-JP"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使わないリスク。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ja-JP" sz="220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ただし </a:t>
            </a:r>
            <a:r>
              <a:rPr lang="ja-JP"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「分ける・防ぐ・残す」</a:t>
            </a:r>
            <a:r>
              <a:rPr lang="ja-JP" sz="220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 の3原則を押さえた人だけが、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ja-JP" sz="220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安全に</a:t>
            </a:r>
            <a:r>
              <a:rPr lang="ja-JP" sz="2200" b="1">
                <a:solidFill>
                  <a:srgbClr val="F96167"/>
                </a:solidFill>
                <a:latin typeface="Meiryo"/>
                <a:ea typeface="Meiryo"/>
                <a:cs typeface="Meiryo"/>
              </a:rPr>
              <a:t>速く</a:t>
            </a:r>
            <a:r>
              <a:rPr lang="ja-JP" sz="220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走れる。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今日持ち帰るチェック項目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85800" y="3886200"/>
            <a:ext cx="182880" cy="182880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3つの脅威カテゴリ（入口・出口・境界）を説明できる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85800" y="4178808"/>
            <a:ext cx="182880" cy="182880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" y="41330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3原則（分ける・防ぐ・残す）とそれぞれの深掘り回を対応付けられる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85800" y="4471416"/>
            <a:ext cx="182880" cy="182880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60120" y="44256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Denyルールと</a:t>
            </a: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Hooks </a:t>
            </a:r>
            <a:r>
              <a:rPr lang="en-US" sz="12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の違い（助言的</a:t>
            </a: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vs </a:t>
            </a:r>
            <a:r>
              <a:rPr lang="en-US" sz="1200" dirty="0" err="1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決定的）が分かる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4900000"/>
            <a:ext cx="8229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buNone/>
            </a:pPr>
            <a:r>
              <a:rPr lang="ja-JP" sz="110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3原則の現在地：  ✅ 導入（今日）    01 分ける ⏳    02 防ぐ ⏳    03 残す ⏳</a:t>
            </a:r>
          </a:p>
        </p:txBody>
      </p:sp>
    </p:spTree>
    <p:extLst>
      <p:ext uri="{BB962C8B-B14F-4D97-AF65-F5344CB8AC3E}">
        <p14:creationId xmlns:p14="http://schemas.microsoft.com/office/powerpoint/2010/main" val="1031152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 E X T   S E S S I O 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次回 ― 第2回「環境」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200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 ▸ </a:t>
            </a:r>
            <a:r>
              <a:rPr lang="en-US" sz="13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3原則の【分ける】の実践編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取り扱う内容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3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分離の強さには4段階ある（プロセス → コンテナ → VM → 物理マシン）</a:t>
            </a:r>
          </a:p>
        </p:txBody>
      </p:sp>
      <p:sp>
        <p:nvSpPr>
          <p:cNvPr id="10" name="Shape 8"/>
          <p:cNvSpPr/>
          <p:nvPr/>
        </p:nvSpPr>
        <p:spPr>
          <a:xfrm>
            <a:off x="502920" y="3319272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77240" y="3227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30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DevContainer / VS Code拡張 / ローカル直接 ― どこまで触れるかの違いを比較</a:t>
            </a:r>
          </a:p>
        </p:txBody>
      </p:sp>
      <p:sp>
        <p:nvSpPr>
          <p:cNvPr id="12" name="Shape 10"/>
          <p:cNvSpPr/>
          <p:nvPr/>
        </p:nvSpPr>
        <p:spPr>
          <a:xfrm>
            <a:off x="502920" y="3666744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5753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エージェント専用アカウント・最小権限の考え方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9144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実演  </a:t>
            </a:r>
            <a:r>
              <a:rPr lang="en-US" sz="130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 vs ローカル ― 同じタスクでの挙動の違いを見る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○ ○ ○ ○ ○ ○ ○ ○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7671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 A: Claude Code 7つの典型事故パターン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発信者自身もAPIキー管理が甘く約100万円の不正請求を受けた経験あり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767028"/>
              </p:ext>
            </p:extLst>
          </p:nvPr>
        </p:nvGraphicFramePr>
        <p:xfrm>
          <a:off x="457200" y="1417320"/>
          <a:ext cx="7498080" cy="278587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事故パターン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何が起きるか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対応する防御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6167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.envをGitHubにコミット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数分以内にクローラーがAPIキーを発見→不正利用→数万〜数百万円請求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Deny: Read(.env*)</a:t>
                      </a:r>
                      <a:endParaRPr lang="en-US" sz="800" dirty="0"/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.gitignore設定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6167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本番DBにDROP TABLE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AIが本番環境のDBに接続した状態でテーブル丸ごと削除。3日分のデータ消失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環境分離（第2回）</a:t>
                      </a:r>
                      <a:endParaRPr lang="en-US" sz="800" dirty="0"/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HooksでSQL制限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6167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rm -rf で全ファイル削除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誤ったパスで問答無用の全削除。Git管理外のファイルは復旧不能。「朝起きたらデータが消えていた」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Deny + Hooks</a:t>
                      </a:r>
                      <a:endParaRPr lang="en-US" sz="800" dirty="0"/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(本編DEMO)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APIキーをプロンプトに直書き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AIに聞かれて貼る→ログファイルにAPIキーが記録→ログ流出で不正利用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ログのシークレットマスキング</a:t>
                      </a:r>
                      <a:endParaRPr lang="en-US" sz="800" dirty="0"/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(第6回)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APIの無限リトライで高額請求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リトライ上限なしで1時間3,000回API呼び出し（約3万円/h）。気づかなければ膨張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コスト監視</a:t>
                      </a:r>
                      <a:endParaRPr lang="en-US" sz="800" dirty="0"/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Langfuse※(第6回)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git push --force で同僚のコミット消去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AIが強制プッシュを実行し、同僚の3件分のコミットが完全に消えた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Deny: force push</a:t>
                      </a:r>
                      <a:endParaRPr lang="en-US" sz="800" dirty="0"/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Hooksで阻止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過剰権限で意図しないリソース使用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「ストレージだけ使って」と指示したのに、権限が広すぎてBigQuery等にも接続→課金発生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最小権限の原則</a:t>
                      </a:r>
                      <a:endParaRPr lang="en-US" sz="800" dirty="0"/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Sandbox(Appendix C)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594360" y="4206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100" b="1">
                <a:solidFill>
                  <a:srgbClr val="F96167"/>
                </a:solidFill>
                <a:latin typeface="Meiryo"/>
                <a:ea typeface="Meiryo"/>
                <a:cs typeface="Meiryo"/>
              </a:rPr>
              <a:t>⚠️ 共通の教訓: </a:t>
            </a:r>
            <a:r>
              <a:rPr lang="ja-JP" sz="1100">
                <a:solidFill>
                  <a:schemeClr val="bg1"/>
                </a:solidFill>
                <a:latin typeface="Meiryo"/>
                <a:ea typeface="Meiryo"/>
                <a:cs typeface="Meiryo"/>
              </a:rPr>
              <a:t>AIが危険なのではなく「ガードなしだと人間以上のスピードで事故が起きる」。Appendix Bの設定で #1 #3 #6 を即座に防御（#2 #4 #5 #7 は別の対策が必要）　　※Langfuse＝LLMの動きを記録・監視するツール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中島氏 YouTube動画「Claude Code AIエージェントで起きた重大事故とセキュリティ対策」「Claude Codeで知っておくべきセキュリティ基礎」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429862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 B: これだけは設定しておこう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初日に貼るだけで主要リスクの8割をカバーする推奨設定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108960"/>
          </a:xfrm>
          <a:prstGeom prst="rect">
            <a:avLst/>
          </a:prstGeom>
          <a:solidFill>
            <a:srgbClr val="0F1434"/>
          </a:solidFill>
          <a:ln w="9525">
            <a:solidFill>
              <a:srgbClr val="2A2F5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94360" y="147218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.claude/settings.json ― 推奨テンプレート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7955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"permissions": {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"deny": [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"Bash(rm -rf *)",         // 再帰削除をブロック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"Bash(curl *)",           // 外部通信をブロック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"Bash(wget *)",           // 外部ダウンロードをブロック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"Bash(git push --force*)",// 強制プッシュをブロック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"Read(.env*)",            // 認証情報の読み取りをブロック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"Read(**/.ssh/*)",        // SSH鍵の読み取りをブロック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"Read(**/credentials*)"   // クラウド認証情報をブロック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"allow": [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"Bash(git *)", "Bash(npm *)", "Bash(node *)", "Bash(python *)"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"PreToolUse": [{ "matcher": "Bash",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"hooks": [{ "type": "command",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"command": "grep -qE \"rm -rf|curl |wget |\\.env\" &lt;&lt;&lt; \"$CLAUDE_TOOL_INPUT\" &amp;&amp; exit 2 || exit 0"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}]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marL="0" indent="0">
              <a:spcAft>
                <a:spcPts val="30"/>
              </a:spcAft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94360" y="4617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sz="1200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💡 </a:t>
            </a:r>
            <a:r>
              <a:rPr lang="ja-JP" sz="1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Deny（助言的）＋ Hooks（決定的）の2段構え。</a:t>
            </a:r>
            <a:r>
              <a:rPr lang="ja-JP" sz="1000" dirty="0">
                <a:solidFill>
                  <a:srgbClr val="CADCFC"/>
                </a:solidFill>
                <a:latin typeface="Meiryo"/>
                <a:ea typeface="Meiryo"/>
                <a:cs typeface="Meiryo"/>
              </a:rPr>
              <a:t>これをコピペするだけで、Appendix A の #1 #3 #6 を中心に、典型事故の大半を予防できる</a:t>
            </a:r>
          </a:p>
        </p:txBody>
      </p:sp>
    </p:spTree>
    <p:extLst>
      <p:ext uri="{BB962C8B-B14F-4D97-AF65-F5344CB8AC3E}">
        <p14:creationId xmlns:p14="http://schemas.microsoft.com/office/powerpoint/2010/main" val="1139351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 C: Sandbox推奨設定テンプレート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OSレベルの隔離でプロンプトインジェクション被害を最小化する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846320" cy="2560320"/>
          </a:xfrm>
          <a:prstGeom prst="rect">
            <a:avLst/>
          </a:prstGeom>
          <a:solidFill>
            <a:srgbClr val="0F1434"/>
          </a:solidFill>
          <a:ln w="9525">
            <a:solidFill>
              <a:srgbClr val="2A2F5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94360" y="1472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 ― sandbox セクション（標準版）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"sandbox": {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"enabled": true,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"network": {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"domains": [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"github.com", "api.github.com",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"registry.npmjs.org", "pypi.org",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"cdn.jsdelivr.net",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"objects.githubusercontent.com"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"fileSystem": {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"allowWrite": []    // プロジェクト内は自動許可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"allowUnsandboxedCommands": false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// ↑ 脱出口を封じる</a:t>
            </a:r>
            <a:endParaRPr lang="en-US" sz="800" dirty="0"/>
          </a:p>
          <a:p>
            <a:pPr marL="0" indent="0">
              <a:spcAft>
                <a:spcPts val="30"/>
              </a:spcAft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0" y="1417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4173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Sandboxとは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sz="800" dirty="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OS標準の隔離機能（macOSではSeatbelt、Windows WSL2ではbubblewrap）でbashプロセスを隔離する仕組み</a:t>
            </a:r>
          </a:p>
        </p:txBody>
      </p:sp>
      <p:sp>
        <p:nvSpPr>
          <p:cNvPr id="11" name="Text 9"/>
          <p:cNvSpPr/>
          <p:nvPr/>
        </p:nvSpPr>
        <p:spPr>
          <a:xfrm>
            <a:off x="5486400" y="19202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19202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network.domains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許可リスト外のドメインへの通信をブロック。最もよく編集する項目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0" y="24231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24231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allowWrite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プロジェクト外への書き込みを制限。通常はデフォルトで十分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0" y="2926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29260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脱出口を封じる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allowUnsandboxedCommands: false で --disable-sandbox フラグを無効化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0" y="3429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34290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絶対やってはいけない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allowWriteに~/ を入れない。許可ドメインを漠然と広くしない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94360" y="414223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設定したのに効かない時の診断フロー（3ステップ）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3708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ja-JP" sz="900" dirty="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① /sandbox コマンドでモードと設定を確認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ja-JP" sz="900" dirty="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 → ② Claude Codeを再起動（設定変更は再起動で反映されることが多い）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ja-JP" sz="900" dirty="0">
                <a:solidFill>
                  <a:srgbClr val="2D3748"/>
                </a:solidFill>
                <a:latin typeface="Meiryo"/>
                <a:ea typeface="Meiryo"/>
                <a:cs typeface="Meiryo"/>
              </a:rPr>
              <a:t> → ③ 設定ファイルの優先順位を確認（Managed &gt; CLI &gt; Local &gt; Project &gt; User、左ほど強い）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907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「Claude Codeのsandboxを正しく理解する」YouTube動画 + Claude Code公式ドキュメント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25253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5C6EB5-D8F0-EA40-A81E-22C5A5B7EB8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8a0d3b6-460c-40dd-9ae8-7b0e26b1e1f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2079</Words>
  <Application>Microsoft Macintosh PowerPoint</Application>
  <PresentationFormat>画面に合わせる (16:9)</PresentationFormat>
  <Paragraphs>285</Paragraphs>
  <Slides>15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Meiryo</vt:lpstr>
      <vt:lpstr>Arial</vt:lpstr>
      <vt:lpstr>Arial Black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勉強会 第1回 セキュリティ</dc:title>
  <dc:subject>PptxGenJS Presentation</dc:subject>
  <dc:creator>Koji</dc:creator>
  <cp:lastModifiedBy>晃司 土田</cp:lastModifiedBy>
  <cp:revision>6</cp:revision>
  <dcterms:created xsi:type="dcterms:W3CDTF">2026-04-16T13:35:12Z</dcterms:created>
  <dcterms:modified xsi:type="dcterms:W3CDTF">2026-05-06T22:16:22Z</dcterms:modified>
</cp:coreProperties>
</file>