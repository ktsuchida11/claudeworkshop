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43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200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6100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</a:t>
            </a:r>
            <a:r>
              <a:rPr lang="en-US" sz="1100" b="1" kern="0" spc="400" dirty="0" err="1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勉強会</a:t>
            </a:r>
            <a:r>
              <a:rPr lang="en-US" sz="1100" b="1" kern="0" spc="40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/  全10回シリーズ</a:t>
            </a:r>
            <a:endParaRPr lang="en-US" sz="110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1 回</a:t>
            </a:r>
            <a:endParaRPr lang="en-US" sz="220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セキュリティ</a:t>
            </a:r>
            <a:endParaRPr lang="en-US" sz="640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生産性・コスト・品質を手に入れるために</a:t>
            </a:r>
            <a:endParaRPr lang="en-US" sz="220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AIセキュリティの3原則「分ける・防ぐ・残す」の全体像</a:t>
            </a:r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kern="0" spc="20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40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94421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土田</a:t>
            </a:r>
            <a:r>
              <a:rPr lang="ja-JP" altLang="en-US" sz="1100">
                <a:solidFill>
                  <a:schemeClr val="bg1"/>
                </a:solidFill>
              </a:rPr>
              <a:t>　晃司</a:t>
            </a:r>
            <a:endParaRPr lang="en-US" altLang="ja-JP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なぜ「セキュリティの話」から始めるのか</a:t>
            </a:r>
            <a:endParaRPr lang="en-US" sz="28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459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377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使うリスク &lt; 使わないリスク</a:t>
            </a:r>
            <a:endParaRPr lang="en-US" sz="150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競合は既にClaude Codeで開発速度を上げている。使わない選択が、生産性・コスト・品質の面で遅れを生む。</a:t>
            </a:r>
            <a:endParaRPr lang="en-US" sz="1100"/>
          </a:p>
        </p:txBody>
      </p:sp>
      <p:sp>
        <p:nvSpPr>
          <p:cNvPr id="9" name="Shape 6"/>
          <p:cNvSpPr/>
          <p:nvPr/>
        </p:nvSpPr>
        <p:spPr>
          <a:xfrm>
            <a:off x="3291840" y="132588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7"/>
          <p:cNvSpPr/>
          <p:nvPr/>
        </p:nvSpPr>
        <p:spPr>
          <a:xfrm>
            <a:off x="3291840" y="13258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645920"/>
            <a:ext cx="594360" cy="594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377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ただし無防備はダメ</a:t>
            </a:r>
            <a:endParaRPr lang="en-US" sz="1500"/>
          </a:p>
        </p:txBody>
      </p:sp>
      <p:sp>
        <p:nvSpPr>
          <p:cNvPr id="13" name="Text 9"/>
          <p:cNvSpPr/>
          <p:nvPr/>
        </p:nvSpPr>
        <p:spPr>
          <a:xfrm>
            <a:off x="356616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は自律的に動けるが、やってはいけないことを理解しているわけではない。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132588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1"/>
          <p:cNvSpPr/>
          <p:nvPr/>
        </p:nvSpPr>
        <p:spPr>
          <a:xfrm>
            <a:off x="6126480" y="13258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645920"/>
            <a:ext cx="594360" cy="594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00800" y="2377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知っていれば回避できる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リスクの大半は「型」を押さえれば防げる。今日はその型をシリーズ全10回の背骨として渡す。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</a:t>
            </a:r>
            <a:r>
              <a:rPr lang="en-US" sz="2600" b="1" dirty="0" err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Codeで起こりうる脅威</a:t>
            </a: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― 3つのカテゴリ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9748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入口リスク</a:t>
            </a:r>
            <a:endParaRPr lang="en-US" sz="180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汚染されたものが入ってくる</a:t>
            </a:r>
            <a:endParaRPr lang="en-US" sz="1100"/>
          </a:p>
        </p:txBody>
      </p:sp>
      <p:sp>
        <p:nvSpPr>
          <p:cNvPr id="9" name="Shape 6"/>
          <p:cNvSpPr/>
          <p:nvPr/>
        </p:nvSpPr>
        <p:spPr>
          <a:xfrm>
            <a:off x="731520" y="26974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731520" y="28346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サプライチェーン攻撃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信頼性の低いライブラリ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悪意あるスキル / プラグイン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3291840" y="128016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9"/>
          <p:cNvSpPr/>
          <p:nvPr/>
        </p:nvSpPr>
        <p:spPr>
          <a:xfrm>
            <a:off x="3291840" y="1280160"/>
            <a:ext cx="269748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60020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出口リスク</a:t>
            </a:r>
            <a:endParaRPr lang="en-US" sz="1800"/>
          </a:p>
        </p:txBody>
      </p:sp>
      <p:sp>
        <p:nvSpPr>
          <p:cNvPr id="15" name="Text 11"/>
          <p:cNvSpPr/>
          <p:nvPr/>
        </p:nvSpPr>
        <p:spPr>
          <a:xfrm>
            <a:off x="356616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意図しない操作をしてしまう</a:t>
            </a:r>
            <a:endParaRPr lang="en-US" sz="1100"/>
          </a:p>
        </p:txBody>
      </p:sp>
      <p:sp>
        <p:nvSpPr>
          <p:cNvPr id="16" name="Shape 12"/>
          <p:cNvSpPr/>
          <p:nvPr/>
        </p:nvSpPr>
        <p:spPr>
          <a:xfrm>
            <a:off x="3566160" y="26974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3"/>
          <p:cNvSpPr/>
          <p:nvPr/>
        </p:nvSpPr>
        <p:spPr>
          <a:xfrm>
            <a:off x="3566160" y="28346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ファイル削除 (rm -rf)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Web経由で外部送信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APIキー・認証情報の漏洩</a:t>
            </a:r>
            <a:endParaRPr lang="en-US" sz="1200"/>
          </a:p>
        </p:txBody>
      </p:sp>
      <p:sp>
        <p:nvSpPr>
          <p:cNvPr id="18" name="Shape 14"/>
          <p:cNvSpPr/>
          <p:nvPr/>
        </p:nvSpPr>
        <p:spPr>
          <a:xfrm>
            <a:off x="6126480" y="128016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5"/>
          <p:cNvSpPr/>
          <p:nvPr/>
        </p:nvSpPr>
        <p:spPr>
          <a:xfrm>
            <a:off x="6126480" y="1280160"/>
            <a:ext cx="269748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00200"/>
            <a:ext cx="548640" cy="5486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04088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境界リスク</a:t>
            </a:r>
            <a:endParaRPr lang="en-US" sz="1800"/>
          </a:p>
        </p:txBody>
      </p:sp>
      <p:sp>
        <p:nvSpPr>
          <p:cNvPr id="22" name="Text 17"/>
          <p:cNvSpPr/>
          <p:nvPr/>
        </p:nvSpPr>
        <p:spPr>
          <a:xfrm>
            <a:off x="640080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自分の外に被害が拡がる</a:t>
            </a:r>
            <a:endParaRPr lang="en-US" sz="1100"/>
          </a:p>
        </p:txBody>
      </p:sp>
      <p:sp>
        <p:nvSpPr>
          <p:cNvPr id="23" name="Shape 18"/>
          <p:cNvSpPr/>
          <p:nvPr/>
        </p:nvSpPr>
        <p:spPr>
          <a:xfrm>
            <a:off x="6400800" y="26974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6400800" y="28346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踏み台化（社内他端末へ）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クラウドIAMの暴走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課金爆発・他サービス侵害</a:t>
            </a:r>
            <a:endParaRPr lang="en-US" sz="1200"/>
          </a:p>
        </p:txBody>
      </p:sp>
      <p:sp>
        <p:nvSpPr>
          <p:cNvPr id="25" name="Shape 20"/>
          <p:cNvSpPr/>
          <p:nvPr/>
        </p:nvSpPr>
        <p:spPr>
          <a:xfrm>
            <a:off x="457200" y="4480560"/>
            <a:ext cx="822960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1"/>
          <p:cNvSpPr/>
          <p:nvPr/>
        </p:nvSpPr>
        <p:spPr>
          <a:xfrm>
            <a:off x="594360" y="4480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この3カテゴリは、第3回「基本ガード」の </a:t>
            </a:r>
            <a:r>
              <a:rPr lang="en-US" sz="1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/ Permission / Hooks </a:t>
            </a: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の3点セットに対応します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AIセキュリティの3原則 ― 分ける・防ぐ・残す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このシリーズ全10回を貫く「背骨」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96596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520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423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分ける</a:t>
            </a:r>
            <a:endParaRPr lang="en-US" sz="3600"/>
          </a:p>
        </p:txBody>
      </p:sp>
      <p:sp>
        <p:nvSpPr>
          <p:cNvPr id="9" name="Text 6"/>
          <p:cNvSpPr/>
          <p:nvPr/>
        </p:nvSpPr>
        <p:spPr>
          <a:xfrm>
            <a:off x="731520" y="3108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動作環境・アカウント・権限を、メイン環境から分離する。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233172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731520" y="3520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第2回で深掘り </a:t>
            </a:r>
            <a:r>
              <a:rPr lang="en-US" sz="11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環境</a:t>
            </a:r>
            <a:endParaRPr lang="en-US" sz="1000"/>
          </a:p>
        </p:txBody>
      </p:sp>
      <p:sp>
        <p:nvSpPr>
          <p:cNvPr id="12" name="Shape 9"/>
          <p:cNvSpPr/>
          <p:nvPr/>
        </p:nvSpPr>
        <p:spPr>
          <a:xfrm>
            <a:off x="3291840" y="1417320"/>
            <a:ext cx="2697480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0"/>
          <p:cNvSpPr/>
          <p:nvPr/>
        </p:nvSpPr>
        <p:spPr>
          <a:xfrm>
            <a:off x="480060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52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73736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66160" y="2423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防ぐ</a:t>
            </a:r>
            <a:endParaRPr lang="en-US" sz="3600"/>
          </a:p>
        </p:txBody>
      </p:sp>
      <p:sp>
        <p:nvSpPr>
          <p:cNvPr id="16" name="Text 12"/>
          <p:cNvSpPr/>
          <p:nvPr/>
        </p:nvSpPr>
        <p:spPr>
          <a:xfrm>
            <a:off x="3566160" y="3108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悪意あるものを入れない、意図しない操作を止める。</a:t>
            </a:r>
            <a:endParaRPr lang="en-US" sz="1100"/>
          </a:p>
        </p:txBody>
      </p:sp>
      <p:sp>
        <p:nvSpPr>
          <p:cNvPr id="17" name="Shape 13"/>
          <p:cNvSpPr/>
          <p:nvPr/>
        </p:nvSpPr>
        <p:spPr>
          <a:xfrm>
            <a:off x="3474720" y="3520440"/>
            <a:ext cx="233172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4"/>
          <p:cNvSpPr/>
          <p:nvPr/>
        </p:nvSpPr>
        <p:spPr>
          <a:xfrm>
            <a:off x="3566160" y="3520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第3回で深掘り </a:t>
            </a:r>
            <a:r>
              <a:rPr lang="en-US" sz="11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基本ガード</a:t>
            </a:r>
            <a:endParaRPr lang="en-US" sz="1000"/>
          </a:p>
        </p:txBody>
      </p:sp>
      <p:sp>
        <p:nvSpPr>
          <p:cNvPr id="19" name="Shape 15"/>
          <p:cNvSpPr/>
          <p:nvPr/>
        </p:nvSpPr>
        <p:spPr>
          <a:xfrm>
            <a:off x="6126480" y="1417320"/>
            <a:ext cx="2697480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6"/>
          <p:cNvSpPr/>
          <p:nvPr/>
        </p:nvSpPr>
        <p:spPr>
          <a:xfrm>
            <a:off x="763524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52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737360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2423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残す</a:t>
            </a:r>
            <a:endParaRPr lang="en-US" sz="3600"/>
          </a:p>
        </p:txBody>
      </p:sp>
      <p:sp>
        <p:nvSpPr>
          <p:cNvPr id="23" name="Text 18"/>
          <p:cNvSpPr/>
          <p:nvPr/>
        </p:nvSpPr>
        <p:spPr>
          <a:xfrm>
            <a:off x="6400800" y="3108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エージェントの行動ログを記録し、監査・評価できる状態にする。</a:t>
            </a:r>
            <a:endParaRPr lang="en-US" sz="1100"/>
          </a:p>
        </p:txBody>
      </p:sp>
      <p:sp>
        <p:nvSpPr>
          <p:cNvPr id="24" name="Shape 19"/>
          <p:cNvSpPr/>
          <p:nvPr/>
        </p:nvSpPr>
        <p:spPr>
          <a:xfrm>
            <a:off x="6309360" y="3520440"/>
            <a:ext cx="233172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0"/>
          <p:cNvSpPr/>
          <p:nvPr/>
        </p:nvSpPr>
        <p:spPr>
          <a:xfrm>
            <a:off x="6400800" y="3520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第6回で深掘り </a:t>
            </a:r>
            <a:r>
              <a:rPr lang="en-US" sz="11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ログ / トレース</a:t>
            </a:r>
            <a:endParaRPr lang="en-US" sz="1000"/>
          </a:p>
        </p:txBody>
      </p:sp>
      <p:sp>
        <p:nvSpPr>
          <p:cNvPr id="26" name="Text 21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 GMOフラットセキュリティ CTO 米氏 対談より ／ ※3原則の概念は米氏対談、順序は本シリーズの構成上の都合で入れ替え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入口リスク ― 汚染されたものを入れない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信頼できないものをエージェントの実行環境に入れてしまうリスク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737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サプライチェーン</a:t>
            </a:r>
            <a:endParaRPr lang="en-US" sz="1500"/>
          </a:p>
        </p:txBody>
      </p:sp>
      <p:sp>
        <p:nvSpPr>
          <p:cNvPr id="9" name="Text 6"/>
          <p:cNvSpPr/>
          <p:nvPr/>
        </p:nvSpPr>
        <p:spPr>
          <a:xfrm>
            <a:off x="731520" y="23774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1日100〜200件</a:t>
            </a:r>
            <a:endParaRPr lang="en-US" sz="170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npm/pipの汚染パッケージ公開</a:t>
            </a:r>
            <a:endParaRPr lang="en-US" sz="1000"/>
          </a:p>
        </p:txBody>
      </p:sp>
      <p:sp>
        <p:nvSpPr>
          <p:cNvPr id="11" name="Shape 8"/>
          <p:cNvSpPr/>
          <p:nvPr/>
        </p:nvSpPr>
        <p:spPr>
          <a:xfrm>
            <a:off x="731520" y="31546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731520" y="324612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installしたら最後：ブラウザのログイン情報・APIキー・SSH鍵が丸ごと抜かれる。</a:t>
            </a:r>
            <a:endParaRPr lang="en-US" sz="1050"/>
          </a:p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2段階認証も、エージェントがブラウザ自動操作できれば突破される。</a:t>
            </a:r>
            <a:endParaRPr lang="en-US" sz="1050"/>
          </a:p>
        </p:txBody>
      </p:sp>
      <p:sp>
        <p:nvSpPr>
          <p:cNvPr id="13" name="Shape 10"/>
          <p:cNvSpPr/>
          <p:nvPr/>
        </p:nvSpPr>
        <p:spPr>
          <a:xfrm>
            <a:off x="329184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1"/>
          <p:cNvSpPr/>
          <p:nvPr/>
        </p:nvSpPr>
        <p:spPr>
          <a:xfrm>
            <a:off x="329184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78308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23360" y="1737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低信頼ライブラリ</a:t>
            </a:r>
            <a:endParaRPr lang="en-US" sz="1500"/>
          </a:p>
        </p:txBody>
      </p:sp>
      <p:sp>
        <p:nvSpPr>
          <p:cNvPr id="17" name="Text 13"/>
          <p:cNvSpPr/>
          <p:nvPr/>
        </p:nvSpPr>
        <p:spPr>
          <a:xfrm>
            <a:off x="3566160" y="23774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★数・ランキング</a:t>
            </a:r>
            <a:endParaRPr lang="en-US" sz="1700"/>
          </a:p>
        </p:txBody>
      </p:sp>
      <p:sp>
        <p:nvSpPr>
          <p:cNvPr id="18" name="Text 14"/>
          <p:cNvSpPr/>
          <p:nvPr/>
        </p:nvSpPr>
        <p:spPr>
          <a:xfrm>
            <a:off x="356616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は操作可能</a:t>
            </a:r>
            <a:endParaRPr lang="en-US" sz="1000"/>
          </a:p>
        </p:txBody>
      </p:sp>
      <p:sp>
        <p:nvSpPr>
          <p:cNvPr id="19" name="Shape 15"/>
          <p:cNvSpPr/>
          <p:nvPr/>
        </p:nvSpPr>
        <p:spPr>
          <a:xfrm>
            <a:off x="3566160" y="31546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6"/>
          <p:cNvSpPr/>
          <p:nvPr/>
        </p:nvSpPr>
        <p:spPr>
          <a:xfrm>
            <a:off x="3566160" y="324612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人気指標は操作できる。Claude Codeに「良さそうなライブラリ入れて」と頼むと、汚染版を掴むリスクがある。</a:t>
            </a:r>
            <a:endParaRPr lang="en-US" sz="1050"/>
          </a:p>
        </p:txBody>
      </p:sp>
      <p:sp>
        <p:nvSpPr>
          <p:cNvPr id="21" name="Shape 17"/>
          <p:cNvSpPr/>
          <p:nvPr/>
        </p:nvSpPr>
        <p:spPr>
          <a:xfrm>
            <a:off x="612648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18"/>
          <p:cNvSpPr/>
          <p:nvPr/>
        </p:nvSpPr>
        <p:spPr>
          <a:xfrm>
            <a:off x="612648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78308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58000" y="1737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悪意あるスキル</a:t>
            </a:r>
            <a:endParaRPr lang="en-US" sz="1500"/>
          </a:p>
        </p:txBody>
      </p:sp>
      <p:sp>
        <p:nvSpPr>
          <p:cNvPr id="25" name="Text 20"/>
          <p:cNvSpPr/>
          <p:nvPr/>
        </p:nvSpPr>
        <p:spPr>
          <a:xfrm>
            <a:off x="6400800" y="23774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プロンプト注入</a:t>
            </a:r>
            <a:endParaRPr lang="en-US" sz="1700"/>
          </a:p>
        </p:txBody>
      </p:sp>
      <p:sp>
        <p:nvSpPr>
          <p:cNvPr id="26" name="Text 21"/>
          <p:cNvSpPr/>
          <p:nvPr/>
        </p:nvSpPr>
        <p:spPr>
          <a:xfrm>
            <a:off x="640080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を仕込まれたスキル</a:t>
            </a:r>
            <a:endParaRPr lang="en-US" sz="1000"/>
          </a:p>
        </p:txBody>
      </p:sp>
      <p:sp>
        <p:nvSpPr>
          <p:cNvPr id="27" name="Shape 22"/>
          <p:cNvSpPr/>
          <p:nvPr/>
        </p:nvSpPr>
        <p:spPr>
          <a:xfrm>
            <a:off x="6400800" y="31546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3"/>
          <p:cNvSpPr/>
          <p:nvPr/>
        </p:nvSpPr>
        <p:spPr>
          <a:xfrm>
            <a:off x="6400800" y="324612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Skillマーケットやプラグイン配布でも同じ構図。悪意ある指示を仕込まれたスキルが、エージェントを操って攻撃を手伝わせる。</a:t>
            </a:r>
            <a:endParaRPr lang="en-US" sz="1050"/>
          </a:p>
        </p:txBody>
      </p:sp>
      <p:sp>
        <p:nvSpPr>
          <p:cNvPr id="29" name="Shape 2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5"/>
          <p:cNvSpPr/>
          <p:nvPr/>
        </p:nvSpPr>
        <p:spPr>
          <a:xfrm>
            <a:off x="594360" y="44805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▸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第3回の Deny ルール / パッケージ </a:t>
            </a: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minimumReleaseAge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でクールダウン</a:t>
            </a:r>
            <a:endParaRPr lang="en-US" sz="1100"/>
          </a:p>
        </p:txBody>
      </p:sp>
      <p:sp>
        <p:nvSpPr>
          <p:cNvPr id="31" name="Text 2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出口リスク ― 意図しない操作をさせない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エージェントが内側から外に向けて予期せぬ操作をしてしまうリスク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ファイル削除・破壊</a:t>
            </a:r>
            <a:endParaRPr lang="en-US" sz="1500"/>
          </a:p>
        </p:txBody>
      </p:sp>
      <p:sp>
        <p:nvSpPr>
          <p:cNvPr id="9" name="Shape 6"/>
          <p:cNvSpPr/>
          <p:nvPr/>
        </p:nvSpPr>
        <p:spPr>
          <a:xfrm>
            <a:off x="731520" y="29260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731520" y="3017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エージェントが rm -rf を実行しても、非エンジニアには意味が分からない。Google Drive / SaaS に権限を渡すと、ファイルを勝手に書き換えるリスク。</a:t>
            </a:r>
            <a:endParaRPr lang="en-US" sz="1100"/>
          </a:p>
        </p:txBody>
      </p:sp>
      <p:sp>
        <p:nvSpPr>
          <p:cNvPr id="11" name="Shape 8"/>
          <p:cNvSpPr/>
          <p:nvPr/>
        </p:nvSpPr>
        <p:spPr>
          <a:xfrm>
            <a:off x="329184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9"/>
          <p:cNvSpPr/>
          <p:nvPr/>
        </p:nvSpPr>
        <p:spPr>
          <a:xfrm>
            <a:off x="329184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Web経由の情報流出</a:t>
            </a:r>
            <a:endParaRPr lang="en-US" sz="1500"/>
          </a:p>
        </p:txBody>
      </p:sp>
      <p:sp>
        <p:nvSpPr>
          <p:cNvPr id="15" name="Shape 11"/>
          <p:cNvSpPr/>
          <p:nvPr/>
        </p:nvSpPr>
        <p:spPr>
          <a:xfrm>
            <a:off x="3566160" y="29260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/>
          <p:nvPr/>
        </p:nvSpPr>
        <p:spPr>
          <a:xfrm>
            <a:off x="3566160" y="3017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Web検索・Fetch を通じて、社内情報を外部送信してしまうケース。許可ドメイン制がないと、機密情報がどこへ流れるか追跡不能になる。</a:t>
            </a:r>
            <a:endParaRPr lang="en-US" sz="1100"/>
          </a:p>
        </p:txBody>
      </p:sp>
      <p:sp>
        <p:nvSpPr>
          <p:cNvPr id="17" name="Shape 13"/>
          <p:cNvSpPr/>
          <p:nvPr/>
        </p:nvSpPr>
        <p:spPr>
          <a:xfrm>
            <a:off x="612648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4"/>
          <p:cNvSpPr/>
          <p:nvPr/>
        </p:nvSpPr>
        <p:spPr>
          <a:xfrm>
            <a:off x="612648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783080"/>
            <a:ext cx="594360" cy="5943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008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APIキー・認証情報の漏洩</a:t>
            </a:r>
            <a:endParaRPr lang="en-US" sz="1500"/>
          </a:p>
        </p:txBody>
      </p:sp>
      <p:sp>
        <p:nvSpPr>
          <p:cNvPr id="21" name="Shape 16"/>
          <p:cNvSpPr/>
          <p:nvPr/>
        </p:nvSpPr>
        <p:spPr>
          <a:xfrm>
            <a:off x="6400800" y="29260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6400800" y="3017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.env / credentials ファイルをエージェントが読む → プロンプト経由で流出。dotenvx + SOPS による .env 暗号化が基本線。</a:t>
            </a:r>
            <a:endParaRPr lang="en-US" sz="1100"/>
          </a:p>
        </p:txBody>
      </p:sp>
      <p:sp>
        <p:nvSpPr>
          <p:cNvPr id="23" name="Shape 18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594360" y="44805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▸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第3回の </a:t>
            </a: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ルール / 許可ドメインリスト / PreToolUse Hook</a:t>
            </a:r>
            <a:endParaRPr lang="en-US" sz="1100"/>
          </a:p>
        </p:txBody>
      </p:sp>
      <p:sp>
        <p:nvSpPr>
          <p:cNvPr id="25" name="Text 2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境界リスク ― 自分の外に被害が拡がる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侵害や操作が自分の環境を超えて、他者や他サービスに波及するリスク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1417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91440" cy="1417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645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踏み台（ラテラルムーブメント）</a:t>
            </a:r>
            <a:endParaRPr lang="en-US" sz="1700"/>
          </a:p>
        </p:txBody>
      </p:sp>
      <p:sp>
        <p:nvSpPr>
          <p:cNvPr id="9" name="Text 6"/>
          <p:cNvSpPr/>
          <p:nvPr/>
        </p:nvSpPr>
        <p:spPr>
          <a:xfrm>
            <a:off x="169164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自分のPCが侵害される → そこを起点に社内ネットワーク・自宅ネットワークの他機器へ攻撃が拡がる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知らないうちに、自分のPCが他者への犯罪の踏み台になる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一度踏み台になると、法的責任を問われる可能性もある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457200" y="3063240"/>
            <a:ext cx="8229600" cy="1417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8"/>
          <p:cNvSpPr/>
          <p:nvPr/>
        </p:nvSpPr>
        <p:spPr>
          <a:xfrm>
            <a:off x="457200" y="3063240"/>
            <a:ext cx="91440" cy="1417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2004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クラウドIAMの暴走</a:t>
            </a:r>
            <a:endParaRPr lang="en-US" sz="1700"/>
          </a:p>
        </p:txBody>
      </p:sp>
      <p:sp>
        <p:nvSpPr>
          <p:cNvPr id="14" name="Text 10"/>
          <p:cNvSpPr/>
          <p:nvPr/>
        </p:nvSpPr>
        <p:spPr>
          <a:xfrm>
            <a:off x="1691640" y="361188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クラウド上のサーバーには想定外のIAMロールがついていることがある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エージェントがそこで動くと、AWS/GCPの他リソースに勝手にアクセス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課金爆発・他サービス侵害・データ流出につながる</a:t>
            </a:r>
            <a:endParaRPr lang="en-US" sz="1100"/>
          </a:p>
        </p:txBody>
      </p:sp>
      <p:sp>
        <p:nvSpPr>
          <p:cNvPr id="15" name="Shape 11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/>
          <p:nvPr/>
        </p:nvSpPr>
        <p:spPr>
          <a:xfrm>
            <a:off x="594360" y="44805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▸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第2回「分ける」でエージェント専用アカウント + 最小権限 / 第6回「残す」で行動ログ</a:t>
            </a:r>
            <a:endParaRPr lang="en-US" sz="1100"/>
          </a:p>
        </p:txBody>
      </p:sp>
      <p:sp>
        <p:nvSpPr>
          <p:cNvPr id="17" name="Text 13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80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sz="16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防ぐ」の最小単位</a:t>
            </a: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― Deny </a:t>
            </a:r>
            <a:r>
              <a:rPr lang="en-US" sz="16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ルールと</a:t>
            </a: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6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PreToolUse</a:t>
            </a: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Hook、2つの違いを見る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   </a:t>
            </a:r>
            <a:r>
              <a:rPr lang="en-US" sz="110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分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 ルールで防御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rm -rf / curl などを Deny ルールで禁止。実行を試み、ルールがブロックする様子を確認。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通ってしまう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502920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 </a:t>
            </a: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en-US" sz="1100" dirty="0" err="1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 で動的検査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PreToolUse Hook を設定し、同じコマンドを実行。Hook がツール呼び出し前に検査し exit code 2 でブロック。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決定的に止まる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</a:t>
            </a:r>
            <a:r>
              <a:rPr lang="en-US" sz="1100" i="1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助言的（CLAUDE.md</a:t>
            </a: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）」</a:t>
            </a:r>
            <a:r>
              <a:rPr lang="en-US" sz="1100" i="1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に記載しても防げないので「決定的（Hooks</a:t>
            </a: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）」</a:t>
            </a:r>
            <a:r>
              <a:rPr lang="en-US" sz="1100" i="1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で確実にブロックする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76499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実演の参考</a:t>
            </a: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― 設定サンプル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A ▸ </a:t>
            </a:r>
            <a:r>
              <a:rPr lang="en-US" sz="1300" b="1" dirty="0" err="1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settings.json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"deny": [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"Bash(rm -rf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"Bash(curl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"Bash(wget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"Read(.env*)",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"Read(**/credentials*)"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"allow": [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"Bash(git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"Bash(npm run *)"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/>
          </a:p>
        </p:txBody>
      </p:sp>
      <p:sp>
        <p:nvSpPr>
          <p:cNvPr id="8" name="Text 6"/>
          <p:cNvSpPr/>
          <p:nvPr/>
        </p:nvSpPr>
        <p:spPr>
          <a:xfrm>
            <a:off x="46634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B ▸ </a:t>
            </a:r>
            <a:r>
              <a:rPr lang="en-US" sz="1300" b="1" dirty="0" err="1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PreToolUse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Hook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484632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.claude/hooks/pretool-guard.sh</a:t>
            </a:r>
            <a:endParaRPr lang="en-US" sz="1000"/>
          </a:p>
          <a:p>
            <a:pPr marL="0" indent="0">
              <a:buNone/>
            </a:pP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input=$(cat)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cmd=$(echo "$input" | jq -r .command)</a:t>
            </a:r>
            <a:endParaRPr lang="en-US" sz="1000"/>
          </a:p>
          <a:p>
            <a:pPr marL="0" indent="0">
              <a:buNone/>
            </a:pP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echo "$cmd" | grep -qE \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-rf|curl |\.env"; then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"Blocked: $cmd" &gt;&amp;2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exit 2   # ← 決定的にブロック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</a:t>
            </a:r>
            <a:endParaRPr lang="en-US" sz="1000"/>
          </a:p>
          <a:p>
            <a:pPr marL="0" indent="0">
              <a:buNone/>
            </a:pP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0   # ← 許可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94360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 ▸ </a:t>
            </a: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 = Claude Codeが解釈 / Hook = OSレベルで強制。両方組み合わせるのが実務的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使わないリスク </a:t>
            </a:r>
            <a:r>
              <a:rPr lang="en-US" sz="22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＞ </a:t>
            </a:r>
            <a:r>
              <a:rPr lang="en-US" sz="2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使うリスク。</a:t>
            </a:r>
            <a:endParaRPr lang="en-US" sz="2200"/>
          </a:p>
          <a:p>
            <a:pPr marL="0" indent="0">
              <a:spcAft>
                <a:spcPts val="800"/>
              </a:spcAft>
              <a:buNone/>
            </a:pP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 </a:t>
            </a:r>
            <a:r>
              <a:rPr lang="en-US" sz="2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「分ける・防ぐ・残す」</a:t>
            </a: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の3原則を押さえた人だけが、</a:t>
            </a:r>
            <a:endParaRPr lang="en-US" sz="2200"/>
          </a:p>
          <a:p>
            <a:pPr marL="0" indent="0">
              <a:spcAft>
                <a:spcPts val="800"/>
              </a:spcAft>
              <a:buNone/>
            </a:pP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安全に</a:t>
            </a:r>
            <a:r>
              <a:rPr lang="en-US" sz="22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速く</a:t>
            </a: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走れる。</a:t>
            </a:r>
            <a:endParaRPr lang="en-US" sz="220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8229600" cy="13716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685800" y="3886200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960120" y="3840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3つの脅威カテゴリ（入口・出口・境界）を説明できる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960120" y="41330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3原則（分ける・防ぐ・残す）とそれぞれの深掘り回を対応付けられる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685800" y="4471416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960120" y="44256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Denyルールと</a:t>
            </a: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Hooks </a:t>
            </a:r>
            <a:r>
              <a:rPr lang="en-US" sz="12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の違い（助言的</a:t>
            </a: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vs </a:t>
            </a:r>
            <a:r>
              <a:rPr lang="en-US" sz="12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決定的）が分かる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第2回「環境」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2004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r>
              <a:rPr lang="en-US" sz="13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3原則の【分ける】の実践編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分離には4段階ある（プロセス / コンテナ / VM / 物理マシン）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/ VS Code拡張 / ローカル直接 の権限境界比較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エージェント専用アカウント・最小権限の考え方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r>
              <a:rPr lang="en-US" sz="130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vs ローカル ― 同じタスクでの挙動の違いを見る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5C6EB5-D8F0-EA40-A81E-22C5A5B7EB8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8a0d3b6-460c-40dd-9ae8-7b0e26b1e1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929</Words>
  <Application>Microsoft Macintosh PowerPoint</Application>
  <PresentationFormat>画面に合わせる (16:9)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Meiryo</vt:lpstr>
      <vt:lpstr>Arial</vt:lpstr>
      <vt:lpstr>Arial Black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第1回 セキュリティ</dc:title>
  <dc:subject>PptxGenJS Presentation</dc:subject>
  <dc:creator>Koji</dc:creator>
  <cp:lastModifiedBy>晃司 土田</cp:lastModifiedBy>
  <cp:revision>3</cp:revision>
  <dcterms:created xsi:type="dcterms:W3CDTF">2026-04-16T13:35:12Z</dcterms:created>
  <dcterms:modified xsi:type="dcterms:W3CDTF">2026-04-16T22:34:37Z</dcterms:modified>
</cp:coreProperties>
</file>