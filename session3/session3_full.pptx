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19"/>
    <p:sldId id="257" r:id="rId3"/>
    <p:sldId id="263" r:id="rId9"/>
    <p:sldId id="259" r:id="rId5"/>
    <p:sldId id="260" r:id="rId6"/>
    <p:sldId id="261" r:id="rId7"/>
    <p:sldId id="262" r:id="rId8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4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015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6858000" y="109728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勉強会  /  全10回シリーズ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3 回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基本ガード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457200" y="2880360"/>
            <a:ext cx="731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settings.json で「防ぐ」を実装する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今日のテーマ:  3原則の【02 防ぐ】の実践編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 ○ ○ ○ ○ ○ ○ 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cs typeface="Arial" pitchFamily="34" charset="-120"/>
              </a:rPr>
              <a:t>土田</a:t>
            </a:r>
            <a:r>
              <a:rPr lang="ja-JP" altLang="en-US" sz="1100">
                <a:solidFill>
                  <a:srgbClr val="CADCFC"/>
                </a:solidFill>
                <a:latin typeface="Arial" pitchFamily="34" charset="0"/>
                <a:cs typeface="Arial" pitchFamily="34" charset="-120"/>
              </a:rPr>
              <a:t>　晃司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4280000"/>
            <a:ext cx="82296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C800"/>
                </a:solidFill>
              </a:rPr>
              <a:t>★ 覚えて帰る一言: 「settings.json 1ファイルをコピーする」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1E2761"/>
                </a:solidFill>
              </a:rPr>
              <a:t>今日の用語ミニ辞典 ― 迷ったらここに戻る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今日のスライドで初めて出てくるカタカナ語を1行で説明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50000"/>
            <a:ext cx="82296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E2761"/>
                </a:solidFill>
              </a:rPr>
              <a:t>●  CLAUDE.md</a:t>
            </a:r>
            <a:r>
              <a:rPr sz="1400" b="0">
                <a:solidFill>
                  <a:srgbClr val="2D3748"/>
                </a:solidFill>
              </a:rPr>
              <a:t>　＝　エージェントへの「行動指針」を書いた地図（助言的）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Permission</a:t>
            </a:r>
            <a:r>
              <a:rPr sz="1400" b="0">
                <a:solidFill>
                  <a:srgbClr val="2D3748"/>
                </a:solidFill>
              </a:rPr>
              <a:t>　＝　ツール実行を許す/禁じるルール（Claude Codeが解釈）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Sandbox</a:t>
            </a:r>
            <a:r>
              <a:rPr sz="1400" b="0">
                <a:solidFill>
                  <a:srgbClr val="2D3748"/>
                </a:solidFill>
              </a:rPr>
              <a:t>　＝　OSレベルで強制する壁（決定的）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Hooks</a:t>
            </a:r>
            <a:r>
              <a:rPr sz="1400" b="0">
                <a:solidFill>
                  <a:srgbClr val="2D3748"/>
                </a:solidFill>
              </a:rPr>
              <a:t>　＝　ツール実行前後に呼ばれる関数（決定的・100%ブロック）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Bypass</a:t>
            </a:r>
            <a:r>
              <a:rPr sz="1400" b="0">
                <a:solidFill>
                  <a:srgbClr val="2D3748"/>
                </a:solidFill>
              </a:rPr>
              <a:t>　＝　全確認を飛ばすモード（事故源・基本は避ける）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64748B"/>
                </a:solidFill>
              </a:rPr>
              <a:t>★ 用語が分からなくなったらここへ戻ってください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前回までの地図と、今日の位置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前回の3原則を再掲。今日は【02 防ぐ】を深掘りする回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97480" cy="228600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5E9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分ける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246120" y="1508760"/>
            <a:ext cx="2788920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554480"/>
            <a:ext cx="269748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8288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74920" y="16459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151B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3566160" y="2423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防ぐ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3474720" y="3429000"/>
            <a:ext cx="233172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0" y="3429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今日はココを深掘り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1554480"/>
            <a:ext cx="2697480" cy="228600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8288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0100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5E9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6400800" y="23774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残す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" y="41148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🎯 今日のゴール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4つの防御レイヤーを理解し、統合 settings.json をプロジェクトにコピーして使えるようになる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● ○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指示の追従性 ― 4つの階段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確実性が必要なルールほど、上の階段で実装する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CLAUDE.md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助言的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640080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71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Permission Deny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が解釈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572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決定的（exit 2 で100%ブロック）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417320"/>
            <a:ext cx="3200400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Sandbox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OS/カーネルレベル強制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108960"/>
            <a:ext cx="3657600" cy="457200"/>
          </a:xfrm>
          <a:prstGeom prst="rect">
            <a:avLst/>
          </a:prstGeom>
          <a:solidFill>
            <a:srgbClr val="FDECEC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</a:t>
            </a:r>
            <a:r>
              <a:rPr lang="en-US" sz="1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Sandbox なしだと Bash はここを突破する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5720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コーディング規約 → CLAUDE.md / ツール使い方 → Skills（第4回）/ </a:t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 → Hooks + Sandbox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● ○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CLAUDE.md ― エージェントの「行動指針」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settings.json が壁なら、CLAUDE.md は地図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28600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読み込み階層（広い → 狭い）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~/.claude/CLAUDE.md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グローバル設定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プロジェクト/CLAUDE.md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プロジェクト共通（Git管理）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CLAUDE.local.md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個人設定（.gitignore対象）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.claude/rules/*.md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モジュラールール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読み込み階層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書くべきこと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14630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1508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ビルド・テストコマンド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npm test, make build 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011680"/>
            <a:ext cx="393192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37760" y="2057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コードスタイル規約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ESM, 命名規則, lint設定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393192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37760" y="2606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プロジェクト構造概要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8346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ディレクトリ構成, 依存関係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108960"/>
            <a:ext cx="3931920" cy="502920"/>
          </a:xfrm>
          <a:prstGeom prst="rect">
            <a:avLst/>
          </a:prstGeom>
          <a:solidFill>
            <a:srgbClr val="F8F9FC"/>
          </a:solidFill>
          <a:ln w="6350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937760" y="3154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ワークフロー規則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3832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テスト必須, コミット規約等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94360" y="4114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CLAUDE.md の運用上限は FAQ Q1-1 / 守らせ方の階層整理は FAQ Q1-3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● ○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Permission ― Allow / Deny で行動範囲を定義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のツール実行を許可/拒否するルール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28016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"permissions":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"allow":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"Bash(git *)", "Bash(npm run *)"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"deny":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"Bash(rm -rf *)", "Bash(curl *)", "Read(.env*)"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8229600" cy="1280160"/>
          </a:xfrm>
          <a:prstGeom prst="rect">
            <a:avLst/>
          </a:prstGeom>
          <a:solidFill>
            <a:srgbClr val="FDECEC"/>
          </a:solidFill>
          <a:ln w="190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880360"/>
            <a:ext cx="91440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926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Permission の Deny </a:t>
            </a:r>
            <a:r>
              <a:rPr lang="en-US" sz="1300" b="1" dirty="0" err="1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だけでは不十分な理由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/sandbox なしの場合：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・Deny は Claude の組み込みツール（Read/Edit）のみをブロック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・Bash コマンドは Deny を回避できる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（cat .env 等で読めてしまう）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・ファイルシステム制御（denyRead等）は Sandbox 有効時のみ動作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endParaRPr lang="en-US" sz="1200" b="1" dirty="0">
              <a:solidFill>
                <a:srgbClr val="1E2761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Permission と Sandbox は必ずセットで使う。片方だけでは穴がある。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45770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447901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優先順位とBypassモードの危険性は FAQ Q2-6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● ○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Sandbox ― OS レベルの壁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/sandbox で有効化。Permission だけでは防げない領域を補う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141732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"sandbox":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"enabled":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"filesystem":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"denyRead": ["~/"],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"allowRead": ["."],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"allowWrite": ["/tmp"]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ファイルシステム制御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3931920" cy="141732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60020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"sandbox":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"network":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"allowedDomains":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"github.com",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"registry.npmjs.org",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"api.anthropic.com"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34416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 allowlist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632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重要: </a:t>
            </a: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sandbox.filesystem の設定は </a:t>
            </a: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Sandbox 有効 (enabled: true) でなければ一切機能しない</a:t>
            </a: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。書いただけでは飾り。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57600"/>
            <a:ext cx="9144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Bypass モードに注意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Bypass は全確認をスキップし、Sandbox の制約も回避して実行するモード。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対策: "failIfUnavailable": true </a:t>
            </a: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Sandbox 起動不可時に Claude Code 自体が停止。エンタープライズ必須設定。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526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Sandbox なしの Deny = お願いレベル / </a:t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Sandbox ありの Deny = 法律レベル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● ○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 ― 100%実行保証のガードレール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は「助言」、Hooks は「法律」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234440" cy="59436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SessionStart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91640" y="1417320"/>
            <a:ext cx="137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1417320"/>
            <a:ext cx="1234440" cy="59436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4173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UserPrompt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Submit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417320"/>
            <a:ext cx="137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12344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173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PreToolUse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34840" y="1417320"/>
            <a:ext cx="137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1417320"/>
            <a:ext cx="12344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4173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PostToolUse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06440" y="1417320"/>
            <a:ext cx="137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1417320"/>
            <a:ext cx="1234440" cy="59436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4173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PreCompact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417320"/>
            <a:ext cx="137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0" y="1417320"/>
            <a:ext cx="1234440" cy="59436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4173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2697480" cy="196596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24028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settings.json の hooks セクション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exit code: 0=許可 / 2=ブロック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4種: command / http / prompt / agent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240280"/>
            <a:ext cx="2697480" cy="196596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24028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ユースケース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74720" y="27889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品質ゲート: eslint / prettier 自動実行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セキュリティ: rm -rf や main push をブロック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監査ログ: コマンド実行を外部記録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240280"/>
            <a:ext cx="2697480" cy="196596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224028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注意点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27889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 ハンドラは allowedHttpHookUrls で制限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重い検査は PostToolUse に回す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prompt ハンドラはタイムアウト30秒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389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Hooks は LLM の判断に依存しない。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exit 2 を返せばどんなコマンドも確実にブロック。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● ○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統合 settings.json ― これをコピーすれば始められる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Permission + Sandbox + Hooks + ネットワーク制御の完全版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217920" cy="347472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5943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"permissions":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"allow": ["Bash(git *)", "Bash(npm run *)", "Bash(npx jest *)"],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"deny": ["Bash(rm -rf *)", "Bash(curl *)", "Bash(wget *)",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"Read(.env*)", "Read(**/.credentials*)"]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"sandbox":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"enabled": true,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"failIfUnavailable": true,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"filesystem":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"denyRead": ["~/"], "allowRead": ["."],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"allowWrite": ["/tmp"]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"network":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"allowedDomains": ["github.com",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"registry.npmjs.org", "api.anthropic.com"]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"PreToolUse": [{"type":"command",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"command":".claude/hooks/pretool-guard.sh"}]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"enableAllProjectMcpServers": false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カラーコード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1828800"/>
            <a:ext cx="274320" cy="274320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Allow（許可）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2194560"/>
            <a:ext cx="27432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Deny（ブロック）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2560320"/>
            <a:ext cx="27432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Sandbox（OS壁）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2926080"/>
            <a:ext cx="27432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Hooks（決定的）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参考: Trail of Bits claude-code-config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617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🎯 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プロジェクトの </a:t>
            </a: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.claude/settings.json</a:t>
            </a: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に配置してチーム共有。これが「防ぐ」のベースライン。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 E M 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ここからは実演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統合 settings.json + /sandbox を全部入れた状態で Claude Code を動かす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606040"/>
            <a:ext cx="1965960" cy="192024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-rf 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3246120"/>
            <a:ext cx="1691640" cy="320040"/>
          </a:xfrm>
          <a:prstGeom prst="rect">
            <a:avLst/>
          </a:prstGeom>
          <a:solidFill>
            <a:srgbClr val="151B4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ダブルブロック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703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Permission Deny + Sandbox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606040"/>
            <a:ext cx="1965960" cy="192024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 読み込み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3246120"/>
            <a:ext cx="1691640" cy="320040"/>
          </a:xfrm>
          <a:prstGeom prst="rect">
            <a:avLst/>
          </a:prstGeom>
          <a:solidFill>
            <a:srgbClr val="151B4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OS レベルブロック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3703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denyRead でカーネル拒否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606040"/>
            <a:ext cx="1965960" cy="192024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許可外ドメイン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246120"/>
            <a:ext cx="1691640" cy="320040"/>
          </a:xfrm>
          <a:prstGeom prst="rect">
            <a:avLst/>
          </a:prstGeom>
          <a:solidFill>
            <a:srgbClr val="151B4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NW ブロック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703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allowedDomains 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2606040"/>
            <a:ext cx="1965960" cy="192024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3246120"/>
            <a:ext cx="1691640" cy="320040"/>
          </a:xfrm>
          <a:prstGeom prst="rect">
            <a:avLst/>
          </a:prstGeom>
          <a:solidFill>
            <a:srgbClr val="151B4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5D6A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▸ 通る 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3703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Allow で明示的に許可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何が通って何が止まるかを、全部入れた状態で確認する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 E Y   T A K E A W A 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今日のKey Takeaway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ja-JP" sz="2200" b="1">
                <a:solidFill>
                  <a:srgbClr val="FFC800"/>
                </a:solidFill>
                <a:latin typeface="+mj-lt"/>
              </a:rPr>
              <a:t>★ 「settings.json 1ファイルをコピーする」</a:t>
            </a:r>
          </a:p>
          <a:p>
            <a:endParaRPr lang="ja-JP" sz="800"/>
          </a:p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Permission</a:t>
            </a: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で境界、</a:t>
            </a: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Sandbox</a:t>
            </a: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 OS 壁、</a:t>
            </a: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Hooks</a:t>
            </a: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で強制、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 allowlist</a:t>
            </a: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で接続先限定。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settings.json 1ファイル</a:t>
            </a: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に全部書ける。これをコピーして始めよう。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今日持ち帰るチェック項目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164592" cy="164592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37947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Permission Deny だけでは Bash を止められないことを理解した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4087368"/>
            <a:ext cx="164592" cy="164592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405079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Sandbox + Permission のセット運用が必要と分かった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4343400"/>
            <a:ext cx="164592" cy="164592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430682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Bypass モードの危険性と failIfUnavailable による対策を理解した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599432"/>
            <a:ext cx="164592" cy="164592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60120" y="45628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統合 settings.json をプロジェクトにコピーする準備ができた</a:t>
            </a:r>
            <a:endParaRPr lang="en-US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4900000"/>
            <a:ext cx="82296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C800"/>
                </a:solidFill>
              </a:rPr>
              <a:t>3原則の現在地：  01 分ける ✅    02 防ぐ 🎯    03 残す 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 E X T   S E S S I O 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次回 ― 第4回「自動化・共有」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 ▸ </a:t>
            </a: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Skills / MCP / スラッシュコマンドで型を資産化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取り扱う内容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80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Skills ― 必要な時だけ読み込む知識・手順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319272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27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 ― 外部ツール連携（+ MCP→Skills変換でトークン節約）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666744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7530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スラッシュコマンド / Plugin ― チーム配布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2277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コンテキストエンジニアリング1 ― 圧縮・構造化ノート・サブエージェント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43400"/>
            <a:ext cx="9144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43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実演  </a:t>
            </a: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 Skill を1つデモ（MCP からの変換例）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 ● ○ ○ ○ ○ ○ 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1276</Words>
  <Application>Microsoft Macintosh PowerPoint</Application>
  <PresentationFormat>画面に合わせる (16:9)</PresentationFormat>
  <Paragraphs>247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Meiryo</vt:lpstr>
      <vt:lpstr>Arial</vt:lpstr>
      <vt:lpstr>Arial Black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勉強会 第3回 基本ガード</dc:title>
  <dc:subject>PptxGenJS Presentation</dc:subject>
  <dc:creator>Koji</dc:creator>
  <cp:lastModifiedBy>晃司 土田</cp:lastModifiedBy>
  <cp:revision>3</cp:revision>
  <dcterms:created xsi:type="dcterms:W3CDTF">2026-04-16T22:31:33Z</dcterms:created>
  <dcterms:modified xsi:type="dcterms:W3CDTF">2026-04-27T08:37:13Z</dcterms:modified>
</cp:coreProperties>
</file>