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5" d="100"/>
          <a:sy n="165" d="100"/>
        </p:scale>
        <p:origin x="56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0154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>
            <a:off x="6858000" y="1097280"/>
            <a:ext cx="1828800" cy="1828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勉強会  /  全10回シリーズ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9144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ADC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第 3 回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15544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基本ガード</a:t>
            </a:r>
            <a:endParaRPr lang="en-US" sz="6400" dirty="0"/>
          </a:p>
        </p:txBody>
      </p:sp>
      <p:sp>
        <p:nvSpPr>
          <p:cNvPr id="6" name="Shape 3"/>
          <p:cNvSpPr/>
          <p:nvPr/>
        </p:nvSpPr>
        <p:spPr>
          <a:xfrm>
            <a:off x="457200" y="2880360"/>
            <a:ext cx="731520" cy="54864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30632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settings.json で「防ぐ」を実装する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今日のテーマ:  3原則の【02 防ぐ】の実践編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kern="0" spc="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● ● ○ ○ ○ ○ ○ ○ ○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46634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cs typeface="Arial" pitchFamily="34" charset="-120"/>
              </a:rPr>
              <a:t>土田</a:t>
            </a:r>
            <a:r>
              <a:rPr lang="ja-JP" altLang="en-US" sz="1100">
                <a:solidFill>
                  <a:srgbClr val="CADCFC"/>
                </a:solidFill>
                <a:latin typeface="Arial" pitchFamily="34" charset="0"/>
                <a:cs typeface="Arial" pitchFamily="34" charset="-120"/>
              </a:rPr>
              <a:t>　晃司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前回までの地図と、今日の位置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前回の3原則を再掲。今日は【02 防ぐ】を深掘りする回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2697480" cy="228600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82880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331720" y="16459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400" b="1" dirty="0">
                <a:solidFill>
                  <a:srgbClr val="E5E9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731520" y="23774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474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分ける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3246120" y="1508760"/>
            <a:ext cx="2788920" cy="23774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291840" y="1554480"/>
            <a:ext cx="2697480" cy="2286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1828800"/>
            <a:ext cx="502920" cy="5029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074920" y="164592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151B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3566160" y="24231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防ぐ</a:t>
            </a:r>
            <a:endParaRPr lang="en-US" sz="3000" dirty="0"/>
          </a:p>
        </p:txBody>
      </p:sp>
      <p:sp>
        <p:nvSpPr>
          <p:cNvPr id="14" name="Shape 10"/>
          <p:cNvSpPr/>
          <p:nvPr/>
        </p:nvSpPr>
        <p:spPr>
          <a:xfrm>
            <a:off x="3474720" y="3429000"/>
            <a:ext cx="2331720" cy="2743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3474720" y="34290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▸ 今日はココを深掘り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126480" y="1554480"/>
            <a:ext cx="2697480" cy="228600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1828800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001000" y="16459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400" b="1" dirty="0">
                <a:solidFill>
                  <a:srgbClr val="E5E9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3400" dirty="0"/>
          </a:p>
        </p:txBody>
      </p:sp>
      <p:sp>
        <p:nvSpPr>
          <p:cNvPr id="19" name="Text 14"/>
          <p:cNvSpPr/>
          <p:nvPr/>
        </p:nvSpPr>
        <p:spPr>
          <a:xfrm>
            <a:off x="6400800" y="23774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474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残す</a:t>
            </a:r>
            <a:endParaRPr lang="en-US" sz="2400" dirty="0"/>
          </a:p>
        </p:txBody>
      </p:sp>
      <p:sp>
        <p:nvSpPr>
          <p:cNvPr id="20" name="Shape 15"/>
          <p:cNvSpPr/>
          <p:nvPr/>
        </p:nvSpPr>
        <p:spPr>
          <a:xfrm>
            <a:off x="457200" y="4114800"/>
            <a:ext cx="8229600" cy="68580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640080" y="41148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🎯 今日のゴール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4つの防御レイヤーを理解し、統合 settings.json をプロジェクトにコピーして使えるようになる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● ○ ○ ○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settings.json で「防ぐ」― 4つの防御レイヤー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Permission / Sandbox / Hooks / ネットワーク allowlist を1ファイルに統合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011680" cy="1463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087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Permission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Allow/Deny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で境界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377440"/>
            <a:ext cx="1737360" cy="41148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23774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が解釈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60320" y="1417320"/>
            <a:ext cx="2011680" cy="1463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0" y="15087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Sandbox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697480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ファイル+NW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分離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97480" y="2377440"/>
            <a:ext cx="1737360" cy="41148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97480" y="23774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OS レベル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強制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63440" y="1417320"/>
            <a:ext cx="2011680" cy="1463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15087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Hooks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00600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ライフサイクル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で強制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800600" y="2377440"/>
            <a:ext cx="1737360" cy="41148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00600" y="23774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決定的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(100%)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766560" y="1417320"/>
            <a:ext cx="2011680" cy="1463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0" y="15087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NW allowlist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903720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接続先を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限定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03720" y="2377440"/>
            <a:ext cx="1737360" cy="41148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03720" y="23774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OS レベル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強制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063240"/>
            <a:ext cx="274320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3063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脅威カテゴリ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200400" y="3063240"/>
            <a:ext cx="548640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00400" y="3063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対応レイヤー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3429000"/>
            <a:ext cx="2743200" cy="384048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4290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入口（汚染を入れない）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200400" y="3429000"/>
            <a:ext cx="5486400" cy="384048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91840" y="3429000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Permission Deny + Hooks PreToolUse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813048"/>
            <a:ext cx="27432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3813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出口（意図しない操作）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200400" y="3813048"/>
            <a:ext cx="54864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813048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Sandbox filesystem + Permission Deny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57200" y="4197096"/>
            <a:ext cx="2743200" cy="384048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8640" y="4197096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境界（外に拡がらない）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3200400" y="4197096"/>
            <a:ext cx="5486400" cy="384048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4197096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ネットワーク allowlist + Sandbox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" y="452628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</a:t>
            </a: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CLAUDE.md はこれらの「読み込み指針」。</a:t>
            </a: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settings.json が実際の「壁」。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● ○ ○ ○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CLAUDE.md ― エージェントの「行動指針」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settings.json が壁なら、CLAUDE.md は地図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3931920" cy="2286000"/>
          </a:xfrm>
          <a:prstGeom prst="rect">
            <a:avLst/>
          </a:prstGeom>
          <a:solidFill>
            <a:srgbClr val="0F1434"/>
          </a:solidFill>
          <a:ln w="12700">
            <a:solidFill>
              <a:srgbClr val="0F143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0020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F8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読み込み階層（広い → 狭い）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~/.claude/CLAUDE.md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F8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← グローバル設定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プロジェクト/CLAUDE.md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F8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← プロジェクト共通（Git管理）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CLAUDE.local.md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F8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← 個人設定（.gitignore対象）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.claude/rules/*.md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F8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← モジュラールール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読み込み階層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754880" y="118872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書くべきこと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463040"/>
            <a:ext cx="3931920" cy="50292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1463040"/>
            <a:ext cx="731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15087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ビルド・テストコマンド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37760" y="173736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npm test, make build 等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54880" y="2011680"/>
            <a:ext cx="3931920" cy="50292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54880" y="2011680"/>
            <a:ext cx="731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37760" y="205740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コードスタイル規約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28600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ESM, 命名規則, lint設定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54880" y="2560320"/>
            <a:ext cx="3931920" cy="50292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54880" y="2560320"/>
            <a:ext cx="731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37760" y="26060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プロジェクト構造概要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0" y="283464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ディレクトリ構成, 依存関係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3108960"/>
            <a:ext cx="3931920" cy="50292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54880" y="3108960"/>
            <a:ext cx="731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0" y="315468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ワークフロー規則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937760" y="338328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テスト必須, コミット規約等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" y="411480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</a:t>
            </a: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100〜200行を超えると遵守率が低下。</a:t>
            </a: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確実に守らせたいルールは settings.json に書く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● ○ ○ ○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Permission ― Allow / Deny で行動範囲を定義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のツール実行を許可/拒否するルール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280160"/>
          </a:xfrm>
          <a:prstGeom prst="rect">
            <a:avLst/>
          </a:prstGeom>
          <a:solidFill>
            <a:srgbClr val="0F1434"/>
          </a:solidFill>
          <a:ln w="12700">
            <a:solidFill>
              <a:srgbClr val="0F143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6304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"permissions":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"allow": [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"Bash(git *)", "Bash(npm run *)"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"deny": [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"Bash(rm -rf *)", "Bash(curl *)", "Read(.env*)"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880360"/>
            <a:ext cx="8229600" cy="1280160"/>
          </a:xfrm>
          <a:prstGeom prst="rect">
            <a:avLst/>
          </a:prstGeom>
          <a:solidFill>
            <a:srgbClr val="FDECEC"/>
          </a:solidFill>
          <a:ln w="19050">
            <a:solidFill>
              <a:srgbClr val="F9616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880360"/>
            <a:ext cx="91440" cy="128016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92608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3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⚠️ Permission の Deny </a:t>
            </a:r>
            <a:r>
              <a:rPr lang="en-US" sz="1300" b="1" dirty="0" err="1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だけでは不十分な理由</a:t>
            </a:r>
            <a:endParaRPr lang="en-US" sz="13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/sandbox なしの場合：</a:t>
            </a:r>
            <a:endParaRPr lang="en-US" sz="13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・Deny は Claude の組み込みツール（Read/Edit）のみをブロック</a:t>
            </a:r>
            <a:endParaRPr lang="en-US" sz="13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・Bash コマンドは Deny を回避できる</a:t>
            </a:r>
            <a:endParaRPr lang="en-US" sz="13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（cat .env 等で読めてしまう）</a:t>
            </a:r>
            <a:endParaRPr lang="en-US" sz="13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・ファイルシステム制御（denyRead等）は Sandbox 有効時のみ動作</a:t>
            </a:r>
            <a:endParaRPr lang="en-US" sz="1300" dirty="0"/>
          </a:p>
          <a:p>
            <a:pPr marL="0" indent="0">
              <a:spcAft>
                <a:spcPts val="100"/>
              </a:spcAft>
              <a:buNone/>
            </a:pPr>
            <a:endParaRPr lang="en-US" sz="1200" b="1" dirty="0">
              <a:solidFill>
                <a:srgbClr val="1E2761"/>
              </a:solidFill>
              <a:latin typeface="Meiryo" pitchFamily="34" charset="0"/>
              <a:ea typeface="Meiryo" pitchFamily="34" charset="-122"/>
              <a:cs typeface="Meiryo" pitchFamily="34" charset="-120"/>
            </a:endParaRPr>
          </a:p>
          <a:p>
            <a:pPr marL="0" indent="0">
              <a:spcAft>
                <a:spcPts val="100"/>
              </a:spcAft>
              <a:buNone/>
            </a:pPr>
            <a:r>
              <a:rPr lang="en-US" sz="1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Permission と Sandbox は必ずセットで使う。片方だけでは穴がある。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45770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447901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</a:t>
            </a: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優先順位: Enterprise &gt; Project &gt; User / Bypass でも Deny は有効（ただし Sandbox は無効化 → 次スライド）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● ○ ○ ○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Sandbox ― OS レベルの壁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/sandbox で有効化。Permission だけでは防げない領域を補う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3931920" cy="1417320"/>
          </a:xfrm>
          <a:prstGeom prst="rect">
            <a:avLst/>
          </a:prstGeom>
          <a:solidFill>
            <a:srgbClr val="0F1434"/>
          </a:solidFill>
          <a:ln w="12700">
            <a:solidFill>
              <a:srgbClr val="0F143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600200"/>
            <a:ext cx="3657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"sandbox":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"enabled": true,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"filesystem":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"denyRead": ["~/"],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"allowRead": ["."],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"allowWrite": ["/tmp"]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344168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ファイルシステム制御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508760"/>
            <a:ext cx="3931920" cy="1417320"/>
          </a:xfrm>
          <a:prstGeom prst="rect">
            <a:avLst/>
          </a:prstGeom>
          <a:solidFill>
            <a:srgbClr val="0F1434"/>
          </a:solidFill>
          <a:ln w="12700">
            <a:solidFill>
              <a:srgbClr val="0F143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600200"/>
            <a:ext cx="3657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"sandbox":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"network":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"allowedDomains": [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"github.com",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"registry.npmjs.org",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"api.anthropic.com"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754880" y="1344168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ネットワーク allowlist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063240"/>
            <a:ext cx="8229600" cy="457200"/>
          </a:xfrm>
          <a:prstGeom prst="rect">
            <a:avLst/>
          </a:prstGeom>
          <a:solidFill>
            <a:srgbClr val="FDECEC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306324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🔴 重要: </a:t>
            </a: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sandbox.filesystem の設定は </a:t>
            </a:r>
            <a:r>
              <a:rPr lang="en-US" sz="11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Sandbox 有効 (enabled: true) でなければ一切機能しない</a:t>
            </a: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。書いただけでは飾り。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solidFill>
            <a:srgbClr val="FDECEC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3657600"/>
            <a:ext cx="91440" cy="91440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7033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⚠️ Bypass モードに注意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Bypass は全確認をスキップし、Sandbox の制約も回避して実行するモード。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対策: "failIfUnavailable": true </a:t>
            </a: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Sandbox 起動不可時に Claude Code 自体が停止。エンタープライズ必須設定。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452628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</a:t>
            </a: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Sandbox なしの Deny = お願いレベル / </a:t>
            </a: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Sandbox ありの Deny = 法律レベル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● ○ ○ ○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Hooks ― 100%実行保証のガードレール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CLAUDE.md は「助言」、Hooks は「法律」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234440" cy="59436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41732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SessionStart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691640" y="1417320"/>
            <a:ext cx="137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828800" y="1417320"/>
            <a:ext cx="1234440" cy="59436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28800" y="141732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UserPrompt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Submit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63240" y="1417320"/>
            <a:ext cx="137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00400" y="1417320"/>
            <a:ext cx="123444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0" y="141732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PreToolUse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434840" y="1417320"/>
            <a:ext cx="137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0" y="1417320"/>
            <a:ext cx="123444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141732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PostToolUse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806440" y="1417320"/>
            <a:ext cx="137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943600" y="1417320"/>
            <a:ext cx="1234440" cy="59436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0" y="141732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PreCompact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178040" y="1417320"/>
            <a:ext cx="137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315200" y="1417320"/>
            <a:ext cx="1234440" cy="59436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0" y="141732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Stop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2240280"/>
            <a:ext cx="2697480" cy="196596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2240280"/>
            <a:ext cx="2697480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4231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仕組み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2788920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settings.json の hooks セクション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exit code: 0=許可 / 2=ブロック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4種: command / http / prompt / agent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91840" y="2240280"/>
            <a:ext cx="2697480" cy="196596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240280"/>
            <a:ext cx="2697480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74720" y="24231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ユースケース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474720" y="2788920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品質ゲート: eslint / prettier 自動実行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セキュリティ: rm -rf や main push をブロック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監査ログ: コマンド実行を外部記録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26480" y="2240280"/>
            <a:ext cx="2697480" cy="196596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26480" y="2240280"/>
            <a:ext cx="2697480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09360" y="24231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注意点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309360" y="2788920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 ハンドラは allowedHttpHookUrls で制限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重い検査は PostToolUse に回す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prompt ハンドラはタイムアウト30秒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" y="438912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</a:t>
            </a: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Hooks は LLM の判断に依存しない。</a:t>
            </a: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exit 2 を返せばどんなコマンドも確実にブロック。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● ○ ○ ○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指示の追従性 ― 4つの階段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確実性が必要なルールほど、上の階段で実装する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7490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600" b="1" dirty="0">
                <a:solidFill>
                  <a:srgbClr val="6474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CLAUDE.md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114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助言的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971800"/>
            <a:ext cx="6400800" cy="73152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9718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Permission Deny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333756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が解釈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457200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1945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Hooks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25603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決定的（exit 2 で100%ブロック）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1417320"/>
            <a:ext cx="3200400" cy="7315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14173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Sandbox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" y="17830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OS/カーネルレベル強制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0" y="3108960"/>
            <a:ext cx="3657600" cy="457200"/>
          </a:xfrm>
          <a:prstGeom prst="rect">
            <a:avLst/>
          </a:prstGeom>
          <a:solidFill>
            <a:srgbClr val="FDECEC"/>
          </a:solidFill>
          <a:ln w="9525">
            <a:solidFill>
              <a:srgbClr val="F9616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20640" y="31089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</a:t>
            </a:r>
            <a:r>
              <a:rPr lang="en-US" sz="10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Sandbox なしだと Bash はここを突破する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57200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</a:t>
            </a: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コーディング規約 → CLAUDE.md / ツール使い方 → Skills（第4回）/ </a:t>
            </a: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セキュリティ → Hooks + Sandbox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● ○ ○ ○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統合 settings.json ― これをコピーすれば始められる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Permission + Sandbox + Hooks + ネットワーク制御の完全版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6217920" cy="3474720"/>
          </a:xfrm>
          <a:prstGeom prst="rect">
            <a:avLst/>
          </a:prstGeom>
          <a:solidFill>
            <a:srgbClr val="0F1434"/>
          </a:solidFill>
          <a:ln w="12700">
            <a:solidFill>
              <a:srgbClr val="0F143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417320"/>
            <a:ext cx="5943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"permissions": {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"allow": ["Bash(git *)", "Bash(npm run *)", "Bash(npx jest *)"],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"deny": ["Bash(rm -rf *)", "Bash(curl *)", "Bash(wget *)",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"Read(.env*)", "Read(**/.credentials*)"]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"sandbox": {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"enabled": true,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"failIfUnavailable": true,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"filesystem": {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"denyRead": ["~/"], "allowRead": ["."],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"allowWrite": ["/tmp"]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"network": {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"allowedDomains": ["github.com",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"registry.npmjs.org", "api.anthropic.com"]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"hooks": {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"PreToolUse": [{"type":"command",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"command":".claude/hooks/pretool-guard.sh"}]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"enableAllProjectMcpServers": false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858000" y="1463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カラーコード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0" y="1828800"/>
            <a:ext cx="274320" cy="274320"/>
          </a:xfrm>
          <a:prstGeom prst="rect">
            <a:avLst/>
          </a:prstGeom>
          <a:solidFill>
            <a:srgbClr val="A5D6A7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0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Allow（許可）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0" y="2194560"/>
            <a:ext cx="274320" cy="2743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23760" y="21945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Deny（ブロック）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0" y="2560320"/>
            <a:ext cx="274320" cy="2743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0" y="25603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Sandbox（OS壁）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0" y="2926080"/>
            <a:ext cx="274320" cy="2743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23760" y="29260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Hooks（決定的）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858000" y="3474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参考: Trail of Bits claude-code-config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461772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🎯 </a:t>
            </a: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プロジェクトの </a:t>
            </a: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.claude/settings.json</a:t>
            </a: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に配置してチーム共有。これが「防ぐ」のベースライン。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800" dirty="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 E M O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ここからは実演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17830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統合 settings.json + /sandbox を全部入れた状態で Claude Code を動かす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606040"/>
            <a:ext cx="1965960" cy="192024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7432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 -rf /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" y="3246120"/>
            <a:ext cx="1691640" cy="320040"/>
          </a:xfrm>
          <a:prstGeom prst="rect">
            <a:avLst/>
          </a:prstGeom>
          <a:solidFill>
            <a:srgbClr val="151B4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32461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▸ ダブルブロック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37033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Permission Deny + Sandbox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60320" y="2606040"/>
            <a:ext cx="1965960" cy="192024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97480" y="27432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.env 読み込み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697480" y="3246120"/>
            <a:ext cx="1691640" cy="320040"/>
          </a:xfrm>
          <a:prstGeom prst="rect">
            <a:avLst/>
          </a:prstGeom>
          <a:solidFill>
            <a:srgbClr val="151B4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97480" y="32461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▸ OS レベルブロック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697480" y="37033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denyRead でカーネル拒否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63440" y="2606040"/>
            <a:ext cx="1965960" cy="192024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27432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許可外ドメイン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00600" y="3246120"/>
            <a:ext cx="1691640" cy="320040"/>
          </a:xfrm>
          <a:prstGeom prst="rect">
            <a:avLst/>
          </a:prstGeom>
          <a:solidFill>
            <a:srgbClr val="151B4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00600" y="32461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▸ NW ブロック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00600" y="37033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allowedDomains 外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766560" y="2606040"/>
            <a:ext cx="1965960" cy="192024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03720" y="27432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903720" y="3246120"/>
            <a:ext cx="1691640" cy="320040"/>
          </a:xfrm>
          <a:prstGeom prst="rect">
            <a:avLst/>
          </a:prstGeom>
          <a:solidFill>
            <a:srgbClr val="151B47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03720" y="32461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5D6A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▸ 通る ✓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903720" y="37033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Allow で明示的に許可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何が通って何が止まるかを、全部入れた状態で確認する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600" dirty="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 E Y   T A K E A W A 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今日のKey Takeaway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69164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Permission</a:t>
            </a:r>
            <a:r>
              <a:rPr lang="en-US" sz="2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で境界、</a:t>
            </a: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Sandbox</a:t>
            </a:r>
            <a:r>
              <a:rPr lang="en-US" sz="2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 OS 壁、</a:t>
            </a: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Hooks</a:t>
            </a:r>
            <a:r>
              <a:rPr lang="en-US" sz="2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で強制、</a:t>
            </a:r>
            <a:endParaRPr lang="en-US" sz="20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ネットワーク allowlist</a:t>
            </a:r>
            <a:r>
              <a:rPr lang="en-US" sz="2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で接続先限定。</a:t>
            </a:r>
            <a:endParaRPr lang="en-US" sz="20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settings.json 1ファイル</a:t>
            </a:r>
            <a:r>
              <a:rPr lang="en-US" sz="2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に全部書ける。これをコピーして始めよう。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3383280"/>
            <a:ext cx="8229600" cy="146304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4747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今日持ち帰るチェック項目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164592" cy="164592"/>
          </a:xfrm>
          <a:prstGeom prst="rect">
            <a:avLst/>
          </a:prstGeom>
          <a:solidFill>
            <a:srgbClr val="151B47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379476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Permission Deny だけでは Bash を止められないことを理解した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4087368"/>
            <a:ext cx="164592" cy="164592"/>
          </a:xfrm>
          <a:prstGeom prst="rect">
            <a:avLst/>
          </a:prstGeom>
          <a:solidFill>
            <a:srgbClr val="151B47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050792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Sandbox + Permission のセット運用が必要と分かった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4343400"/>
            <a:ext cx="164592" cy="164592"/>
          </a:xfrm>
          <a:prstGeom prst="rect">
            <a:avLst/>
          </a:prstGeom>
          <a:solidFill>
            <a:srgbClr val="151B47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4306824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Bypass モードの危険性と failIfUnavailable による対策を理解した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4599432"/>
            <a:ext cx="164592" cy="164592"/>
          </a:xfrm>
          <a:prstGeom prst="rect">
            <a:avLst/>
          </a:prstGeom>
          <a:solidFill>
            <a:srgbClr val="151B47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4562856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統合 settings.json をプロジェクトにコピーする準備ができた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600" dirty="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 E X T   S E S S I O 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次回 ― 第4回「自動化・共有」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783080"/>
            <a:ext cx="411480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7830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 ▸ </a:t>
            </a: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Skills / MCP / スラッシュコマンドで型を資産化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取り扱う内容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118872" cy="118872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8803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Skills ― 必要な時だけ読み込む知識・手順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3319272"/>
            <a:ext cx="118872" cy="118872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227832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MCP ― 外部ツール連携（+ MCP→Skills変換でトークン節約）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3666744"/>
            <a:ext cx="118872" cy="118872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575304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スラッシュコマンド / Plugin ― チーム配布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4014216"/>
            <a:ext cx="118872" cy="118872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922776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コンテキストエンジニアリング1 ― 圧縮・構造化ノート・サブエージェント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4343400"/>
            <a:ext cx="8229600" cy="64008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4343400"/>
            <a:ext cx="91440" cy="64008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43434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実演  </a:t>
            </a:r>
            <a:r>
              <a:rPr lang="en-US" sz="130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既存 Skill を1つデモ（MCP からの変換例）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● ● ● ○ ○ ○ ○ ○ ○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1276</Words>
  <Application>Microsoft Macintosh PowerPoint</Application>
  <PresentationFormat>画面に合わせる (16:9)</PresentationFormat>
  <Paragraphs>247</Paragraphs>
  <Slides>12</Slides>
  <Notes>12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7" baseType="lpstr">
      <vt:lpstr>Meiryo</vt:lpstr>
      <vt:lpstr>Arial</vt:lpstr>
      <vt:lpstr>Arial Black</vt:lpstr>
      <vt:lpstr>Consolas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勉強会 第3回 基本ガード</dc:title>
  <dc:subject>PptxGenJS Presentation</dc:subject>
  <dc:creator>Koji</dc:creator>
  <cp:lastModifiedBy>晃司 土田</cp:lastModifiedBy>
  <cp:revision>3</cp:revision>
  <dcterms:created xsi:type="dcterms:W3CDTF">2026-04-16T22:31:33Z</dcterms:created>
  <dcterms:modified xsi:type="dcterms:W3CDTF">2026-04-27T08:37:13Z</dcterms:modified>
</cp:coreProperties>
</file>