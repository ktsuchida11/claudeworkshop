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8"/>
    <p:sldId id="258" r:id="rId9"/>
    <p:sldId id="259" r:id="rId10"/>
    <p:sldId id="260" r:id="rId11"/>
    <p:sldId id="261" r:id="rId12"/>
    <p:sldId id="262" r:id="rId7"/>
    <p:sldId id="263" r:id="rId6"/>
    <p:sldId id="264" r:id="rId5"/>
    <p:sldId id="265" r:id="rId4"/>
    <p:sldId id="266" r:id="rId3"/>
    <p:sldId id="267" r:id="rId18"/>
    <p:sldId id="268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243"/>
    <p:restoredTop sz="94610"/>
  </p:normalViewPr>
  <p:slideViewPr>
    <p:cSldViewPr snapToGrid="0" snapToObjects="1">
      <p:cViewPr varScale="1">
        <p:scale>
          <a:sx n="129" d="100"/>
          <a:sy n="129" d="100"/>
        </p:scale>
        <p:origin x="200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6100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CADCFC"/>
                </a:solidFill>
              </a:rPr>
              <a:t>CLAUDE CODE 勉強会  /  全10回シリーズ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</a:rPr>
              <a:t>第 7 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 i="0">
                <a:solidFill>
                  <a:srgbClr val="FFFFFF"/>
                </a:solidFill>
              </a:rPr>
              <a:t>ユースケース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 i="0">
                <a:solidFill>
                  <a:srgbClr val="FFFFFF"/>
                </a:solidFill>
              </a:rPr>
              <a:t>コードを書く道具ではなく、仕事の型を実装する道具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CADCFC"/>
                </a:solidFill>
              </a:rPr>
              <a:t>今日のテーマ:  後半「活用を広げる」フェーズの第1回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80000"/>
            <a:ext cx="8229600" cy="29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FC800"/>
                </a:solidFill>
              </a:rPr>
              <a:t>★ 覚えて帰る一言: 「コードではなく『型』を実装する」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66344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CADCFC"/>
                </a:solidFill>
              </a:rPr>
              <a:t>● ● ● ● ● ● ● ○ ○ 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94421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CADCFC"/>
                </a:solidFill>
              </a:rPr>
              <a:t>Koji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>
                <a:solidFill>
                  <a:srgbClr val="1E2761"/>
                </a:solidFill>
              </a:rPr>
              <a:t>今日の用語ミニ辞典 ― 迷ったらここに戻る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000"/>
            <a:ext cx="82296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今日のスライドで初めて出てくるカタカナ語を1行で説明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50000"/>
            <a:ext cx="8229600" cy="3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E2761"/>
                </a:solidFill>
              </a:rPr>
              <a:t>●  Plan Mode</a:t>
            </a:r>
            <a:r>
              <a:rPr sz="1400">
                <a:solidFill>
                  <a:srgbClr val="2D3748"/>
                </a:solidFill>
              </a:rPr>
              <a:t>　＝　コードを変更せず読み取りだけで分析するモード（Shift+Tab×2）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E2761"/>
                </a:solidFill>
              </a:rPr>
              <a:t>●  /rewind</a:t>
            </a:r>
            <a:r>
              <a:rPr sz="1400">
                <a:solidFill>
                  <a:srgbClr val="2D3748"/>
                </a:solidFill>
              </a:rPr>
              <a:t>　＝　修正前の状態に巻き戻す機能（試行錯誤を安全に）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E2761"/>
                </a:solidFill>
              </a:rPr>
              <a:t>●  SubAgents</a:t>
            </a:r>
            <a:r>
              <a:rPr sz="1400">
                <a:solidFill>
                  <a:srgbClr val="2D3748"/>
                </a:solidFill>
              </a:rPr>
              <a:t>　＝　専門役を並列に動かす分身（独立コンテキスト）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E2761"/>
                </a:solidFill>
              </a:rPr>
              <a:t>●  Routines</a:t>
            </a:r>
            <a:r>
              <a:rPr sz="1400">
                <a:solidFill>
                  <a:srgbClr val="2D3748"/>
                </a:solidFill>
              </a:rPr>
              <a:t>　＝　人がいなくても自動でClaude Codeが動く設定（研究プレビュー）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E2761"/>
                </a:solidFill>
              </a:rPr>
              <a:t>●  Skill Creator</a:t>
            </a:r>
            <a:r>
              <a:rPr sz="1400">
                <a:solidFill>
                  <a:srgbClr val="2D3748"/>
                </a:solidFill>
              </a:rPr>
              <a:t>　＝　Skillを自動で作って評価するメタSkill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4748B"/>
                </a:solidFill>
              </a:rPr>
              <a:t>● ● ● ● ● ● ● ○ ○ 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E2761"/>
                </a:solidFill>
              </a:rPr>
              <a:t>前半6回で揃った土台と、今日からの後半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000"/>
            <a:ext cx="82296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3原則は「守り」。ここからは3原則を前提に「攻め」に転じる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50000"/>
            <a:ext cx="415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E2761"/>
                </a:solidFill>
              </a:rPr>
              <a:t>前半6回の地図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30000"/>
            <a:ext cx="4150000" cy="21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D3748"/>
                </a:solidFill>
              </a:rPr>
              <a:t>第1回 セキュリティ ― 3原則の導入</a:t>
            </a:r>
          </a:p>
          <a:p>
            <a:r>
              <a:rPr sz="1200" b="0">
                <a:solidFill>
                  <a:srgbClr val="2D3748"/>
                </a:solidFill>
              </a:rPr>
              <a:t>第2回 環境（分ける）― DevContainer / Sandbox</a:t>
            </a:r>
          </a:p>
          <a:p>
            <a:r>
              <a:rPr sz="1200" b="0">
                <a:solidFill>
                  <a:srgbClr val="2D3748"/>
                </a:solidFill>
              </a:rPr>
              <a:t>第3回 基本ガード（防ぐ）― settings.json 1ファイル</a:t>
            </a:r>
          </a:p>
          <a:p>
            <a:r>
              <a:rPr sz="1200" b="0">
                <a:solidFill>
                  <a:srgbClr val="2D3748"/>
                </a:solidFill>
              </a:rPr>
              <a:t>第4回 自動化・共有 ― Skills / MCP / コマンド</a:t>
            </a:r>
          </a:p>
          <a:p>
            <a:r>
              <a:rPr sz="1200" b="0">
                <a:solidFill>
                  <a:srgbClr val="2D3748"/>
                </a:solidFill>
              </a:rPr>
              <a:t>第5回 AIとの仕事の型 ― バイブ→SDDへの成熟</a:t>
            </a:r>
          </a:p>
          <a:p>
            <a:r>
              <a:rPr sz="1200" b="0">
                <a:solidFill>
                  <a:srgbClr val="2D3748"/>
                </a:solidFill>
              </a:rPr>
              <a:t>第6回 ログ/トレース（残す）― Langfuse ×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0000" y="1450000"/>
            <a:ext cx="395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E2761"/>
                </a:solidFill>
              </a:rPr>
              <a:t>今日の位置づけ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0000" y="1830000"/>
            <a:ext cx="3950000" cy="21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D3748"/>
                </a:solidFill>
              </a:rPr>
              <a:t>前半6回は「安全に使う土台」</a:t>
            </a:r>
          </a:p>
          <a:p>
            <a:r>
              <a:rPr sz="1300" b="1">
                <a:solidFill>
                  <a:srgbClr val="2D3748"/>
                </a:solidFill>
              </a:rPr>
              <a:t>今日からは「実際に何ができるか」</a:t>
            </a:r>
          </a:p>
          <a:p>
            <a:r>
              <a:rPr sz="1200" b="0">
                <a:solidFill>
                  <a:srgbClr val="2D3748"/>
                </a:solidFill>
              </a:rPr>
              <a:t>Claude Code を 開発ワークフロー全体 に組み込む具体的なユースケースを見る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50000"/>
            <a:ext cx="82296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1E2761"/>
                </a:solidFill>
              </a:rPr>
              <a:t>→ 今日のゴール: Claude Code を「コード生成ツール」ではなく「開発ワークフローの自動化基盤」として捉え直す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4748B"/>
                </a:solidFill>
              </a:rPr>
              <a:t>● ● ● ● ● ● ● ○ ○ 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E2761"/>
                </a:solidFill>
              </a:rPr>
              <a:t>Claude Code の使い方 ― 3つのレイヤー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000"/>
            <a:ext cx="82296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対話型の補助から、ワークフロー全体の自動化へ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000" y="1450000"/>
            <a:ext cx="270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E2761"/>
                </a:solidFill>
              </a:rPr>
              <a:t>レイヤー1: 対話型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000" y="1850000"/>
            <a:ext cx="270000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D3748"/>
                </a:solidFill>
              </a:rPr>
              <a:t>ターミナルで直接使う。
人間が指示→Claude Codeが実行→人間がレビュー。
ほとんどの人がここで止まっている。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22000" y="1450000"/>
            <a:ext cx="270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E2761"/>
                </a:solidFill>
              </a:rPr>
              <a:t>レイヤー2: Skills &amp; コマンド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22000" y="1850000"/>
            <a:ext cx="270000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D3748"/>
                </a:solidFill>
              </a:rPr>
              <a:t>再利用可能な「仕事の型」を定義。
/feature-spec, /generate-docs のようにワークフローを部品化。
GitLab固有のワークフローも自作可能。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22000" y="1450000"/>
            <a:ext cx="270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E2761"/>
                </a:solidFill>
              </a:rPr>
              <a:t>レイヤー3: Routines &amp; SubAgents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22000" y="1850000"/>
            <a:ext cx="270000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D3748"/>
                </a:solidFill>
              </a:rPr>
              <a:t>人がいなくても動く。
スケジュール / API / GitLabイベントで自律実行。
ノートPCを閉じていても動く。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00000"/>
            <a:ext cx="82296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E2761"/>
                </a:solidFill>
              </a:rPr>
              <a:t>→ 今日はレイヤー2と3の具体的なユースケースを見る。「人間がターミナルに座っている時だけ動く」から脱却する。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4748B"/>
                </a:solidFill>
              </a:rPr>
              <a:t>● ● ● ● ● ● ● ○ ○ 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E2761"/>
                </a:solidFill>
              </a:rPr>
              <a:t>UC①: コードベース探索 &amp; デバッグ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000"/>
            <a:ext cx="82296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新しいプロジェクトに参加した日から、Claude Code はペアプログラマーになる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50000"/>
            <a:ext cx="41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E2761"/>
                </a:solidFill>
              </a:rPr>
              <a:t>【探索】3ステップ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30000"/>
            <a:ext cx="4100000" cy="2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D3748"/>
                </a:solidFill>
              </a:rPr>
              <a:t>①  全体像を掴む</a:t>
            </a:r>
          </a:p>
          <a:p>
            <a:r>
              <a:rPr sz="1100" b="0">
                <a:solidFill>
                  <a:srgbClr val="64748B"/>
                </a:solidFill>
              </a:rPr>
              <a:t>「give me an overview」で構造を一望</a:t>
            </a:r>
          </a:p>
          <a:p>
            <a:r>
              <a:rPr sz="1200" b="1">
                <a:solidFill>
                  <a:srgbClr val="2D3748"/>
                </a:solidFill>
              </a:rPr>
              <a:t>②  関連コードを見つける</a:t>
            </a:r>
          </a:p>
          <a:p>
            <a:r>
              <a:rPr sz="1100" b="0">
                <a:solidFill>
                  <a:srgbClr val="64748B"/>
                </a:solidFill>
              </a:rPr>
              <a:t>「trace the login process」で実行フロー追跡</a:t>
            </a:r>
          </a:p>
          <a:p>
            <a:r>
              <a:rPr sz="1200" b="1">
                <a:solidFill>
                  <a:srgbClr val="2D3748"/>
                </a:solidFill>
              </a:rPr>
              <a:t>③  Plan Mode で安全に調査</a:t>
            </a:r>
          </a:p>
          <a:p>
            <a:r>
              <a:rPr sz="1100" b="0">
                <a:solidFill>
                  <a:srgbClr val="64748B"/>
                </a:solidFill>
              </a:rPr>
              <a:t>Shift+Tab×2 で読み取り専用 → 影響範囲を分析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0000" y="1450000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E2761"/>
                </a:solidFill>
              </a:rPr>
              <a:t>【デバッグ】3ステップ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0000" y="1830000"/>
            <a:ext cx="4000000" cy="2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D3748"/>
                </a:solidFill>
              </a:rPr>
              <a:t>①  エラーを共有する</a:t>
            </a:r>
          </a:p>
          <a:p>
            <a:r>
              <a:rPr sz="1100" b="0">
                <a:solidFill>
                  <a:srgbClr val="64748B"/>
                </a:solidFill>
              </a:rPr>
              <a:t>スタックトレース or スクショをドラッグ&amp;ドロップ</a:t>
            </a:r>
          </a:p>
          <a:p>
            <a:r>
              <a:rPr sz="1200" b="1">
                <a:solidFill>
                  <a:srgbClr val="2D3748"/>
                </a:solidFill>
              </a:rPr>
              <a:t>②  原因を特定する</a:t>
            </a:r>
          </a:p>
          <a:p>
            <a:r>
              <a:rPr sz="1100" b="0">
                <a:solidFill>
                  <a:srgbClr val="64748B"/>
                </a:solidFill>
              </a:rPr>
              <a:t>コードベースを横断して原因を追跡</a:t>
            </a:r>
          </a:p>
          <a:p>
            <a:r>
              <a:rPr sz="1200" b="1">
                <a:solidFill>
                  <a:srgbClr val="2D3748"/>
                </a:solidFill>
              </a:rPr>
              <a:t>③  修正適用 → /rewind で巻き戻し可能</a:t>
            </a:r>
          </a:p>
          <a:p>
            <a:r>
              <a:rPr sz="1100" b="0">
                <a:solidFill>
                  <a:srgbClr val="64748B"/>
                </a:solidFill>
              </a:rPr>
              <a:t>Checkpoint で安全に試行錯誤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50000"/>
            <a:ext cx="82296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1">
                <a:solidFill>
                  <a:srgbClr val="1E2761"/>
                </a:solidFill>
              </a:rPr>
              <a:t>→ Claude Code の最も日常的なユースケース。「コードを書く前に、まずコードを読み解く」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4748B"/>
                </a:solidFill>
              </a:rPr>
              <a:t>● ● ● ● ● ● ● ○ ○ 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E2761"/>
                </a:solidFill>
              </a:rPr>
              <a:t>UC②: データ変換 &amp; 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000"/>
            <a:ext cx="82296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CSV / Excel / JSON / DB を読み込み、変換・集計・可視化を自然言語で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50000"/>
            <a:ext cx="41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E2761"/>
                </a:solidFill>
              </a:rPr>
              <a:t>Claude Code でできるデータ処理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30000"/>
            <a:ext cx="4100000" cy="2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D3748"/>
                </a:solidFill>
              </a:rPr>
              <a:t>●  データクリーニング</a:t>
            </a:r>
          </a:p>
          <a:p>
            <a:r>
              <a:rPr sz="1100" b="0">
                <a:solidFill>
                  <a:srgbClr val="64748B"/>
                </a:solidFill>
              </a:rPr>
              <a:t>CSV重複削除、フォーマット統一、欠損値処理</a:t>
            </a:r>
          </a:p>
          <a:p>
            <a:r>
              <a:rPr sz="1200" b="1">
                <a:solidFill>
                  <a:srgbClr val="2D3748"/>
                </a:solidFill>
              </a:rPr>
              <a:t>●  データ変換</a:t>
            </a:r>
          </a:p>
          <a:p>
            <a:r>
              <a:rPr sz="1100" b="0">
                <a:solidFill>
                  <a:srgbClr val="64748B"/>
                </a:solidFill>
              </a:rPr>
              <a:t>JSON→CSV、Excel→DB、複数CSVマージをスクリプト自動生成</a:t>
            </a:r>
          </a:p>
          <a:p>
            <a:r>
              <a:rPr sz="1200" b="1">
                <a:solidFill>
                  <a:srgbClr val="2D3748"/>
                </a:solidFill>
              </a:rPr>
              <a:t>●  分析 &amp; 可視化</a:t>
            </a:r>
          </a:p>
          <a:p>
            <a:r>
              <a:rPr sz="1100" b="0">
                <a:solidFill>
                  <a:srgbClr val="64748B"/>
                </a:solidFill>
              </a:rPr>
              <a:t>pandas + matplotlib/plotly で集計・グラフ生成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0000" y="1450000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E2761"/>
                </a:solidFill>
              </a:rPr>
              <a:t>金融業務での活用例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0000" y="1830000"/>
            <a:ext cx="4000000" cy="2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D3748"/>
                </a:solidFill>
              </a:rPr>
              <a:t>●  市況データ加工 → 移動平均・ボラ計算</a:t>
            </a:r>
          </a:p>
          <a:p>
            <a:r>
              <a:rPr sz="1200" b="0">
                <a:solidFill>
                  <a:srgbClr val="2D3748"/>
                </a:solidFill>
              </a:rPr>
              <a:t>●  分析結果を Markdown / docx / pptx に自動変換</a:t>
            </a:r>
          </a:p>
          <a:p>
            <a:r>
              <a:rPr sz="1200" b="0">
                <a:solidFill>
                  <a:srgbClr val="2D3748"/>
                </a:solidFill>
              </a:rPr>
              <a:t>●  Jupyter Notebook と並行作業</a:t>
            </a:r>
          </a:p>
          <a:p>
            <a:r>
              <a:rPr sz="1200" b="0">
                <a:solidFill>
                  <a:srgbClr val="2D3748"/>
                </a:solidFill>
              </a:rPr>
              <a:t>●  探索コード → 本番品質パイプライン化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50000"/>
            <a:ext cx="82296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1">
                <a:solidFill>
                  <a:srgbClr val="1E2761"/>
                </a:solidFill>
              </a:rPr>
              <a:t>→ ターミナルから一気通貫で「取得→加工→分析→レポート生成」が回る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4748B"/>
                </a:solidFill>
              </a:rPr>
              <a:t>● ● ● ● ● ● ● ○ ○ 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E2761"/>
                </a:solidFill>
              </a:rPr>
              <a:t>UC③: Skill Creator ― 「型を作る型」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000"/>
            <a:ext cx="82296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Skill の 作成 → テスト → 評価 → 改善 のサイクルを Claude Code 自身が回す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50000"/>
            <a:ext cx="8229600" cy="2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</a:rPr>
              <a:t>Skill Creator とは（anthropics/skills 公式のメタSkill）</a:t>
            </a:r>
          </a:p>
          <a:p>
            <a:r>
              <a:rPr sz="1200" b="0">
                <a:solidFill>
                  <a:srgbClr val="2D3748"/>
                </a:solidFill>
              </a:rPr>
              <a:t>「Skillを作る Skill」 ― 対話しながら自動生成・テスト・改善する</a:t>
            </a:r>
          </a:p>
          <a:p>
            <a:r>
              <a:rPr sz="800" b="0">
                <a:solidFill>
                  <a:srgbClr val="2D3748"/>
                </a:solidFill>
              </a:rPr>
              <a:t/>
            </a:r>
          </a:p>
          <a:p>
            <a:r>
              <a:rPr sz="1300" b="1">
                <a:solidFill>
                  <a:srgbClr val="1E2761"/>
                </a:solidFill>
              </a:rPr>
              <a:t>/skill-creator を実行すると以下のサイクルが回る:</a:t>
            </a:r>
          </a:p>
          <a:p>
            <a:r>
              <a:rPr sz="1200" b="0">
                <a:solidFill>
                  <a:srgbClr val="2D3748"/>
                </a:solidFill>
              </a:rPr>
              <a:t>1. 意図の確認  ―  何をするSkillか？いつ発動すべきか？</a:t>
            </a:r>
          </a:p>
          <a:p>
            <a:r>
              <a:rPr sz="1200" b="0">
                <a:solidFill>
                  <a:srgbClr val="2D3748"/>
                </a:solidFill>
              </a:rPr>
              <a:t>2. ドラフト作成  ―  SKILL.md (frontmatter+本文) を自動生成</a:t>
            </a:r>
          </a:p>
          <a:p>
            <a:r>
              <a:rPr sz="1200" b="0">
                <a:solidFill>
                  <a:srgbClr val="2D3748"/>
                </a:solidFill>
              </a:rPr>
              <a:t>3. テストケース生成  ―  evals/evals.json に保存</a:t>
            </a:r>
          </a:p>
          <a:p>
            <a:r>
              <a:rPr sz="1200" b="0">
                <a:solidFill>
                  <a:srgbClr val="2D3748"/>
                </a:solidFill>
              </a:rPr>
              <a:t>4. 並列評価  ―  SubAgent で「Skillあり/なし」を同時実行</a:t>
            </a:r>
          </a:p>
          <a:p>
            <a:r>
              <a:rPr sz="1200" b="0">
                <a:solidFill>
                  <a:srgbClr val="2D3748"/>
                </a:solidFill>
              </a:rPr>
              <a:t>5. 改善  ―  評価結果から書き直し → 再テスト</a:t>
            </a:r>
          </a:p>
          <a:p>
            <a:r>
              <a:rPr sz="1200" b="0">
                <a:solidFill>
                  <a:srgbClr val="2D3748"/>
                </a:solidFill>
              </a:rPr>
              <a:t>6. description最適化  ―  発動精度を上げる調整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400000"/>
            <a:ext cx="82296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1">
                <a:solidFill>
                  <a:srgbClr val="1E2761"/>
                </a:solidFill>
              </a:rPr>
              <a:t>→ 第4回の「型を資産化する」を、Claude Code 自身が自動で回す ― 詳しくは FAQ Q2-2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4748B"/>
                </a:solidFill>
              </a:rPr>
              <a:t>● ● ● ● ● ● ● ○ ○ 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E2761"/>
                </a:solidFill>
              </a:rPr>
              <a:t>UC④: Skills 活用 ― まずはこの3つから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000"/>
            <a:ext cx="82296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Skill には型があるが、最初に押さえるべきは3つ。残り5型は必要になったら参照する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000" y="1430000"/>
            <a:ext cx="270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E2761"/>
                </a:solidFill>
              </a:rPr>
              <a:t>🟦 ① Reference（参照）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000" y="1830000"/>
            <a:ext cx="2700000" cy="1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D3748"/>
                </a:solidFill>
              </a:rPr>
              <a:t>コーディング規約・スタイルガイド
などの知識注入。
例: api-conventions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22000" y="1430000"/>
            <a:ext cx="270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E2761"/>
                </a:solidFill>
              </a:rPr>
              <a:t>🟧 ② Task（タスク実行）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22000" y="1830000"/>
            <a:ext cx="2700000" cy="1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D3748"/>
                </a:solidFill>
              </a:rPr>
              <a:t>デプロイ・コミット等のアクション。
/deploy, /fix-issue で起動。
例: deploy, glab-mr-comments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22000" y="1430000"/>
            <a:ext cx="270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E2761"/>
                </a:solidFill>
              </a:rPr>
              <a:t>🟩 ③ Document（文書操作）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22000" y="1830000"/>
            <a:ext cx="2700000" cy="1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D3748"/>
                </a:solidFill>
              </a:rPr>
              <a:t>docx / pdf / pptx / xlsx の生成・編集。
Claude.ai でも使われる本番品質。
例: docx, pdf, pptx, xlsx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00000"/>
            <a:ext cx="82296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64748B"/>
                </a:solidFill>
              </a:rPr>
              <a:t>他に5型あり：Visual Output / Dynamic Context / Forked Subagent / Background Knowledge / Meta Skill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90000"/>
            <a:ext cx="82296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1">
                <a:solidFill>
                  <a:srgbClr val="64748B"/>
                </a:solidFill>
              </a:rPr>
              <a:t>→ 詳細は GitHub anthropics/skills と FAQ Q2-1 を参照（本編では深追いしない）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350000"/>
            <a:ext cx="8229600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E2761"/>
                </a:solidFill>
              </a:rPr>
              <a:t>★ Reference で規約を、Task で繰り返しを、Document で文書を ― この3つから始める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4748B"/>
                </a:solidFill>
              </a:rPr>
              <a:t>● ● ● ● ● ● ● ○ ○ 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E2761"/>
                </a:solidFill>
              </a:rPr>
              <a:t>UC⑤: SubAgents &amp; Routines ― 並列処理 と 自律実行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000"/>
            <a:ext cx="82296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単一セッションの限界を超え、専門エージェントに委任する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50000"/>
            <a:ext cx="41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E2761"/>
                </a:solidFill>
              </a:rPr>
              <a:t>SubAgents（第4回の延長）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30000"/>
            <a:ext cx="4100000" cy="2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D3748"/>
                </a:solidFill>
              </a:rPr>
              <a:t>各SubAgent は独立コンテキストで動作</a:t>
            </a:r>
          </a:p>
          <a:p>
            <a:r>
              <a:rPr sz="1200" b="0">
                <a:solidFill>
                  <a:srgbClr val="2D3748"/>
                </a:solidFill>
              </a:rPr>
              <a:t>Main Agent に結果を報告のみ（相互通信なし）</a:t>
            </a:r>
          </a:p>
          <a:p>
            <a:r>
              <a:rPr sz="800" b="0">
                <a:solidFill>
                  <a:srgbClr val="2D3748"/>
                </a:solidFill>
              </a:rPr>
              <a:t/>
            </a:r>
          </a:p>
          <a:p>
            <a:r>
              <a:rPr sz="1200" b="1">
                <a:solidFill>
                  <a:srgbClr val="1E2761"/>
                </a:solidFill>
              </a:rPr>
              <a:t>典型的な3役割:</a:t>
            </a:r>
          </a:p>
          <a:p>
            <a:r>
              <a:rPr sz="1200" b="0">
                <a:solidFill>
                  <a:srgbClr val="64748B"/>
                </a:solidFill>
              </a:rPr>
              <a:t>●  セキュリティレビュー（Read-only）</a:t>
            </a:r>
          </a:p>
          <a:p>
            <a:r>
              <a:rPr sz="1200" b="0">
                <a:solidFill>
                  <a:srgbClr val="64748B"/>
                </a:solidFill>
              </a:rPr>
              <a:t>●  テスト生成 + 実行</a:t>
            </a:r>
          </a:p>
          <a:p>
            <a:r>
              <a:rPr sz="1200" b="0">
                <a:solidFill>
                  <a:srgbClr val="64748B"/>
                </a:solidFill>
              </a:rPr>
              <a:t>●  ドキュメント更新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0000" y="1450000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E2761"/>
                </a:solidFill>
              </a:rPr>
              <a:t>Routines（研究プレビュー）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0000" y="1830000"/>
            <a:ext cx="4000000" cy="2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D3748"/>
                </a:solidFill>
              </a:rPr>
              <a:t>プロンプト + リポジトリ + コネクタを保存して自動実行</a:t>
            </a:r>
          </a:p>
          <a:p>
            <a:r>
              <a:rPr sz="800" b="0">
                <a:solidFill>
                  <a:srgbClr val="2D3748"/>
                </a:solidFill>
              </a:rPr>
              <a:t/>
            </a:r>
          </a:p>
          <a:p>
            <a:r>
              <a:rPr sz="1200" b="1">
                <a:solidFill>
                  <a:srgbClr val="1E2761"/>
                </a:solidFill>
              </a:rPr>
              <a:t>3つのトリガー:</a:t>
            </a:r>
          </a:p>
          <a:p>
            <a:r>
              <a:rPr sz="1200" b="0">
                <a:solidFill>
                  <a:srgbClr val="64748B"/>
                </a:solidFill>
              </a:rPr>
              <a:t>●  スケジュール（毎日9時 / 毎週月曜）</a:t>
            </a:r>
          </a:p>
          <a:p>
            <a:r>
              <a:rPr sz="1200" b="0">
                <a:solidFill>
                  <a:srgbClr val="64748B"/>
                </a:solidFill>
              </a:rPr>
              <a:t>●  API（HTTPでオンデマンド実行）</a:t>
            </a:r>
          </a:p>
          <a:p>
            <a:r>
              <a:rPr sz="1200" b="0">
                <a:solidFill>
                  <a:srgbClr val="64748B"/>
                </a:solidFill>
              </a:rPr>
              <a:t>●  GitLab/GitHubイベント（MR作成等）</a:t>
            </a:r>
          </a:p>
          <a:p>
            <a:r>
              <a:rPr sz="1200" b="0">
                <a:solidFill>
                  <a:srgbClr val="2D3748"/>
                </a:solidFill>
              </a:rPr>
              <a:t>Anthropicクラウド上で実行 → ノートPCを閉じても動く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50000"/>
            <a:ext cx="82296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1">
                <a:solidFill>
                  <a:srgbClr val="1E2761"/>
                </a:solidFill>
              </a:rPr>
              <a:t>→ SubAgents は「セッション内の並列」、Routines は「セッションを超えた自律」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4748B"/>
                </a:solidFill>
              </a:rPr>
              <a:t>● ● ● ● ● ● ● ○ ○ 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E2761"/>
                </a:solidFill>
              </a:rPr>
              <a:t>開発ワークフロー全体像 ― 全7回の知識が繋がる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000"/>
            <a:ext cx="82296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Claude Code は①〜⑤の全ステップに関わる。コードを書くのは②だけ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2000" y="1500000"/>
            <a:ext cx="162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E2761"/>
                </a:solidFill>
              </a:rPr>
              <a:t>①
Issue/要件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2000" y="2250000"/>
            <a:ext cx="162000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2D3748"/>
                </a:solidFill>
              </a:rPr>
              <a:t>SDD（5回）
Plan Mode（本回）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2000" y="1500000"/>
            <a:ext cx="162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E2761"/>
                </a:solidFill>
              </a:rPr>
              <a:t>②
実装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62000" y="2250000"/>
            <a:ext cx="162000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2D3748"/>
                </a:solidFill>
              </a:rPr>
              <a:t>Skills（4・本回）
SubAgents（本回）
DevContainer（2回）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2000" y="1500000"/>
            <a:ext cx="162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E2761"/>
                </a:solidFill>
              </a:rPr>
              <a:t>③
レビュー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2000" y="2250000"/>
            <a:ext cx="162000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2D3748"/>
                </a:solidFill>
              </a:rPr>
              <a:t>Plan Mode
Hooks（3回）
Skill Creator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62000" y="1500000"/>
            <a:ext cx="162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E2761"/>
                </a:solidFill>
              </a:rPr>
              <a:t>④
マージ&amp;デプロイ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2000" y="2250000"/>
            <a:ext cx="162000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2D3748"/>
                </a:solidFill>
              </a:rPr>
              <a:t>Routines（本回）
Prompt CMS（6回）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000" y="1500000"/>
            <a:ext cx="162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E2761"/>
                </a:solidFill>
              </a:rPr>
              <a:t>⑤
運用&amp;改善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000" y="2250000"/>
            <a:ext cx="162000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2D3748"/>
                </a:solidFill>
              </a:rPr>
              <a:t>Trace（6回）
データ分析
LLM-as-a-Judge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50000"/>
            <a:ext cx="82296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E2761"/>
                </a:solidFill>
              </a:rPr>
              <a:t>★ これが「仕事の型を実装する」ということ ― コードを書くのは②だけ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4748B"/>
                </a:solidFill>
              </a:rPr>
              <a:t>● ● ● ● ● ● ● ○ ○ 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CADCFC"/>
                </a:solidFill>
              </a:rPr>
              <a:t>D E M 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</a:rPr>
              <a:t>ここからは実演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80000"/>
            <a:ext cx="82296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CADCFC"/>
                </a:solidFill>
              </a:rPr>
              <a:t>コードベース探索 → バグ発見 → Issue登録 を Claude Code で一気に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00000"/>
            <a:ext cx="8229600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FFC800"/>
                </a:solidFill>
              </a:rPr>
              <a:t>ステップ1（3分）  コードベース探索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0000"/>
            <a:ext cx="82296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CADCFC"/>
                </a:solidFill>
              </a:rPr>
              <a:t>claude を起動 → 全体像把握 → 関連コード特定 → Plan Mode で安全調査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50000"/>
            <a:ext cx="8229600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FFC800"/>
                </a:solidFill>
              </a:rPr>
              <a:t>ステップ2（2分）  バグ / 改善点を発見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30000"/>
            <a:ext cx="82296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CADCFC"/>
                </a:solidFill>
              </a:rPr>
              <a:t>「improve error handling」 → 問題点 + 影響範囲を提示 → Issue化を判断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00000"/>
            <a:ext cx="8229600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FFC800"/>
                </a:solidFill>
              </a:rPr>
              <a:t>ステップ3（3分）  Issue登録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80000"/>
            <a:ext cx="82296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CADCFC"/>
                </a:solidFill>
              </a:rPr>
              <a:t>「create a GitLab issue with reproduction steps」 → Claude Code が起票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00000"/>
            <a:ext cx="82296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FFC800"/>
                </a:solidFill>
              </a:rPr>
              <a:t>★ 見せたいのは「コードを読む → 問題を見つける → 記録する」がターミナル内で完結すること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CADCFC"/>
                </a:solidFill>
              </a:rPr>
              <a:t>● ● ● ● ● ● ● ○ ○ 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CADCFC"/>
                </a:solidFill>
              </a:rPr>
              <a:t>K E Y   T A K E A W A 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</a:rPr>
              <a:t>今日のKey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30000"/>
            <a:ext cx="82296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C800"/>
                </a:solidFill>
              </a:rPr>
              <a:t>★ 「コードではなく『型』を実装する」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30000"/>
            <a:ext cx="8229600" cy="11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Claude Code はコードを書く道具ではなく、仕事の型を実装する道具。</a:t>
            </a:r>
          </a:p>
          <a:p>
            <a:r>
              <a:rPr sz="1600" b="0">
                <a:solidFill>
                  <a:srgbClr val="CADCFC"/>
                </a:solidFill>
              </a:rPr>
              <a:t>3つのレイヤー（対話 → コマンド → Routines）で開発ワークフロー全体を自動化する。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00000"/>
            <a:ext cx="82296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CADCFC"/>
                </a:solidFill>
              </a:rPr>
              <a:t>今日持ち帰るチェック項目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50000"/>
            <a:ext cx="7800000" cy="2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CADCFC"/>
                </a:solidFill>
              </a:rPr>
              <a:t>□  Claude Code の3つのレイヤー（対話 / コマンド / Routines）を知った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70000"/>
            <a:ext cx="7800000" cy="2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CADCFC"/>
                </a:solidFill>
              </a:rPr>
              <a:t>□  Plan Mode を活用したコードベース探索・デバッグを理解した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90000"/>
            <a:ext cx="7800000" cy="2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CADCFC"/>
                </a:solidFill>
              </a:rPr>
              <a:t>□  データ変換・分析もターミナルから自然言語で実行できる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10000"/>
            <a:ext cx="7800000" cy="2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CADCFC"/>
                </a:solidFill>
              </a:rPr>
              <a:t>□  Skill Creator で「Skillを作る → テスト → 改善」を自動で回せる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30000"/>
            <a:ext cx="7800000" cy="2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CADCFC"/>
                </a:solidFill>
              </a:rPr>
              <a:t>□  Skillの3つの主要型（Reference / Task / Document）から始められる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80000"/>
            <a:ext cx="8229600" cy="2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FFC800"/>
                </a:solidFill>
              </a:rPr>
              <a:t>3原則の現在地：  01 分ける ✅    02 防ぐ ✅    03 残す ✅    （3原則そろった → 後半「活用フェーズ」）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CADCFC"/>
                </a:solidFill>
              </a:rPr>
              <a:t>N E X T   S E S S I O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</a:rPr>
              <a:t>次回 ― 第8回「Agent Teams」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00000"/>
            <a:ext cx="8229600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FFC800"/>
                </a:solidFill>
              </a:rPr>
              <a:t>テーマ ▸ サブエージェント = 道具、Agent Teams = 組織。役割設計と評価がセット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00000"/>
            <a:ext cx="82296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CADCFC"/>
                </a:solidFill>
              </a:rPr>
              <a:t>取り扱う内容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00000"/>
            <a:ext cx="78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CADCFC"/>
                </a:solidFill>
              </a:rPr>
              <a:t>●  Agent Teams のP2Pメッセージング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20000"/>
            <a:ext cx="78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CADCFC"/>
                </a:solidFill>
              </a:rPr>
              <a:t>●  役割設計（FE / BE / Test 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40000"/>
            <a:ext cx="78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CADCFC"/>
                </a:solidFill>
              </a:rPr>
              <a:t>●  タスクリスト共有と自律的タスク選択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60000"/>
            <a:ext cx="78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CADCFC"/>
                </a:solidFill>
              </a:rPr>
              <a:t>●  コスト管理と使い分けの判断基準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50000"/>
            <a:ext cx="8229600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FFC800"/>
                </a:solidFill>
              </a:rPr>
              <a:t>実演  3役割のAgent Team構成例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CADCFC"/>
                </a:solidFill>
              </a:rPr>
              <a:t>● ● ● ● ● ● ● ● ○ 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B5C6EB5-D8F0-EA40-A81E-22C5A5B7EB8C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d8a0d3b6-460c-40dd-9ae8-7b0e26b1e1f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516</TotalTime>
  <Words>929</Words>
  <Application>Microsoft Macintosh PowerPoint</Application>
  <PresentationFormat>画面に合わせる (16:9)</PresentationFormat>
  <Paragraphs>159</Paragraphs>
  <Slides>11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Meiryo</vt:lpstr>
      <vt:lpstr>Arial</vt:lpstr>
      <vt:lpstr>Arial Black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勉強会 第1回 セキュリティ</dc:title>
  <dc:subject>PptxGenJS Presentation</dc:subject>
  <dc:creator>Koji</dc:creator>
  <cp:lastModifiedBy>晃司 土田</cp:lastModifiedBy>
  <cp:revision>3</cp:revision>
  <dcterms:created xsi:type="dcterms:W3CDTF">2026-04-16T13:35:12Z</dcterms:created>
  <dcterms:modified xsi:type="dcterms:W3CDTF">2026-04-16T22:34:37Z</dcterms:modified>
</cp:coreProperties>
</file>