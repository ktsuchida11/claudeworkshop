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8"/>
    <p:sldId id="258" r:id="rId9"/>
    <p:sldId id="259" r:id="rId10"/>
    <p:sldId id="260" r:id="rId11"/>
    <p:sldId id="261" r:id="rId12"/>
    <p:sldId id="262" r:id="rId7"/>
    <p:sldId id="263" r:id="rId6"/>
    <p:sldId id="269" r:id="rId20"/>
    <p:sldId id="271" r:id="rId22"/>
    <p:sldId id="264" r:id="rId5"/>
    <p:sldId id="272" r:id="rId23"/>
    <p:sldId id="267" r:id="rId18"/>
    <p:sldId id="268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43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10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sub-agents" TargetMode="External"/><Relationship Id="rId3" Type="http://schemas.openxmlformats.org/officeDocument/2006/relationships/hyperlink" Target="https://code.claude.com/docs/en/headless" TargetMode="Externa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code.claude.com/docs/en/skills" TargetMode="Externa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</a:rPr>
              <a:t>CLAUDE CODE 勉強会  /  全10回シリーズ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 i="0">
                <a:solidFill>
                  <a:srgbClr val="FFFFFF"/>
                </a:solidFill>
              </a:rPr>
              <a:t>第 7 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400" b="1" i="0">
                <a:solidFill>
                  <a:srgbClr val="FFFFFF"/>
                </a:solidFill>
              </a:rPr>
              <a:t>ユースケース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0" i="0">
                <a:solidFill>
                  <a:srgbClr val="FFFFFF"/>
                </a:solidFill>
              </a:rPr>
              <a:t>コードを書く道具ではなく、仕事の型を実装する道具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CADCFC"/>
                </a:solidFill>
              </a:rPr>
              <a:t>今日のテーマ:  後半「活用を広げる」フェーズの第1回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80000"/>
            <a:ext cx="8229600" cy="29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FFC800"/>
                </a:solidFill>
              </a:rPr>
              <a:t>★ 覚えて帰る一言: 「コードではなく『型』を実装する」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CADCFC"/>
                </a:solidFill>
              </a:rPr>
              <a:t>● ● ● ● ● ● ● ○ ○ ○ 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944217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</a:rPr>
              <a:t>Koji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 i="0">
                <a:solidFill>
                  <a:srgbClr val="1E2761"/>
                </a:solidFill>
              </a:rPr>
              <a:t>今日の用語ミニ辞典 ― 迷ったらここに戻る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今日のスライドで初めて出てくるカタカナ語を1行で説明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8229600" cy="3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>
                <a:solidFill>
                  <a:srgbClr val="1E2761"/>
                </a:solidFill>
              </a:rPr>
              <a:t>●  Plan Mode</a:t>
            </a:r>
            <a:r>
              <a:rPr sz="1400">
                <a:solidFill>
                  <a:srgbClr val="2D3748"/>
                </a:solidFill>
              </a:rPr>
              <a:t>　＝　コードを変更せず読み取りだけで分析するモード（Shift+Tab×2）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/rewind</a:t>
            </a:r>
            <a:r>
              <a:rPr sz="1400">
                <a:solidFill>
                  <a:srgbClr val="2D3748"/>
                </a:solidFill>
              </a:rPr>
              <a:t>　＝　修正前の状態に巻き戻す機能（試行錯誤を安全に）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SubAgents</a:t>
            </a:r>
            <a:r>
              <a:rPr sz="1400">
                <a:solidFill>
                  <a:srgbClr val="2D3748"/>
                </a:solidFill>
              </a:rPr>
              <a:t>　＝　専門役を並列に動かす分身（独立コンテキスト）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Routines</a:t>
            </a:r>
            <a:r>
              <a:rPr sz="1400">
                <a:solidFill>
                  <a:srgbClr val="2D3748"/>
                </a:solidFill>
              </a:rPr>
              <a:t>　＝　人がいなくても自動でClaude Codeが動く設定（研究プレビュー）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1E2761"/>
                </a:solidFill>
              </a:rPr>
              <a:t>●  Skill Creator</a:t>
            </a:r>
            <a:r>
              <a:rPr sz="1400">
                <a:solidFill>
                  <a:srgbClr val="2D3748"/>
                </a:solidFill>
              </a:rPr>
              <a:t>　＝　Skillを自動で作って評価するメタSkill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E2761"/>
                </a:solidFill>
              </a:rPr>
              <a:t>前半6回で揃った土台と、今日からの後半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3原則は「守り」。ここからは3原則を前提に「攻め」に転じる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415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</a:rPr>
              <a:t>前半6回の地図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30000"/>
            <a:ext cx="4150000" cy="2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2D3748"/>
                </a:solidFill>
              </a:rPr>
              <a:t>第1回 セキュリティ ― 3原則の導入</a:t>
            </a:r>
          </a:p>
          <a:p>
            <a:r>
              <a:rPr sz="1200" b="0">
                <a:solidFill>
                  <a:srgbClr val="2D3748"/>
                </a:solidFill>
              </a:rPr>
              <a:t>第2回 環境（分ける）― DevContainer / Sandbox</a:t>
            </a:r>
          </a:p>
          <a:p>
            <a:r>
              <a:rPr sz="1200" b="0">
                <a:solidFill>
                  <a:srgbClr val="2D3748"/>
                </a:solidFill>
              </a:rPr>
              <a:t>第3回 基本ガード（防ぐ）― settings.json 1ファイル</a:t>
            </a:r>
          </a:p>
          <a:p>
            <a:r>
              <a:rPr sz="1200" b="0">
                <a:solidFill>
                  <a:srgbClr val="2D3748"/>
                </a:solidFill>
              </a:rPr>
              <a:t>第4回 自動化・共有 ― Skills / MCP / コマンド</a:t>
            </a:r>
          </a:p>
          <a:p>
            <a:r>
              <a:rPr sz="1200" b="0">
                <a:solidFill>
                  <a:srgbClr val="2D3748"/>
                </a:solidFill>
              </a:rPr>
              <a:t>第5回 AIとの仕事の型 ― バイブ→SDDへの成熟</a:t>
            </a:r>
          </a:p>
          <a:p>
            <a:r>
              <a:rPr sz="1200" b="0">
                <a:solidFill>
                  <a:srgbClr val="2D3748"/>
                </a:solidFill>
              </a:rPr>
              <a:t>第6回 ログ/トレース（残す）― Langfuse × 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0000" y="1450000"/>
            <a:ext cx="39500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</a:rPr>
              <a:t>今日の位置づけ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0000" y="1830000"/>
            <a:ext cx="3950000" cy="2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>
                <a:solidFill>
                  <a:srgbClr val="2D3748"/>
                </a:solidFill>
              </a:rPr>
              <a:t>前半6回は「安全に使う土台」</a:t>
            </a:r>
          </a:p>
          <a:p>
            <a:r>
              <a:rPr sz="1300" b="1">
                <a:solidFill>
                  <a:srgbClr val="2D3748"/>
                </a:solidFill>
              </a:rPr>
              <a:t>今日からは「実際に何ができるか」</a:t>
            </a:r>
          </a:p>
          <a:p>
            <a:r>
              <a:rPr sz="1200" b="0">
                <a:solidFill>
                  <a:srgbClr val="2D3748"/>
                </a:solidFill>
              </a:rPr>
              <a:t>Claude Code を 開発ワークフロー全体 に組み込む具体的なユースケースを見る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50000"/>
            <a:ext cx="82296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</a:rPr>
              <a:t>→ 今日のゴール: Claude Code を「コード生成ツール」ではなく「開発ワークフローの自動化基盤」として捉え直す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E2761"/>
                </a:solidFill>
              </a:rPr>
              <a:t>Claude Code の使い方 ― 3つのレイヤー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対話型の補助から、ワークフロー全体の自動化へ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000" y="145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レイヤー1: 対話型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000" y="1850000"/>
            <a:ext cx="2700000" cy="1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3748"/>
                </a:solidFill>
              </a:rPr>
              <a:t>ターミナルで直接使う。
人間が指示→Claude Codeが実行→人間がレビュー。
ほとんどの人がここで止まっている。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2000" y="145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レイヤー2: Skills &amp; コマンド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2000" y="1850000"/>
            <a:ext cx="2700000" cy="1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3748"/>
                </a:solidFill>
              </a:rPr>
              <a:t>再利用可能な「仕事の型」を定義。
/feature-spec, /generate-docs のようにワークフローを部品化。
GitLab固有のワークフローも自作可能。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2000" y="145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レイヤー3: Routines &amp; SubAgents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2000" y="1850000"/>
            <a:ext cx="2700000" cy="1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3748"/>
                </a:solidFill>
              </a:rPr>
              <a:t>人がいなくても動く。
スケジュール / API / GitLabイベントで自律実行。
ノートPCを閉じていても動く。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00000"/>
            <a:ext cx="82296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</a:rPr>
              <a:t>→ 今日はレイヤー2と3の具体的なユースケースを見る。「人間がターミナルに座っている時だけ動く」から脱却する。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E2761"/>
                </a:solidFill>
              </a:rPr>
              <a:t>UC①: コードベース探索 &amp; デバッグ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新しいプロジェクトに参加した日から、Claude Code はペアプログラマーになる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41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</a:rPr>
              <a:t>【探索】3ステップ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30000"/>
            <a:ext cx="41000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D3748"/>
                </a:solidFill>
              </a:rPr>
              <a:t>①  全体像を掴む</a:t>
            </a:r>
          </a:p>
          <a:p>
            <a:r>
              <a:rPr sz="1100" b="0">
                <a:solidFill>
                  <a:srgbClr val="64748B"/>
                </a:solidFill>
              </a:rPr>
              <a:t>「give me an overview」で構造を一望</a:t>
            </a:r>
          </a:p>
          <a:p>
            <a:r>
              <a:rPr sz="1200" b="1">
                <a:solidFill>
                  <a:srgbClr val="2D3748"/>
                </a:solidFill>
              </a:rPr>
              <a:t>②  関連コードを見つける</a:t>
            </a:r>
          </a:p>
          <a:p>
            <a:r>
              <a:rPr sz="1100" b="0">
                <a:solidFill>
                  <a:srgbClr val="64748B"/>
                </a:solidFill>
              </a:rPr>
              <a:t>「trace the login process」で実行フロー追跡</a:t>
            </a:r>
          </a:p>
          <a:p>
            <a:r>
              <a:rPr sz="1200" b="1">
                <a:solidFill>
                  <a:srgbClr val="2D3748"/>
                </a:solidFill>
              </a:rPr>
              <a:t>③  Plan Mode で安全に調査</a:t>
            </a:r>
          </a:p>
          <a:p>
            <a:r>
              <a:rPr sz="1100" b="0">
                <a:solidFill>
                  <a:srgbClr val="64748B"/>
                </a:solidFill>
              </a:rPr>
              <a:t>Shift+Tab×2 で読み取り専用 → 影響範囲を分析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0000" y="1450000"/>
            <a:ext cx="4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</a:rPr>
              <a:t>【デバッグ】3ステップ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0000" y="1830000"/>
            <a:ext cx="40000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D3748"/>
                </a:solidFill>
              </a:rPr>
              <a:t>①  エラーを共有する</a:t>
            </a:r>
          </a:p>
          <a:p>
            <a:r>
              <a:rPr sz="1100" b="0">
                <a:solidFill>
                  <a:srgbClr val="64748B"/>
                </a:solidFill>
              </a:rPr>
              <a:t>スタックトレース or スクショをドラッグ&amp;ドロップ</a:t>
            </a:r>
          </a:p>
          <a:p>
            <a:r>
              <a:rPr sz="1200" b="1">
                <a:solidFill>
                  <a:srgbClr val="2D3748"/>
                </a:solidFill>
              </a:rPr>
              <a:t>②  原因を特定する</a:t>
            </a:r>
          </a:p>
          <a:p>
            <a:r>
              <a:rPr sz="1100" b="0">
                <a:solidFill>
                  <a:srgbClr val="64748B"/>
                </a:solidFill>
              </a:rPr>
              <a:t>コードベースを横断して原因を追跡</a:t>
            </a:r>
          </a:p>
          <a:p>
            <a:r>
              <a:rPr sz="1200" b="1">
                <a:solidFill>
                  <a:srgbClr val="2D3748"/>
                </a:solidFill>
              </a:rPr>
              <a:t>③  修正適用 → /rewind で巻き戻し可能</a:t>
            </a:r>
          </a:p>
          <a:p>
            <a:r>
              <a:rPr sz="1100" b="0">
                <a:solidFill>
                  <a:srgbClr val="64748B"/>
                </a:solidFill>
              </a:rPr>
              <a:t>Checkpoint で安全に試行錯誤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0000"/>
            <a:ext cx="82296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1E2761"/>
                </a:solidFill>
              </a:rPr>
              <a:t>→ Claude Code の最も日常的なユースケース。「コードを書く前に、まずコードを読み解く」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E2761"/>
                </a:solidFill>
              </a:rPr>
              <a:t>UC②: データ変換 &amp; 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CSV / Excel / JSON / DB を読み込み、変換・集計・可視化を自然言語で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41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</a:rPr>
              <a:t>Claude Code でできるデータ処理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30000"/>
            <a:ext cx="41000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2D3748"/>
                </a:solidFill>
              </a:rPr>
              <a:t>●  データクリーニング</a:t>
            </a:r>
          </a:p>
          <a:p>
            <a:r>
              <a:rPr sz="1100" b="0">
                <a:solidFill>
                  <a:srgbClr val="64748B"/>
                </a:solidFill>
              </a:rPr>
              <a:t>CSV重複削除、フォーマット統一、欠損値処理</a:t>
            </a:r>
          </a:p>
          <a:p>
            <a:r>
              <a:rPr sz="1200" b="1">
                <a:solidFill>
                  <a:srgbClr val="2D3748"/>
                </a:solidFill>
              </a:rPr>
              <a:t>●  データ変換</a:t>
            </a:r>
          </a:p>
          <a:p>
            <a:r>
              <a:rPr sz="1100" b="0">
                <a:solidFill>
                  <a:srgbClr val="64748B"/>
                </a:solidFill>
              </a:rPr>
              <a:t>JSON→CSV、Excel→DB、複数CSVマージをスクリプト自動生成</a:t>
            </a:r>
          </a:p>
          <a:p>
            <a:r>
              <a:rPr sz="1200" b="1">
                <a:solidFill>
                  <a:srgbClr val="2D3748"/>
                </a:solidFill>
              </a:rPr>
              <a:t>●  分析 &amp; 可視化</a:t>
            </a:r>
          </a:p>
          <a:p>
            <a:r>
              <a:rPr sz="1100" b="0">
                <a:solidFill>
                  <a:srgbClr val="64748B"/>
                </a:solidFill>
              </a:rPr>
              <a:t>pandas + matplotlib/plotly で集計・グラフ生成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0000" y="1450000"/>
            <a:ext cx="4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E2761"/>
                </a:solidFill>
              </a:rPr>
              <a:t>金融業務での活用例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0000" y="1830000"/>
            <a:ext cx="40000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2D3748"/>
                </a:solidFill>
              </a:rPr>
              <a:t>●  市況データ加工 → 移動平均・ボラ計算</a:t>
            </a:r>
          </a:p>
          <a:p>
            <a:r>
              <a:rPr sz="1200" b="0">
                <a:solidFill>
                  <a:srgbClr val="2D3748"/>
                </a:solidFill>
              </a:rPr>
              <a:t>●  分析結果を Markdown / docx / pptx に自動変換</a:t>
            </a:r>
          </a:p>
          <a:p>
            <a:r>
              <a:rPr sz="1200" b="0">
                <a:solidFill>
                  <a:srgbClr val="2D3748"/>
                </a:solidFill>
              </a:rPr>
              <a:t>●  Jupyter Notebook と並行作業</a:t>
            </a:r>
          </a:p>
          <a:p>
            <a:r>
              <a:rPr sz="1200" b="0">
                <a:solidFill>
                  <a:srgbClr val="2D3748"/>
                </a:solidFill>
              </a:rPr>
              <a:t>●  探索コード → 本番品質パイプライン化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50000"/>
            <a:ext cx="82296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1E2761"/>
                </a:solidFill>
              </a:rPr>
              <a:t>→ ターミナルから一気通貫で「取得→加工→分析→レポート生成」が回る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E2761"/>
                </a:solidFill>
              </a:rPr>
              <a:t>UC③: Skill Creator ― 「型を作る型」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Skill の 作成 → テスト → 評価 → 改善 のサイクルを Claude Code 自身が回す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50000"/>
            <a:ext cx="8229600" cy="2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E2761"/>
                </a:solidFill>
              </a:rPr>
              <a:t>Skill Creator とは（anthropics/skills 公式のメタSkill）</a:t>
            </a:r>
          </a:p>
          <a:p>
            <a:r>
              <a:rPr sz="1200" b="0">
                <a:solidFill>
                  <a:srgbClr val="2D3748"/>
                </a:solidFill>
              </a:rPr>
              <a:t>「Skillを作る Skill」 ― 対話しながら自動生成・テスト・改善する</a:t>
            </a:r>
          </a:p>
          <a:p>
            <a:r>
              <a:rPr sz="800" b="0">
                <a:solidFill>
                  <a:srgbClr val="2D3748"/>
                </a:solidFill>
              </a:rPr>
              <a:t/>
            </a:r>
          </a:p>
          <a:p>
            <a:r>
              <a:rPr sz="1300" b="1">
                <a:solidFill>
                  <a:srgbClr val="1E2761"/>
                </a:solidFill>
              </a:rPr>
              <a:t>/skill-creator を実行すると以下のサイクルが回る:</a:t>
            </a:r>
          </a:p>
          <a:p>
            <a:r>
              <a:rPr sz="1200" b="0">
                <a:solidFill>
                  <a:srgbClr val="2D3748"/>
                </a:solidFill>
              </a:rPr>
              <a:t>1. 意図の確認  ―  何をするSkillか？いつ発動すべきか？</a:t>
            </a:r>
          </a:p>
          <a:p>
            <a:r>
              <a:rPr sz="1200" b="0">
                <a:solidFill>
                  <a:srgbClr val="2D3748"/>
                </a:solidFill>
              </a:rPr>
              <a:t>2. ドラフト作成  ―  SKILL.md (frontmatter+本文) を自動生成</a:t>
            </a:r>
          </a:p>
          <a:p>
            <a:r>
              <a:rPr sz="1200" b="0">
                <a:solidFill>
                  <a:srgbClr val="2D3748"/>
                </a:solidFill>
              </a:rPr>
              <a:t>3. テストケース生成  ―  evals/evals.json に保存</a:t>
            </a:r>
          </a:p>
          <a:p>
            <a:r>
              <a:rPr sz="1200" b="0">
                <a:solidFill>
                  <a:srgbClr val="2D3748"/>
                </a:solidFill>
              </a:rPr>
              <a:t>4. 並列評価  ―  SubAgent で「Skillあり/なし」を同時実行</a:t>
            </a:r>
          </a:p>
          <a:p>
            <a:r>
              <a:rPr sz="1200" b="0">
                <a:solidFill>
                  <a:srgbClr val="2D3748"/>
                </a:solidFill>
              </a:rPr>
              <a:t>5. 改善  ―  評価結果から書き直し → 再テスト</a:t>
            </a:r>
          </a:p>
          <a:p>
            <a:r>
              <a:rPr sz="1200" b="0">
                <a:solidFill>
                  <a:srgbClr val="2D3748"/>
                </a:solidFill>
              </a:rPr>
              <a:t>6. description最適化  ―  発動精度を上げる調整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00000"/>
            <a:ext cx="82296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 i="1">
                <a:solidFill>
                  <a:srgbClr val="1E2761"/>
                </a:solidFill>
              </a:rPr>
              <a:t>→ 第4回の「型を資産化する」を、Claude Code 自身が自動で回す ― 詳しくは FAQ Q2-2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1E2761"/>
                </a:solidFill>
              </a:rPr>
              <a:t>UC④: Skills 活用 ― まずはこの3つから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1">
                <a:solidFill>
                  <a:srgbClr val="64748B"/>
                </a:solidFill>
              </a:rPr>
              <a:t>Skill には型があるが、最初に押さえるべきは3つ。残り5型は必要になったら参照する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000" y="143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🟦 ① Reference（参照）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2000" y="1830000"/>
            <a:ext cx="2700000" cy="1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3748"/>
                </a:solidFill>
              </a:rPr>
              <a:t>コーディング規約・スタイルガイド
などの知識注入。
例: api-conventions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2000" y="143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🟧 ② Task（タスク実行）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2000" y="1830000"/>
            <a:ext cx="2700000" cy="1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3748"/>
                </a:solidFill>
              </a:rPr>
              <a:t>デプロイ・コミット等のアクション。
/deploy, /fix-issue で起動。
例: deploy, glab-mr-comments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22000" y="1430000"/>
            <a:ext cx="2700000" cy="3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E2761"/>
                </a:solidFill>
              </a:rPr>
              <a:t>🟩 ③ Document（文書操作）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22000" y="1830000"/>
            <a:ext cx="2700000" cy="1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2D3748"/>
                </a:solidFill>
              </a:rPr>
              <a:t>docx / pdf / pptx / xlsx の生成・編集。
Claude.ai でも使われる本番品質。
例: docx, pdf, pptx, xlsx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00000"/>
            <a:ext cx="82296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64748B"/>
                </a:solidFill>
              </a:rPr>
              <a:t>他に5型あり：Visual Output / Dynamic Context / Forked Subagent / Background Knowledge / Meta Skill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90000"/>
            <a:ext cx="82296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1">
                <a:solidFill>
                  <a:srgbClr val="64748B"/>
                </a:solidFill>
              </a:rPr>
              <a:t>→ 全8型の一覧と金融ドメインのユースケースは、次ページからの表で整理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50000"/>
            <a:ext cx="82296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1E2761"/>
                </a:solidFill>
              </a:rPr>
              <a:t>★ Reference で規約を、Task で繰り返しを、Document で文書を ― この3つから始める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2400" b="1" i="0">
                <a:solidFill>
                  <a:srgbClr val="1E2761"/>
                </a:solidFill>
              </a:rPr>
              <a:t>UC⑤: SubAgents &amp; Routines ― 並列処理 と 自律実行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300" b="0" i="1">
                <a:solidFill>
                  <a:srgbClr val="64748B"/>
                </a:solidFill>
              </a:rPr>
              <a:t>単一セッションの限界を超え、専門エージェントに委任する</a:t>
            </a:r>
          </a:p>
        </p:txBody>
      </p:sp>
      <p:sp>
        <p:nvSpPr>
          <p:cNvPr id="4" name="lhead"/>
          <p:cNvSpPr txBox="1"/>
          <p:nvPr/>
        </p:nvSpPr>
        <p:spPr>
          <a:xfrm>
            <a:off x="457200" y="1450000"/>
            <a:ext cx="415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400" b="1" i="0">
                <a:solidFill>
                  <a:srgbClr val="1E2761"/>
                </a:solidFill>
              </a:rPr>
              <a:t>SubAgents ― 並列の専門役</a:t>
            </a:r>
          </a:p>
        </p:txBody>
      </p:sp>
      <p:sp>
        <p:nvSpPr>
          <p:cNvPr id="5" name="subagents"/>
          <p:cNvSpPr txBox="1"/>
          <p:nvPr/>
        </p:nvSpPr>
        <p:spPr>
          <a:xfrm>
            <a:off x="457200" y="1830000"/>
            <a:ext cx="41500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050" b="0" i="0">
                <a:solidFill>
                  <a:srgbClr val="2D3748"/>
                </a:solidFill>
              </a:rPr>
              <a:t>各 SubAgent は独立コンテキストで動作</a:t>
            </a:r>
          </a:p>
          <a:p>
            <a:r>
              <a:rPr lang="ja-JP" sz="1050" b="0" i="0">
                <a:solidFill>
                  <a:srgbClr val="2D3748"/>
                </a:solidFill>
              </a:rPr>
              <a:t>結果のみ Main Agent に報告（相互通信なし）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典型例: レビュー / テスト生成 / ドキュメント更新</a:t>
            </a:r>
          </a:p>
          <a:p>
            <a:r>
              <a:rPr lang="ja-JP" sz="500" b="0" i="0">
                <a:solidFill>
                  <a:srgbClr val="2D3748"/>
                </a:solidFill>
              </a:rPr>
              <a:t/>
            </a:r>
          </a:p>
          <a:p>
            <a:r>
              <a:rPr lang="ja-JP" sz="1100" b="1" i="0">
                <a:solidFill>
                  <a:srgbClr val="1E2761"/>
                </a:solidFill>
              </a:rPr>
              <a:t>呼び出し方: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●  定義: .claude/agents/&lt;名前&gt;.md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●  自動委任: description を読んで Claude が判断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●  明示指定:「○○ サブエージェントで」/ @名前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●  Skill 経由: context: fork ＋ agent: で起動</a:t>
            </a:r>
          </a:p>
        </p:txBody>
      </p:sp>
      <p:sp>
        <p:nvSpPr>
          <p:cNvPr id="6" name="rhead"/>
          <p:cNvSpPr txBox="1"/>
          <p:nvPr/>
        </p:nvSpPr>
        <p:spPr>
          <a:xfrm>
            <a:off x="4750000" y="1450000"/>
            <a:ext cx="40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400" b="1" i="0">
                <a:solidFill>
                  <a:srgbClr val="1E2761"/>
                </a:solidFill>
              </a:rPr>
              <a:t>自律実行 ― 人がいなくても動く</a:t>
            </a:r>
          </a:p>
        </p:txBody>
      </p:sp>
      <p:sp>
        <p:nvSpPr>
          <p:cNvPr id="7" name="routines"/>
          <p:cNvSpPr txBox="1"/>
          <p:nvPr/>
        </p:nvSpPr>
        <p:spPr>
          <a:xfrm>
            <a:off x="4750000" y="1830000"/>
            <a:ext cx="4000000" cy="24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050" b="0" i="0">
                <a:solidFill>
                  <a:srgbClr val="2D3748"/>
                </a:solidFill>
              </a:rPr>
              <a:t>保存して自動実行（プロンプト＋リポジトリ＋コネクタ）</a:t>
            </a:r>
          </a:p>
          <a:p>
            <a:r>
              <a:rPr lang="ja-JP" sz="500" b="0" i="0">
                <a:solidFill>
                  <a:srgbClr val="2D3748"/>
                </a:solidFill>
              </a:rPr>
              <a:t/>
            </a:r>
          </a:p>
          <a:p>
            <a:r>
              <a:rPr lang="ja-JP" sz="1100" b="1" i="0">
                <a:solidFill>
                  <a:srgbClr val="1E2761"/>
                </a:solidFill>
              </a:rPr>
              <a:t>① Routines（クラウド・研究プレビュー）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●  スケジュール / API / Git イベントで起動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●  Anthropic クラウドで実行（PC を閉じても動く）</a:t>
            </a:r>
          </a:p>
          <a:p>
            <a:r>
              <a:rPr lang="ja-JP" sz="500" b="0" i="0">
                <a:solidFill>
                  <a:srgbClr val="2D3748"/>
                </a:solidFill>
              </a:rPr>
              <a:t/>
            </a:r>
          </a:p>
          <a:p>
            <a:r>
              <a:rPr lang="ja-JP" sz="1100" b="1" i="0">
                <a:solidFill>
                  <a:srgbClr val="1E2761"/>
                </a:solidFill>
              </a:rPr>
              <a:t>② cron（ローカル / Windows）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●  WSL2 の cron / タスクスケジューラ で起動</a:t>
            </a:r>
          </a:p>
          <a:p>
            <a:r>
              <a:rPr lang="ja-JP" sz="1050" b="0" i="0">
                <a:solidFill>
                  <a:srgbClr val="64748B"/>
                </a:solidFill>
              </a:rPr>
              <a:t>●  claude -p を定期実行・再起動後も継続</a:t>
            </a:r>
          </a:p>
        </p:txBody>
      </p:sp>
      <p:sp>
        <p:nvSpPr>
          <p:cNvPr id="11" name="doclinks"/>
          <p:cNvSpPr txBox="1"/>
          <p:nvPr/>
        </p:nvSpPr>
        <p:spPr>
          <a:xfrm>
            <a:off x="457200" y="3500000"/>
            <a:ext cx="82296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950" b="1" i="0">
                <a:solidFill>
                  <a:srgbClr val="1E2761"/>
                </a:solidFill>
              </a:rPr>
              <a:t xml:space="preserve">公式ドキュメント ▸ </a:t>
            </a:r>
            <a:r>
              <a:rPr lang="en-US" sz="950" b="0" i="0" u="sng">
                <a:solidFill>
                  <a:srgbClr val="1C7293"/>
                </a:solidFill>
                <a:hlinkClick r:id="rId2"/>
              </a:rPr>
              <a:t>code.claude.com/docs/en/sub-agents</a:t>
            </a:r>
            <a:r>
              <a:rPr lang="ja-JP" sz="950" b="0" i="0">
                <a:solidFill>
                  <a:srgbClr val="64748B"/>
                </a:solidFill>
              </a:rPr>
              <a:t>　・　</a:t>
            </a:r>
            <a:r>
              <a:rPr lang="en-US" sz="950" b="0" i="0" u="sng">
                <a:solidFill>
                  <a:srgbClr val="1C7293"/>
                </a:solidFill>
                <a:hlinkClick r:id="rId3"/>
              </a:rPr>
              <a:t>code.claude.com/docs/en/headless</a:t>
            </a:r>
          </a:p>
        </p:txBody>
      </p:sp>
      <p:sp>
        <p:nvSpPr>
          <p:cNvPr id="8" name="warn"/>
          <p:cNvSpPr txBox="1"/>
          <p:nvPr/>
        </p:nvSpPr>
        <p:spPr>
          <a:xfrm>
            <a:off x="457200" y="3900000"/>
            <a:ext cx="82296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050" b="1" i="0">
                <a:solidFill>
                  <a:srgbClr val="C2410C"/>
                </a:solidFill>
              </a:rPr>
              <a:t>⚠ ヘッドレス（claude -p）はトークン従量課金でコスト発生 → --max-turns / --max-budget-usd で上限設定</a:t>
            </a:r>
          </a:p>
        </p:txBody>
      </p:sp>
      <p:sp>
        <p:nvSpPr>
          <p:cNvPr id="9" name="take"/>
          <p:cNvSpPr txBox="1"/>
          <p:nvPr/>
        </p:nvSpPr>
        <p:spPr>
          <a:xfrm>
            <a:off x="457200" y="4320000"/>
            <a:ext cx="82296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200" b="0" i="1">
                <a:solidFill>
                  <a:srgbClr val="1E2761"/>
                </a:solidFill>
              </a:rPr>
              <a:t>→ SubAgents は「セッション内の並列」、Routines / cron は「セッションを超えた自律」</a:t>
            </a:r>
          </a:p>
        </p:txBody>
      </p:sp>
      <p:sp>
        <p:nvSpPr>
          <p:cNvPr id="10" name="dots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ADCFC"/>
                </a:solidFill>
              </a:rPr>
              <a:t>K E Y   T A K E A W A 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</a:rPr>
              <a:t>今日のKey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30000"/>
            <a:ext cx="82296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C800"/>
                </a:solidFill>
              </a:rPr>
              <a:t>★ 「コードではなく『型』を実装する」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30000"/>
            <a:ext cx="8229600" cy="11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Claude Code はコードを書く道具ではなく、仕事の型を実装する道具。</a:t>
            </a:r>
          </a:p>
          <a:p>
            <a:r>
              <a:rPr sz="1600" b="0">
                <a:solidFill>
                  <a:srgbClr val="CADCFC"/>
                </a:solidFill>
              </a:rPr>
              <a:t>3つのレイヤー（対話 → コマンド → Routines）で開発ワークフロー全体を自動化する。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0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CADCFC"/>
                </a:solidFill>
              </a:rPr>
              <a:t>今日持ち帰るチェック項目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50000"/>
            <a:ext cx="780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</a:rPr>
              <a:t>□  Claude Code の3つのレイヤー（対話 / コマンド / Routines）を知った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70000"/>
            <a:ext cx="780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</a:rPr>
              <a:t>□  Plan Mode を活用したコードベース探索・デバッグを理解した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090000"/>
            <a:ext cx="780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</a:rPr>
              <a:t>□  データ変換・分析もターミナルから自然言語で実行できる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310000"/>
            <a:ext cx="780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</a:rPr>
              <a:t>□  Skill Creator で「Skillを作る → テスト → 改善」を自動で回せる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30000"/>
            <a:ext cx="78000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 i="0">
                <a:solidFill>
                  <a:srgbClr val="CADCFC"/>
                </a:solidFill>
              </a:rPr>
              <a:t>□  Skillの3つの主要型（Reference / Task / Document）から始められる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80000"/>
            <a:ext cx="8229600" cy="2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 i="0">
                <a:solidFill>
                  <a:srgbClr val="FFC800"/>
                </a:solidFill>
              </a:rPr>
              <a:t>3原則の現在地：  01 分ける ✅    02 防ぐ ✅    03 残す ✅    （3原則そろった → 後半「活用フェーズ」）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ADCFC"/>
                </a:solidFill>
              </a:rPr>
              <a:t>N E X T   S E S S I O 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</a:rPr>
              <a:t>次回 ― 第8回「自己改善エージェント」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00000"/>
            <a:ext cx="82296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 i="0">
                <a:solidFill>
                  <a:srgbClr val="FFC800"/>
                </a:solidFill>
              </a:rPr>
              <a:t>テーマ ▸ 正解があれば毎日賢くなる ― 生成（書く役）と評価（採点する役）を分けて回す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00000"/>
            <a:ext cx="82296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 i="0">
                <a:solidFill>
                  <a:srgbClr val="CADCFC"/>
                </a:solidFill>
              </a:rPr>
              <a:t>取り扱う内容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00000"/>
            <a:ext cx="78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ADCFC"/>
                </a:solidFill>
              </a:rPr>
              <a:t>●  正解（教師データ）の定義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20000"/>
            <a:ext cx="78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ADCFC"/>
                </a:solidFill>
              </a:rPr>
              <a:t>●  生成と評価の分離（書く役 / 採点する役）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40000"/>
            <a:ext cx="78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ADCFC"/>
                </a:solidFill>
              </a:rPr>
              <a:t>●  style_guide の学習機構と破綻を防ぐ4原則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60000"/>
            <a:ext cx="78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 i="0">
                <a:solidFill>
                  <a:srgbClr val="CADCFC"/>
                </a:solidFill>
              </a:rPr>
              <a:t>●  成果：採点スコア 7 → 13 の推移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0000"/>
            <a:ext cx="822960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1" i="0">
                <a:solidFill>
                  <a:srgbClr val="FFC800"/>
                </a:solidFill>
              </a:rPr>
              <a:t>形式 ▸ 実演なし（スライド＋質疑で30分）／実例は為替の朝レポート自動化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 i="0">
                <a:solidFill>
                  <a:srgbClr val="CADCFC"/>
                </a:solidFill>
              </a:rPr>
              <a:t>● ● ● ● ● ● ● ● ○ ○ 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2400" b="1" i="0">
                <a:solidFill>
                  <a:srgbClr val="1E2761"/>
                </a:solidFill>
              </a:rPr>
              <a:t>Skill の8つの型 ― 全体マップ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300" b="0" i="1">
                <a:solidFill>
                  <a:srgbClr val="64748B"/>
                </a:solidFill>
              </a:rPr>
              <a:t>2つは公式が「型」と呼ぶもの、残り6つは公式の機能・パターンを役割で整理したもの</a:t>
            </a:r>
          </a:p>
        </p:txBody>
      </p:sp>
      <p:graphicFrame>
        <p:nvGraphicFramePr>
          <p:cNvPr id="20" name="Table"/>
          <p:cNvGraphicFramePr/>
          <p:nvPr/>
        </p:nvGraphicFramePr>
        <p:xfrm>
          <a:off x="457200" y="1330000"/>
          <a:ext cx="8229600" cy="100000"/>
        </p:xfrm>
        <a:graphic>
          <a:graphicData uri="http://schemas.openxmlformats.org/drawingml/2006/table">
            <a:tbl>
              <a:tblPr firstRow="1" bandRow="0"/>
              <a:tblGrid>
                <a:gridCol w="1500000"/>
                <a:gridCol w="2400000"/>
                <a:gridCol w="2329600"/>
                <a:gridCol w="2000000"/>
              </a:tblGrid>
              <a:tr h="315000"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型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役割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起動・設定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最小例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Reference 参照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規約・ドメイン知識を注入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自動ロード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api-conventions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Task タスク実行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手順アクションを実行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/name で手動起動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deploy / fix-issue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Document 文書操作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docx/pdf/pptx/xlsx を生成・編集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pre-built（自動）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docx / pptx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Visual Output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触れるHTML成果物を生成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スクリプト実行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codebase-visualizer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Dynamic Context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実行時に最新データを注入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!`command` 構文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!`git diff HEAD`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Forked Subagent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本体を汚さず隔離実行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context: fork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deep-research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Background Knowledge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背景知識を常時参照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user-invocable: false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legacy-context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Meta Skill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Skill を評価・改善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skill-creator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skill-creator</a:t>
                      </a:r>
                    </a:p>
                  </a:txBody>
                  <a:tcPr marL="73152" marR="73152" marT="13000" marB="13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1" name="doclink"/>
          <p:cNvSpPr txBox="1"/>
          <p:nvPr/>
        </p:nvSpPr>
        <p:spPr>
          <a:xfrm>
            <a:off x="457200" y="4420000"/>
            <a:ext cx="46000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050" b="1" i="0">
                <a:solidFill>
                  <a:srgbClr val="1E2761"/>
                </a:solidFill>
              </a:rPr>
              <a:t xml:space="preserve">公式ドキュメント ▸ </a:t>
            </a:r>
            <a:r>
              <a:rPr lang="en-US" sz="1050" b="0" i="0" u="sng">
                <a:solidFill>
                  <a:srgbClr val="1C7293"/>
                </a:solidFill>
                <a:hlinkClick r:id="rId2"/>
              </a:rPr>
              <a:t>code.claude.com/docs/en/skills</a:t>
            </a:r>
          </a:p>
        </p:txBody>
      </p:sp>
      <p:sp>
        <p:nvSpPr>
          <p:cNvPr id="30" name="dots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2400" b="1" i="0">
                <a:solidFill>
                  <a:srgbClr val="1E2761"/>
                </a:solidFill>
              </a:rPr>
              <a:t>金融ドメインでのユースケース ― 8型 × 実務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300" b="0" i="1">
                <a:solidFill>
                  <a:srgbClr val="64748B"/>
                </a:solidFill>
              </a:rPr>
              <a:t>前半6回の「守り」を踏まえ、各型を金融×エンタープライズ開発の実務に落とす</a:t>
            </a:r>
          </a:p>
        </p:txBody>
      </p:sp>
      <p:graphicFrame>
        <p:nvGraphicFramePr>
          <p:cNvPr id="20" name="Table"/>
          <p:cNvGraphicFramePr/>
          <p:nvPr/>
        </p:nvGraphicFramePr>
        <p:xfrm>
          <a:off x="457200" y="1350000"/>
          <a:ext cx="8229600" cy="100000"/>
        </p:xfrm>
        <a:graphic>
          <a:graphicData uri="http://schemas.openxmlformats.org/drawingml/2006/table">
            <a:tbl>
              <a:tblPr firstRow="1" bandRow="0"/>
              <a:tblGrid>
                <a:gridCol w="1900000"/>
                <a:gridCol w="6329600"/>
              </a:tblGrid>
              <a:tr h="330000"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型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ユースケース（金融ドメイン / エンタープライズ開発）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Reference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リスク指標の定義集（VaR・ES・デュレーション）を注入し定義のブレを防ぐ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Task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/fix-issue で issue→修正→テスト→コミット、/release-notes で MR から生成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Document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分析結果→IRレポート(docx)・報告資料(pptx)・監査エビデンス(pdf)を自動生成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Visual Output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ポートフォリオのリスク内訳・依存グラフをインタラクティブHTMLで可視化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Dynamic Context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!`fetch_market_snapshot.py` で最新市況を注入してから分析を実行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Forked Subagent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大規模調査やセキュリティレビューを隔離コンテキストで安全に実行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Background Knowledge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レガシー勘定系の仕様・非推奨パターンを常時バックグラウンド注入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5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Meta Skill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チームSkill を評価ループ（あり/なし比較）で品質担保し誤発動を削減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30" name="dots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2400" b="1" i="0">
                <a:solidFill>
                  <a:srgbClr val="1E2761"/>
                </a:solidFill>
              </a:rPr>
              <a:t>SubAgents ― システム開発でのユースケース</a:t>
            </a:r>
          </a:p>
        </p:txBody>
      </p:sp>
      <p:sp>
        <p:nvSpPr>
          <p:cNvPr id="3" name="sub"/>
          <p:cNvSpPr txBox="1"/>
          <p:nvPr/>
        </p:nvSpPr>
        <p:spPr>
          <a:xfrm>
            <a:off x="457200" y="960000"/>
            <a:ext cx="8229600" cy="33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300" b="0" i="1">
                <a:solidFill>
                  <a:srgbClr val="64748B"/>
                </a:solidFill>
              </a:rPr>
              <a:t>同一セッション内で専門役を並列に分け、独立コンテキストで実行して本体に報告する</a:t>
            </a:r>
          </a:p>
        </p:txBody>
      </p:sp>
      <p:graphicFrame>
        <p:nvGraphicFramePr>
          <p:cNvPr id="20" name="Table"/>
          <p:cNvGraphicFramePr/>
          <p:nvPr/>
        </p:nvGraphicFramePr>
        <p:xfrm>
          <a:off x="457200" y="1380000"/>
          <a:ext cx="8229600" cy="100000"/>
        </p:xfrm>
        <a:graphic>
          <a:graphicData uri="http://schemas.openxmlformats.org/drawingml/2006/table">
            <a:tbl>
              <a:tblPr firstRow="1" bandRow="0"/>
              <a:tblGrid>
                <a:gridCol w="2200000"/>
                <a:gridCol w="3700000"/>
                <a:gridCol w="2329600"/>
              </a:tblGrid>
              <a:tr h="320000"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ユースケース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SubAgent の分け方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1000" b="1" i="0">
                          <a:solidFill>
                            <a:srgbClr val="FFFFFF"/>
                          </a:solidFill>
                        </a:rPr>
                        <a:t>効果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1E2761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並列コードレビュー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セキュリティ / 性能 / 規約を観点別に並列レビュー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観点ごとに専門化し見落としを削減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大規模リファクタリング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パッケージ単位に分割し独立コンテキストで並列改修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コンテキスト肥大を回避し高速化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テスト生成と実行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実装役とは別の SubAgent がテストを作成・実行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実装者バイアスを排除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移行前の影響範囲調査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Explore agent で隔離調査し、本体は汚さない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調査ノイズを本流に持ち込まない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障害調査（ログ横断）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複数ログ源を分担解析し原因候補を報告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並列で切り分けを短縮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ドキュメント追従更新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コード変更に合わせ README / API 仕様を更新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レビューと並行しドリフト防止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1F5F9"/>
                    </a:solidFill>
                  </a:tcPr>
                </a:tc>
              </a:tr>
              <a:tr h="350000">
                <a:tc>
                  <a:txBody>
                    <a:bodyPr/>
                    <a:lstStyle/>
                    <a:p>
                      <a:pPr algn="l"/>
                      <a:r>
                        <a:rPr lang="ja-JP" sz="950" b="1" i="0">
                          <a:solidFill>
                            <a:srgbClr val="1E2761"/>
                          </a:solidFill>
                        </a:rPr>
                        <a:t>依存アップグレード検証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依存ごとに breaking change を調査し可否を報告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ja-JP" sz="950" b="0" i="0">
                          <a:solidFill>
                            <a:srgbClr val="2D3748"/>
                          </a:solidFill>
                        </a:rPr>
                        <a:t>安全なバージョン更新</a:t>
                      </a:r>
                    </a:p>
                  </a:txBody>
                  <a:tcPr marL="73152" marR="73152" marT="16000" marB="16000" anchor="ctr">
                    <a:lnL w="6350">
                      <a:solidFill>
                        <a:srgbClr val="CBD5E1"/>
                      </a:solidFill>
                    </a:lnL>
                    <a:lnR w="6350">
                      <a:solidFill>
                        <a:srgbClr val="CBD5E1"/>
                      </a:solidFill>
                    </a:lnR>
                    <a:lnT w="6350">
                      <a:solidFill>
                        <a:srgbClr val="CBD5E1"/>
                      </a:solidFill>
                    </a:lnT>
                    <a:lnB w="6350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dots"/>
          <p:cNvSpPr txBox="1"/>
          <p:nvPr/>
        </p:nvSpPr>
        <p:spPr>
          <a:xfrm>
            <a:off x="5486400" y="4828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lang="ja-JP" sz="1000" b="0" i="0">
                <a:solidFill>
                  <a:srgbClr val="64748B"/>
                </a:solidFill>
              </a:rPr>
              <a:t>● ● ● ● ● ● ● ○ ○ ○ 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?>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B5C6EB5-D8F0-EA40-A81E-22C5A5B7EB8C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8a0d3b6-460c-40dd-9ae8-7b0e26b1e1f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929</Words>
  <Application>Microsoft Macintosh PowerPoint</Application>
  <PresentationFormat>画面に合わせる (16:9)</PresentationFormat>
  <Paragraphs>159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Meiryo</vt:lpstr>
      <vt:lpstr>Arial</vt:lpstr>
      <vt:lpstr>Arial Black</vt:lpstr>
      <vt:lpstr>Consolas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勉強会 第1回 セキュリティ</dc:title>
  <dc:subject>PptxGenJS Presentation</dc:subject>
  <dc:creator>Koji</dc:creator>
  <cp:lastModifiedBy>晃司 土田</cp:lastModifiedBy>
  <cp:revision>3</cp:revision>
  <dcterms:created xsi:type="dcterms:W3CDTF">2026-04-16T13:35:12Z</dcterms:created>
  <dcterms:modified xsi:type="dcterms:W3CDTF">2026-04-16T22:34:37Z</dcterms:modified>
</cp:coreProperties>
</file>