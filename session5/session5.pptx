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754880" cy="4754880"/>
          </a:xfrm>
          <a:prstGeom prst="ellipse">
            <a:avLst/>
          </a:prstGeom>
          <a:solidFill>
            <a:srgbClr val="3A448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182880"/>
            <a:ext cx="3291840" cy="3291840"/>
          </a:xfrm>
          <a:prstGeom prst="ellipse">
            <a:avLst/>
          </a:prstGeom>
          <a:solidFill>
            <a:srgbClr val="3A4485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3840480"/>
            <a:ext cx="2560320" cy="2560320"/>
          </a:xfrm>
          <a:prstGeom prst="ellipse">
            <a:avLst/>
          </a:prstGeom>
          <a:solidFill>
            <a:srgbClr val="F96167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勉強会  第5回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AIとの仕事の型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確立した開発規律を、</a:t>
            </a:r>
            <a:pPr indent="0" marL="0">
              <a:buNone/>
            </a:pPr>
            <a:r>
              <a:rPr lang="en-US" sz="250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のワークフローにする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SDD・DDD・TDD・計画→実行 を「型」として束ね、タスクを完遂する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4526280"/>
            <a:ext cx="566928" cy="566928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668012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452628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個々の機能を、タスク完遂のワークフローに束ねる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1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2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19" name="Shape 16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20" name="Shape 17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S02 ・ 前回の振り返りと今日の位置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個々の機能から、束ねて「タスクを完遂」へ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30952" cy="2788920"/>
          </a:xfrm>
          <a:prstGeom prst="roundRect">
            <a:avLst>
              <a:gd name="adj" fmla="val 327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12064" cy="51206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768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第4回（前回）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82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 / MCP / スラッシュコマンドで「個々の機能」を理解</a:t>
            </a:r>
            <a:endParaRPr lang="en-US" sz="13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自分の型を資産化した</a:t>
            </a:r>
            <a:endParaRPr lang="en-US" sz="13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コンテキストは設計対象。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ファイルに残す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ことで揮発を防ぐ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1072" y="1874520"/>
            <a:ext cx="5330952" cy="2788920"/>
          </a:xfrm>
          <a:prstGeom prst="roundRect">
            <a:avLst>
              <a:gd name="adj" fmla="val 327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2148840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768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今日（第5回）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92824" y="2834640"/>
            <a:ext cx="4782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機能を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束ねてタスクを完遂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する話</a:t>
            </a:r>
            <a:endParaRPr lang="en-US" sz="13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確立した規律（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SDD/DDD/TDD/計画→実行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）を Claude Code のワークフローに</a:t>
            </a:r>
            <a:endParaRPr lang="en-US" sz="13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1つのコンテキストを設計できて初めて、複数を束ねられる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今日のゴール：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「型」＝SDD＋コンテキスト設計 を、Claude Code の機能でワークフローにする。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3" name="Shape 19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5" name="Shape 21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Text 22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S03 ・ まず現在地（成熟度の3フェーズ）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バイブ → 型 → 複数エージェント。今日は「型」を作る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CEEF4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4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462686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バイブコーディング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4818888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自然言語で即コード生成。試作には最適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4256" y="3154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0288" y="36667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型（SDD ＋ コンテキスト設計）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3995928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バイブの次のフェーズ。規律をワークフロー化しタスクを完遂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37376" y="30449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50800" dist="12700" dir="5400000">
              <a:srgbClr val="F96167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21945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3F6FD"/>
          </a:solidFill>
          <a:ln w="19050">
            <a:solidFill>
              <a:srgbClr val="CADCFC"/>
            </a:solidFill>
            <a:prstDash val="dash"/>
          </a:ln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84464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84464" y="27066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複数エージェント / ループ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3172968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さらに次のフェーズ。ハーネス・Agent Teams（第6回の後）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バイブは試作に最適。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だが業務には「型」が要る。型ができて初めて、複数エージェントが射程に入る。今日はその「型」を作る。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8" name="Shape 26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0" name="Text 28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S04 ・ やりがちなこと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「頼めばすぐ動く」。型がないと、ここで崩れる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309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2938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07111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E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91056" y="193852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場当たり的な実装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7824" y="2651760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全体像を描かず、思いついた機能を次々と追加する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81928" y="1627632"/>
            <a:ext cx="53309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4536" y="192938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268" y="2071116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9848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E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306056" y="193852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AIとの合意形成不足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92824" y="2651760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何を・どう作るかの共通理解がないまま進む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3666744"/>
            <a:ext cx="53309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396849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11022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E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591056" y="397764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低品質コードの増加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77824" y="469087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脆弱な実装になったまま放置される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81928" y="3666744"/>
            <a:ext cx="53309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74536" y="3968496"/>
            <a:ext cx="566928" cy="566928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411022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E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7306056" y="397764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コンテキストの汚染・肥大化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92824" y="469087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 を盛りすぎ、使わない MCP を入れたまま食い潰す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これらは「バイブのまま」の失敗。答えは</a:t>
            </a:r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規律をワークフローにすること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。SDD はこの失敗への回答として生まれた。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Shape 25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Shape 26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Shape 27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Shape 28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Shape 29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6" name="Shape 30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7" name="Shape 31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8" name="Shape 32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9" name="Shape 33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0" name="Text 34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S05 ・ 今日の軸（横断）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F9616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22992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コンテキスト最適化とモデル選択 ― ワークフロー全体に効く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30952" cy="2788920"/>
          </a:xfrm>
          <a:prstGeom prst="roundRect">
            <a:avLst>
              <a:gd name="adj" fmla="val 327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48840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768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コンテキスト最適化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コンテキストは有限。やり取りで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右肩上がり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に増える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開始時に CLAUDE.md / MCP が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5〜10% を占有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すると後が効かない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入出力にコスト ＝ 最適化はコスト最適化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91072" y="1874520"/>
            <a:ext cx="5330952" cy="2788920"/>
          </a:xfrm>
          <a:prstGeom prst="roundRect">
            <a:avLst>
              <a:gd name="adj" fmla="val 32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2824" y="2148840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768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モデル選択（Opus Plan）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92824" y="278892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計画・仕様は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Opus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で深く考える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実装の反復は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Sonnet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（速く・安く）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簡単な探索は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Haiku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1セッション内の切替は重い→役割で分ける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92824" y="4270248"/>
            <a:ext cx="4937760" cy="292608"/>
          </a:xfrm>
          <a:prstGeom prst="roundRect">
            <a:avLst>
              <a:gd name="adj" fmla="val 18750"/>
            </a:avLst>
          </a:prstGeom>
          <a:solidFill>
            <a:srgbClr val="0F1434"/>
          </a:solidFill>
          <a:ln/>
        </p:spPr>
      </p:sp>
      <p:sp>
        <p:nvSpPr>
          <p:cNvPr id="17" name="Text 13"/>
          <p:cNvSpPr/>
          <p:nvPr/>
        </p:nvSpPr>
        <p:spPr>
          <a:xfrm>
            <a:off x="6665976" y="427024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opus-plan   （計画=Opus / 実装=Sonnet）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コンテキストは設計対象、モデルは作業で使い分け。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この2つが、これから作るワークフロー全体の土台になる。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0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2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Shape 23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8" name="Shape 24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9" name="Shape 25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0" name="Text 26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S06 ・ プロンプトキャッシュとは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何を保存し、いつ効くのか ― 新しい概念を具体例で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4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毎回コンテキストは送り直す。が、モデルが一度読んだ「処理済みの状態」を一時保存して使い回す仕組み。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84832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何を保存している？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送るコンテキストの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：System＋ツール定義＋CLAUDE.md＋会話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それをモデルが読んだ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処理済みの状態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を保存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「文章」ではなく「処理結果」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を保存している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有効期間は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 約5分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（使うたび延長）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92824" y="2084832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12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いつ効く？（具体例）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92824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例：毎回 CLAUDE.md＋会話を送る ＝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先頭が同じ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1回目 … 全部を前処理（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満額・遅い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2回目以降（5分以内）… 先頭は読むだけ →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コスト約1/10・高速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効く条件 ＝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同じセッションで連続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、先頭を変えない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ヒット＝コスト約1割＋高速。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ミス（先頭を変える／5分超／モデル切替）は先頭から全部作り直し（満額）。次ページで「どこを変えると壊れるか」を見る。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3" name="Shape 19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5" name="Shape 21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2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Text 23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S07 ・ コンテキストの4層モデル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どこを変えると作り直しになるか（再計算コスト）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4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前ページの通り、キャッシュは「先頭から」効く。だから上の層を変えると、そこから下が全部作り直し ＝ コスト増・遅延。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019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System（最コア）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9019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モデルそのもの。切り替えると全キャッシュが再計算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688336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7614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76148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MCP・プラグイン。追加／削除・更新でここから下が再計算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54787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3A4485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62102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 / Skills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362102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変更・スキル追加でここから下が再計算。常時ロードはこの層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407408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E7EEFB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4805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Message（影響小）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448056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との会話。末尾だけなので最も軽い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4640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64040" y="20848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再計算コスト 大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上を変えるほど広い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561320" y="2697480"/>
            <a:ext cx="0" cy="1371600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46404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74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再計算コスト 小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74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末尾だけで済む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64040" y="4736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4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失われるのは記憶ではなくキャッシュ（既定TTL約5分）。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目的はコストと速度 → 上の層（CLAUDE.md・MCP・モデル）を不用意に変えず、モデルは役割で分ける（Opus Plan）。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1" name="Shape 29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2" name="Shape 30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4" name="Text 32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S08 ・ タスク完遂のワークフロー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F9616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22992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確立した規律を、Claude Code の機能で束ねる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21122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5880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" y="326440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仕様駆動(SDD)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630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Mode＋Ask User → spec.md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15184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16352" y="187452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75304" y="21122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75304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89504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設計を残す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26080" y="326440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ドメイン駆動(DDD)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44368" y="3630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CLAUDE.md・Skills に文書化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64608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65776" y="187452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24728" y="21122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2472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38928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計画→実行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75504" y="326440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計画して実行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93792" y="3630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plan.md → サブエージェント実装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14032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315200" y="187452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74152" y="21122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74152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88352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24928" y="326440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テスト駆動(TDD)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43216" y="3630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失敗するテストを先に書く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63456" y="2697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564624" y="187452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23576" y="2112264"/>
            <a:ext cx="548640" cy="5486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323576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37776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674352" y="326440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品質ゲート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92640" y="3630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/code-review ＋ 人間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仕様→計画→実装→テスト→レビュー。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仕様が単一の真実、各ステップ間に人間。次の3枚で各フェーズを掘る。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Shape 41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Shape 42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Shape 45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9" name="Shape 47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50" name="Shape 48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51" name="Shape 49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52" name="Text 50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S09 ・ ワークフロー詳細①｜設計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F9616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22992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要件(SDD) と 設計の文書化(DDD) ― 書いてから作る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要件 ＝ SDD（仕様駆動開発）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Shift+Tab で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Mode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に入る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explore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（読み取り専用）でコードベース把握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Ask User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で不明点ゼロまで詰める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docs/spec.md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に保存＝仕様が単一の真実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2824" y="2084832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128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設計を残す ＝ DDD（ドメイン駆動設計）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92824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チームとAIで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目的・設計を共有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文書化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何を：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用語・設計判断・なぜそうしたか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どこに：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CLAUDE.md（200行）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＋詳細は Skills/docs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/ GitLab を MCP か Skill に登録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：コミット・PR・決定を残す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ズレたら「仕様」を直す（チャット履歴ではなく）。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仕様とドメインモデルが、以降の全工程の拠り所になる。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5" name="Shape 21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2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Shape 23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8" name="Text 24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S10 ・ ワークフロー詳細②｜計画してから実行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F9616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22992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→ execute ― 「作る工程」をサブエージェントで自動化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計画（実行の前に）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仕様を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番号付きタスク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に分解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docs/plan.md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に範囲・完了基準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計画は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Opus で深く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（Opus Plan）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2824" y="2084832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128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実行（何をサブエージェントに）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92824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何をサブエージェントに？ ＝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独立して完結する単位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：Explore（読み取り専用）でコードベース調査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：plan.md の1タスク＝1エージェント＝1コミット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テスト生成・局所リファクタ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なども委譲できる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計画は実行の前、実装はサブエージェントに委譲。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コンテキストが崩れたら </a:t>
            </a:r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/clear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して仕様から再開する。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5" name="Shape 21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2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Shape 23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8" name="Text 24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S11 ・ ワークフロー詳細③｜品質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F9616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22992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テスト(TDD) と レビュー ― 動く ≠ 正しい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テスト ＝ TDD（テスト駆動開発）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は放置すると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実装を先に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「失敗するテストを先に」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と明示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 → Green → Refactor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エッジ・性能・脆弱性の穴を埋める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2824" y="2084832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128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レビュー（品質ゲート）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92824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各ステップ間に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人間ゲート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/code-review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で下読み → 最後に通し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データ永続化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に関わる箇所が最クリティカル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仕様がズレていたら仕様を直す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テストはAIの「明確な的」。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5フェーズが回れば、作業を他人にも複数エージェントにも渡せる。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5" name="Shape 21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2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Shape 23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8" name="Text 24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S12 ・ 金融機関で使うなら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F9616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22992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2つだけ具体的に：MCPは慎重に・設定は管理者が固める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CE7E8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MCP を使うのは慎重に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 MCP は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玉石混交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 poisoning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（説明文の隠し指示）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承認済みサーバーへの不正アップデートも侵入経路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導入前に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監査＋バージョンピン＋最小権限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 MCP より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自前の Skill＋API を優先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91072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2824" y="2084832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128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設定は管理者側で固める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92824" y="26974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managed-settings.json / managed-mcp.json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で集中管理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MDM・Intune・GPO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で配布（ユーザー上書き不可）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許可リストのみ起動・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deny 優先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マーケットプレイスは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strictKnownMarketplaces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で限定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92824" y="4261104"/>
            <a:ext cx="4023360" cy="292608"/>
          </a:xfrm>
          <a:prstGeom prst="roundRect">
            <a:avLst>
              <a:gd name="adj" fmla="val 18750"/>
            </a:avLst>
          </a:prstGeom>
          <a:solidFill>
            <a:srgbClr val="0F1434"/>
          </a:solidFill>
          <a:ln/>
        </p:spPr>
      </p:sp>
      <p:sp>
        <p:nvSpPr>
          <p:cNvPr id="17" name="Text 13"/>
          <p:cNvSpPr/>
          <p:nvPr/>
        </p:nvSpPr>
        <p:spPr>
          <a:xfrm>
            <a:off x="6665976" y="42611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allowManagedMcpServersOnly: true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CE7E8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鉄則は「監査して・固定して・最小権限で」。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便利さは</a:t>
            </a:r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管理された範囲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の中で取りに行く。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0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Shape 22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7" name="Shape 23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8" name="Shape 24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9" name="Shape 25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30" name="Text 26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S13 ・ 標準SDDワークフロー（手順）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この手順を実演で通す（8分）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30952" cy="3703320"/>
          </a:xfrm>
          <a:prstGeom prst="roundRect">
            <a:avLst>
              <a:gd name="adj" fmla="val 246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前半：仕様をつくる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" y="2560320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5054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機能説明を貼る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3127248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968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0723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Shift+Tab で Plan Mode に入る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3694176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696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36393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コードベースを調べ、仕様を起こす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" y="4261104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42062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不足を質問させる（Ask User）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" y="4828032"/>
            <a:ext cx="365760" cy="3657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696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9888" y="477316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docs/spec-&lt;feature&gt;.md に保存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1072" y="1828800"/>
            <a:ext cx="5330952" cy="3703320"/>
          </a:xfrm>
          <a:prstGeom prst="roundRect">
            <a:avLst>
              <a:gd name="adj" fmla="val 246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92824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後半：実装してレビュー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11112" y="2560320"/>
            <a:ext cx="365760" cy="3657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11112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14032" y="25054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サブエージェントで 1タスク＝1コミット 実装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1112" y="3127248"/>
            <a:ext cx="365760" cy="3657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1111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14032" y="30723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コミットをレビュー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1112" y="3694176"/>
            <a:ext cx="365760" cy="3657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1111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14032" y="36393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ズレたら仕様を直す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11112" y="4261104"/>
            <a:ext cx="365760" cy="3657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1111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14032" y="42062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/clear して仕様から再開 → 最終レビュー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仕様が単一の真実。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ズレたら仕様を直し、コンテキストが崩れたら /clear して仕様から再開する。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Shape 36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Shape 37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4" name="Shape 42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5" name="Shape 43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6" name="Shape 44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47" name="Text 45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3A448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03504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754380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6217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確立した規律を、Claude Code の</a:t>
            </a:r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ワークフロー</a:t>
            </a:r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にする：</a:t>
            </a:r>
            <a:endParaRPr lang="en-US" sz="2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仕様(SDD)→計画→実装→テスト(TDD)→レビュー</a:t>
            </a:r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、各ステップ間に人間。</a:t>
            </a:r>
            <a:endParaRPr lang="en-US" sz="2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コンテキストは設計し（CLAUDE.md/Skills・Opus Plan）、金融では</a:t>
            </a:r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管理者が調達を固める</a:t>
            </a:r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この「型」ができて初めて、複数エージェントが射程に入る。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2700">
            <a:solidFill>
              <a:srgbClr val="3A44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38039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チェック項目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21538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9032" y="4151376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「型＝SDD＋コンテキスト設計」をワークフローとして説明できる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4573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99032" y="4681728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仕様→計画→実装→テスト→レビューの各フェーズと使う機能が言える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27608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99032" y="5212080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サブエージェント＝実装の自動化、Plan Mode＝実行前の計画、と区別できる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1538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39712" y="4151376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コンテキスト最適化とモデル選択（Opus Plan）の勘所がわかる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745736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39712" y="468172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金融：MCPは慎重に、設定は管理者が managed で固める、を説明できる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Shape 12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Shape 13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Shape 14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Shape 15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Shape 16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25" name="Shape 17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26" name="Shape 18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27" name="Shape 19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  <p:sp>
        <p:nvSpPr>
          <p:cNvPr id="28" name="Shape 20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3A4485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S15 ・ 次回予告とロードマップ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 第6回「ログ/トレース」― 動いた ≠ 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512064" cy="51206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第6回「ログ/トレース」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従来システム監視 vs 生成AI監視の違い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Langfuse のコア（Trace / Evaluate / Prompt CMS）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評価指標（LLM-as-a-Judge / 回帰テスト）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のトレース実装 ＋ デバッグ実演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91072" y="1828800"/>
            <a:ext cx="5330952" cy="2834640"/>
          </a:xfrm>
          <a:prstGeom prst="roundRect">
            <a:avLst>
              <a:gd name="adj" fmla="val 3226"/>
            </a:avLst>
          </a:prstGeom>
          <a:solidFill>
            <a:srgbClr val="F3F6FD"/>
          </a:solidFill>
          <a:ln w="19050">
            <a:solidFill>
              <a:srgbClr val="CADCFC"/>
            </a:solidFill>
            <a:prstDash val="dash"/>
          </a:ln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2824" y="2084832"/>
            <a:ext cx="512064" cy="51206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1284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その先（トレースの後で）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92824" y="27432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ハーネスエンジニアリング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：単一エージェントの外枠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 Teams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：独立コンテキストの協調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ループエンジニアリング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：回る仕組みを設計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実ユースケースと共に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紹介予定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579729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5400000">
              <a:srgbClr val="1A215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79729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「観測できる」状態を土台に、</a:t>
            </a:r>
            <a:pPr indent="0" marL="0">
              <a:buNone/>
            </a:pPr>
            <a:r>
              <a:rPr lang="en-US" sz="135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複数エージェントの実践</a:t>
            </a:r>
            <a:pPr indent="0" marL="0">
              <a:buNone/>
            </a:pPr>
            <a:r>
              <a:rPr lang="en-US" sz="135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へ。今日見た「次のフェーズ」とこのロードマップがその布石。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13892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5340096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5541264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742432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943600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6144768" y="6547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6345936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3" name="Shape 19"/>
          <p:cNvSpPr/>
          <p:nvPr/>
        </p:nvSpPr>
        <p:spPr>
          <a:xfrm>
            <a:off x="6547104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6748272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5" name="Shape 21"/>
          <p:cNvSpPr/>
          <p:nvPr/>
        </p:nvSpPr>
        <p:spPr>
          <a:xfrm>
            <a:off x="6949440" y="6547104"/>
            <a:ext cx="100584" cy="100584"/>
          </a:xfrm>
          <a:prstGeom prst="ellipse">
            <a:avLst/>
          </a:prstGeom>
          <a:solidFill>
            <a:srgbClr val="D6DAEA"/>
          </a:solidFill>
          <a:ln/>
        </p:spPr>
      </p:sp>
      <p:sp>
        <p:nvSpPr>
          <p:cNvPr id="26" name="Text 22"/>
          <p:cNvSpPr/>
          <p:nvPr/>
        </p:nvSpPr>
        <p:spPr>
          <a:xfrm>
            <a:off x="10881360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・ 実践TIPS集（第5回対応）　1 /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1/2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コンテキスト最適化と、タスク完遂のワークフロー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36208" y="1572768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72184" y="1828800"/>
            <a:ext cx="3044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コンテキスト最適化・モデル選択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1892808"/>
            <a:ext cx="1060704" cy="365760"/>
          </a:xfrm>
          <a:prstGeom prst="roundRect">
            <a:avLst>
              <a:gd name="adj" fmla="val 2500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92808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S5–S7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6968" y="2432304"/>
            <a:ext cx="47731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/context で定期点検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：開始時の占有を確認、未使用 MCP は無効化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20〜30% で /clear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：膨らんだらクリア。脱線時は Escape→/clear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ハンドオーバー運用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：引き継ぎ Markdown を出し新セッションへ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 は200行以内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：条件付きロードでさらに削る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Opus Plan（model: opus-plan）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：計画=Opus / 実装=Sonnet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モデル切替は役割で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：同一セッション内の切替は全再計算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41464" y="1828800"/>
            <a:ext cx="3044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5つの規律＝ワークフロー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87000" y="1892808"/>
            <a:ext cx="1060704" cy="365760"/>
          </a:xfrm>
          <a:prstGeom prst="roundRect">
            <a:avLst>
              <a:gd name="adj" fmla="val 25000"/>
            </a:avLst>
          </a:prstGeom>
          <a:solidFill>
            <a:srgbClr val="E7EE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0" y="1892808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S8–S11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56248" y="2432304"/>
            <a:ext cx="47731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要件(SDD)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：Plan Mode＋explore＋Ask User → spec.md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設計を残す(DDD)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：CLAUDE.md・Skills＋GitHub/GitLab(MCP/Skill)に残す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計画→実行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：plan.md → サブエージェントで1タスク=1コミット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テスト(TDD)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：失敗するテストを先に。Red→Green→Refactor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レビュー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：/code-review＋人間ゲート、永続化を重点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ズレたら仕様を直す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：チャット履歴ではなく spec を修正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・ 実践TIPS集（第5回対応）　2 /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2/2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金融での運用と、コスト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72184" y="1828800"/>
            <a:ext cx="3044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金融機関で安全に運用する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17720" y="1892808"/>
            <a:ext cx="1060704" cy="365760"/>
          </a:xfrm>
          <a:prstGeom prst="roundRect">
            <a:avLst>
              <a:gd name="adj" fmla="val 25000"/>
            </a:avLst>
          </a:prstGeom>
          <a:solidFill>
            <a:srgbClr val="E7EEF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92808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86968" y="2432304"/>
            <a:ext cx="47731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 は慎重に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：玉石混交・tool poisoning・不正アップデート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導入前に監査＋バージョンピン＋最小権限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 MCP より Skill＋API を優先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managed-settings / managed-mcp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 MDM・Intune・GPO で配布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allowManagedMcpServersOnly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：許可リストのみ・deny 優先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strictKnownMarketplaces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：マーケットプレイスを限定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14300" dist="38100" dir="5400000">
              <a:srgbClr val="1A215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A215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41464" y="1828800"/>
            <a:ext cx="3044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コストを意識する（横断）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87000" y="1892808"/>
            <a:ext cx="1060704" cy="365760"/>
          </a:xfrm>
          <a:prstGeom prst="roundRect">
            <a:avLst>
              <a:gd name="adj" fmla="val 25000"/>
            </a:avLst>
          </a:prstGeom>
          <a:solidFill>
            <a:srgbClr val="E7EE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0" y="1892808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56248" y="2432304"/>
            <a:ext cx="47731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入力・出力にコスト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。Opus は Sonnet の約5倍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effort 使い分け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：複雑=Opus／実装=Sonnet／簡単=Haiku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4層キャッシュを壊さない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：モデル切替・MCP入替は重い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既定TTLは約5分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：間が空くと再計算（コスト増）</a:t>
            </a:r>
            <a:endParaRPr lang="en-US" sz="12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  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/clear と引き継ぎ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7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で長セッションのコストを抑える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第5回 ― AIとの仕事の型</dc:title>
  <dc:subject>PptxGenJS Presentation</dc:subject>
  <dc:creator>Koji</dc:creator>
  <cp:lastModifiedBy>Koji</cp:lastModifiedBy>
  <cp:revision>1</cp:revision>
  <dcterms:created xsi:type="dcterms:W3CDTF">2026-06-14T13:03:03Z</dcterms:created>
  <dcterms:modified xsi:type="dcterms:W3CDTF">2026-06-14T13:03:03Z</dcterms:modified>
</cp:coreProperties>
</file>