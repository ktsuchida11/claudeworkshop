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280160"/>
            <a:ext cx="4206240" cy="4206240"/>
          </a:xfrm>
          <a:prstGeom prst="ellipse">
            <a:avLst/>
          </a:prstGeom>
          <a:solidFill>
            <a:srgbClr val="26306E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-457200"/>
            <a:ext cx="2743200" cy="2743200"/>
          </a:xfrm>
          <a:prstGeom prst="ellipse">
            <a:avLst/>
          </a:prstGeom>
          <a:solidFill>
            <a:srgbClr val="2C378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502920"/>
            <a:ext cx="713232" cy="713232"/>
          </a:xfrm>
          <a:prstGeom prst="ellipse">
            <a:avLst/>
          </a:prstGeom>
          <a:solidFill>
            <a:srgbClr val="2C378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2640" y="688360"/>
            <a:ext cx="342351" cy="34235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4173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ADCF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番外編（第3回と第4回の間）· セキュリティ比較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173736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VS Code AIエージェントの</a:t>
            </a:r>
            <a:endParaRPr lang="en-US" sz="3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セキュリティ比較</a:t>
            </a:r>
            <a:endParaRPr lang="en-US" sz="3100" dirty="0"/>
          </a:p>
        </p:txBody>
      </p:sp>
      <p:sp>
        <p:nvSpPr>
          <p:cNvPr id="8" name="Shape 5"/>
          <p:cNvSpPr/>
          <p:nvPr/>
        </p:nvSpPr>
        <p:spPr>
          <a:xfrm>
            <a:off x="457200" y="3246120"/>
            <a:ext cx="64008" cy="457200"/>
          </a:xfrm>
          <a:prstGeom prst="rect">
            <a:avLst/>
          </a:prstGeom>
          <a:solidFill>
            <a:srgbClr val="FFC800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32004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C8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守りの硬さは境界で決まる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457200" y="3977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GitHub Copilot 拡張</a:t>
            </a:r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  / 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Claude Code 拡張</a:t>
            </a:r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  / 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Claude Code DevContainer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Windows／エンタープライズ環境を前提に：個人の安全運用から、組織のガバナンスへ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E276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用語ミニ辞典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この回で出てくるカタカナ語5つ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147304" y="4832604"/>
            <a:ext cx="82296" cy="82296"/>
          </a:xfrm>
          <a:prstGeom prst="ellipse">
            <a:avLst/>
          </a:prstGeom>
          <a:solidFill>
            <a:srgbClr val="FFC800"/>
          </a:solidFill>
          <a:ln/>
        </p:spPr>
      </p:sp>
      <p:sp>
        <p:nvSpPr>
          <p:cNvPr id="5" name="Shape 3"/>
          <p:cNvSpPr/>
          <p:nvPr/>
        </p:nvSpPr>
        <p:spPr>
          <a:xfrm>
            <a:off x="8293608" y="4832604"/>
            <a:ext cx="82296" cy="82296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6" name="Shape 4"/>
          <p:cNvSpPr/>
          <p:nvPr/>
        </p:nvSpPr>
        <p:spPr>
          <a:xfrm>
            <a:off x="8439912" y="4832604"/>
            <a:ext cx="82296" cy="82296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7" name="Shape 5"/>
          <p:cNvSpPr/>
          <p:nvPr/>
        </p:nvSpPr>
        <p:spPr>
          <a:xfrm>
            <a:off x="8586216" y="4832604"/>
            <a:ext cx="82296" cy="82296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8" name="Shape 6"/>
          <p:cNvSpPr/>
          <p:nvPr/>
        </p:nvSpPr>
        <p:spPr>
          <a:xfrm>
            <a:off x="8732520" y="4832604"/>
            <a:ext cx="82296" cy="82296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9" name="Shape 7"/>
          <p:cNvSpPr/>
          <p:nvPr/>
        </p:nvSpPr>
        <p:spPr>
          <a:xfrm>
            <a:off x="411480" y="1097280"/>
            <a:ext cx="64008" cy="60350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1124712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プロンプトインジェクション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840480" y="1124712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入力に紛れた“見えない指示”でAIの挙動を乗っ取る攻撃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1810512"/>
            <a:ext cx="64008" cy="603504"/>
          </a:xfrm>
          <a:prstGeom prst="rect">
            <a:avLst/>
          </a:prstGeom>
          <a:solidFill>
            <a:srgbClr val="3A4DA6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1837944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エージェントモード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840480" y="1837944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AIがファイル編集やコマンド実行まで自走するモード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2523744"/>
            <a:ext cx="64008" cy="603504"/>
          </a:xfrm>
          <a:prstGeom prst="rect">
            <a:avLst/>
          </a:prstGeom>
          <a:solidFill>
            <a:srgbClr val="2E8B6F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2551176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サンドボックス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840480" y="2551176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OSレベルでファイル/通信を隔離し、外に出させない仕組み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3236976"/>
            <a:ext cx="64008" cy="603504"/>
          </a:xfrm>
          <a:prstGeom prst="rect">
            <a:avLst/>
          </a:prstGeom>
          <a:solidFill>
            <a:srgbClr val="B26A2B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" y="3264408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WSL2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840480" y="3264408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Windows上で動くLinux環境。両者のサンドボックス（bubblewrap）はここで動く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1480" y="3950208"/>
            <a:ext cx="64008" cy="60350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566928" y="39776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マネージド設定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840480" y="3977640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管理者が配布し、ユーザーが上書きできない最優先の設定（Intune/GPO）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E276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全体マップ / 今日の位置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個人の安全運用から、組織のガバナンスへ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147304" y="4832604"/>
            <a:ext cx="82296" cy="82296"/>
          </a:xfrm>
          <a:prstGeom prst="ellipse">
            <a:avLst/>
          </a:prstGeom>
          <a:solidFill>
            <a:srgbClr val="FFC800"/>
          </a:solidFill>
          <a:ln/>
        </p:spPr>
      </p:sp>
      <p:sp>
        <p:nvSpPr>
          <p:cNvPr id="5" name="Shape 3"/>
          <p:cNvSpPr/>
          <p:nvPr/>
        </p:nvSpPr>
        <p:spPr>
          <a:xfrm>
            <a:off x="8293608" y="4832604"/>
            <a:ext cx="82296" cy="82296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6" name="Shape 4"/>
          <p:cNvSpPr/>
          <p:nvPr/>
        </p:nvSpPr>
        <p:spPr>
          <a:xfrm>
            <a:off x="8439912" y="4832604"/>
            <a:ext cx="82296" cy="82296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7" name="Shape 5"/>
          <p:cNvSpPr/>
          <p:nvPr/>
        </p:nvSpPr>
        <p:spPr>
          <a:xfrm>
            <a:off x="8586216" y="4832604"/>
            <a:ext cx="82296" cy="82296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8" name="Shape 6"/>
          <p:cNvSpPr/>
          <p:nvPr/>
        </p:nvSpPr>
        <p:spPr>
          <a:xfrm>
            <a:off x="8732520" y="4832604"/>
            <a:ext cx="82296" cy="82296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9" name="Shape 7"/>
          <p:cNvSpPr/>
          <p:nvPr/>
        </p:nvSpPr>
        <p:spPr>
          <a:xfrm>
            <a:off x="411480" y="1234440"/>
            <a:ext cx="27432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1234440"/>
            <a:ext cx="64008" cy="1965960"/>
          </a:xfrm>
          <a:prstGeom prst="rect">
            <a:avLst/>
          </a:prstGeom>
          <a:solidFill>
            <a:srgbClr val="2E8B6F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1463040"/>
            <a:ext cx="548640" cy="548640"/>
          </a:xfrm>
          <a:prstGeom prst="ellipse">
            <a:avLst/>
          </a:prstGeom>
          <a:solidFill>
            <a:srgbClr val="2E8B6F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2726" y="1605686"/>
            <a:ext cx="263347" cy="263347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2377440" y="1380744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E2E8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01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1280160" y="150876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分ける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40080" y="210312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動作環境・権限をメインから分離（信頼境界）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40080" y="2889504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8B6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今日扱う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3401568" y="1234440"/>
            <a:ext cx="27432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6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401568" y="1234440"/>
            <a:ext cx="64008" cy="1965960"/>
          </a:xfrm>
          <a:prstGeom prst="rect">
            <a:avLst/>
          </a:prstGeom>
          <a:solidFill>
            <a:srgbClr val="3A4DA6"/>
          </a:solidFill>
          <a:ln/>
        </p:spPr>
      </p:sp>
      <p:sp>
        <p:nvSpPr>
          <p:cNvPr id="19" name="Shape 16"/>
          <p:cNvSpPr/>
          <p:nvPr/>
        </p:nvSpPr>
        <p:spPr>
          <a:xfrm>
            <a:off x="3630168" y="1463040"/>
            <a:ext cx="548640" cy="548640"/>
          </a:xfrm>
          <a:prstGeom prst="ellipse">
            <a:avLst/>
          </a:prstGeom>
          <a:solidFill>
            <a:srgbClr val="3A4DA6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2814" y="1605686"/>
            <a:ext cx="263347" cy="263347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367528" y="1380744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E2E8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02</a:t>
            </a:r>
            <a:endParaRPr lang="en-US" sz="2000" dirty="0"/>
          </a:p>
        </p:txBody>
      </p:sp>
      <p:sp>
        <p:nvSpPr>
          <p:cNvPr id="22" name="Text 18"/>
          <p:cNvSpPr/>
          <p:nvPr/>
        </p:nvSpPr>
        <p:spPr>
          <a:xfrm>
            <a:off x="4270248" y="150876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防ぐ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3630168" y="210312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悪意を入れない・意図しない操作を止める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3630168" y="2889504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8B6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今日扱う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6391656" y="1234440"/>
            <a:ext cx="27432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6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6391656" y="1234440"/>
            <a:ext cx="64008" cy="196596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7" name="Shape 23"/>
          <p:cNvSpPr/>
          <p:nvPr/>
        </p:nvSpPr>
        <p:spPr>
          <a:xfrm>
            <a:off x="6620256" y="1463040"/>
            <a:ext cx="548640" cy="548640"/>
          </a:xfrm>
          <a:prstGeom prst="ellipse">
            <a:avLst/>
          </a:prstGeom>
          <a:solidFill>
            <a:srgbClr val="64748B"/>
          </a:solidFill>
          <a:ln/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902" y="1605686"/>
            <a:ext cx="263347" cy="263347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8357616" y="1380744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E2E8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03</a:t>
            </a:r>
            <a:endParaRPr lang="en-US" sz="2000" dirty="0"/>
          </a:p>
        </p:txBody>
      </p:sp>
      <p:sp>
        <p:nvSpPr>
          <p:cNvPr id="30" name="Text 25"/>
          <p:cNvSpPr/>
          <p:nvPr/>
        </p:nvSpPr>
        <p:spPr>
          <a:xfrm>
            <a:off x="7260336" y="150876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残す</a:t>
            </a:r>
            <a:endParaRPr lang="en-US" sz="1600" dirty="0"/>
          </a:p>
        </p:txBody>
      </p:sp>
      <p:sp>
        <p:nvSpPr>
          <p:cNvPr id="31" name="Text 26"/>
          <p:cNvSpPr/>
          <p:nvPr/>
        </p:nvSpPr>
        <p:spPr>
          <a:xfrm>
            <a:off x="6620256" y="210312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行動ログを記録し、監査・評価できる状態に</a:t>
            </a:r>
            <a:endParaRPr lang="en-US" sz="1000" dirty="0"/>
          </a:p>
        </p:txBody>
      </p:sp>
      <p:sp>
        <p:nvSpPr>
          <p:cNvPr id="32" name="Text 27"/>
          <p:cNvSpPr/>
          <p:nvPr/>
        </p:nvSpPr>
        <p:spPr>
          <a:xfrm>
            <a:off x="6620256" y="2889504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7791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監査で登場</a:t>
            </a:r>
            <a:endParaRPr lang="en-US" sz="900" dirty="0"/>
          </a:p>
        </p:txBody>
      </p:sp>
      <p:sp>
        <p:nvSpPr>
          <p:cNvPr id="33" name="Shape 28"/>
          <p:cNvSpPr/>
          <p:nvPr/>
        </p:nvSpPr>
        <p:spPr>
          <a:xfrm>
            <a:off x="411480" y="3520440"/>
            <a:ext cx="8321040" cy="1143000"/>
          </a:xfrm>
          <a:prstGeom prst="rect">
            <a:avLst/>
          </a:prstGeom>
          <a:solidFill>
            <a:srgbClr val="F4F6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594360" y="3630168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番外編の位置づけ</a:t>
            </a:r>
            <a:endParaRPr lang="en-US" sz="1200" dirty="0"/>
          </a:p>
        </p:txBody>
      </p:sp>
      <p:sp>
        <p:nvSpPr>
          <p:cNvPr id="35" name="Text 30"/>
          <p:cNvSpPr/>
          <p:nvPr/>
        </p:nvSpPr>
        <p:spPr>
          <a:xfrm>
            <a:off x="594360" y="3904488"/>
            <a:ext cx="7955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第2回「分ける（DevContainer）」・第3回「防ぐ（settings.json / Permission・Sandbox・Hooks）」で学んだ防御を、今日は Copilot と並べて「同じことができるか・どう止め方が違うか」を確かめる。さらに組織で効かせる視点（配布・改竄耐性）まで広げる。次回（第4回）は自動化・共有＝Skills へ。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E276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今日の主題 ★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比較の枠組み：3形態 × 4つの観点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147304" y="4832604"/>
            <a:ext cx="82296" cy="82296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5" name="Shape 3"/>
          <p:cNvSpPr/>
          <p:nvPr/>
        </p:nvSpPr>
        <p:spPr>
          <a:xfrm>
            <a:off x="8293608" y="4832604"/>
            <a:ext cx="82296" cy="82296"/>
          </a:xfrm>
          <a:prstGeom prst="ellipse">
            <a:avLst/>
          </a:prstGeom>
          <a:solidFill>
            <a:srgbClr val="FFC800"/>
          </a:solidFill>
          <a:ln/>
        </p:spPr>
      </p:sp>
      <p:sp>
        <p:nvSpPr>
          <p:cNvPr id="6" name="Shape 4"/>
          <p:cNvSpPr/>
          <p:nvPr/>
        </p:nvSpPr>
        <p:spPr>
          <a:xfrm>
            <a:off x="8439912" y="4832604"/>
            <a:ext cx="82296" cy="82296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7" name="Shape 5"/>
          <p:cNvSpPr/>
          <p:nvPr/>
        </p:nvSpPr>
        <p:spPr>
          <a:xfrm>
            <a:off x="8586216" y="4832604"/>
            <a:ext cx="82296" cy="82296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8" name="Shape 6"/>
          <p:cNvSpPr/>
          <p:nvPr/>
        </p:nvSpPr>
        <p:spPr>
          <a:xfrm>
            <a:off x="8732520" y="4832604"/>
            <a:ext cx="82296" cy="82296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097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観点 \ 形態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331720" y="1097280"/>
            <a:ext cx="2121408" cy="411480"/>
          </a:xfrm>
          <a:prstGeom prst="rect">
            <a:avLst/>
          </a:prstGeom>
          <a:solidFill>
            <a:srgbClr val="3A4DA6"/>
          </a:solidFill>
          <a:ln/>
        </p:spPr>
      </p:sp>
      <p:sp>
        <p:nvSpPr>
          <p:cNvPr id="11" name="Text 9"/>
          <p:cNvSpPr/>
          <p:nvPr/>
        </p:nvSpPr>
        <p:spPr>
          <a:xfrm>
            <a:off x="2331720" y="1097280"/>
            <a:ext cx="21214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GitHub Copilot 拡張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07992" y="1097280"/>
            <a:ext cx="2121408" cy="411480"/>
          </a:xfrm>
          <a:prstGeom prst="rect">
            <a:avLst/>
          </a:prstGeom>
          <a:solidFill>
            <a:srgbClr val="B26A2B"/>
          </a:solidFill>
          <a:ln/>
        </p:spPr>
      </p:sp>
      <p:sp>
        <p:nvSpPr>
          <p:cNvPr id="13" name="Text 11"/>
          <p:cNvSpPr/>
          <p:nvPr/>
        </p:nvSpPr>
        <p:spPr>
          <a:xfrm>
            <a:off x="4507992" y="1097280"/>
            <a:ext cx="21214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Claude Code 拡張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684264" y="1097280"/>
            <a:ext cx="2121408" cy="411480"/>
          </a:xfrm>
          <a:prstGeom prst="rect">
            <a:avLst/>
          </a:prstGeom>
          <a:solidFill>
            <a:srgbClr val="2E8B6F"/>
          </a:solidFill>
          <a:ln/>
        </p:spPr>
      </p:sp>
      <p:sp>
        <p:nvSpPr>
          <p:cNvPr id="15" name="Text 13"/>
          <p:cNvSpPr/>
          <p:nvPr/>
        </p:nvSpPr>
        <p:spPr>
          <a:xfrm>
            <a:off x="6684264" y="1097280"/>
            <a:ext cx="21214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Claude Code DevContainer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1554480"/>
            <a:ext cx="1828800" cy="777240"/>
          </a:xfrm>
          <a:prstGeom prst="rect">
            <a:avLst/>
          </a:prstGeom>
          <a:solidFill>
            <a:srgbClr val="F4F6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1554480"/>
            <a:ext cx="1691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930" b="1" dirty="0">
                <a:solidFill>
                  <a:srgbClr val="1E276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プロンプト</a:t>
            </a:r>
            <a:endParaRPr lang="en-US" sz="93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930" b="1" dirty="0">
                <a:solidFill>
                  <a:srgbClr val="1E276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インジェクション</a:t>
            </a:r>
            <a:endParaRPr lang="en-US" sz="93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原則: 防ぐ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2331720" y="1554480"/>
            <a:ext cx="212140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04872" y="1554480"/>
            <a:ext cx="19751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60" dirty="0">
                <a:solidFill>
                  <a:srgbClr val="2D37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承認ゲートで止める</a:t>
            </a:r>
            <a:endParaRPr lang="en-US" sz="86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860" dirty="0">
                <a:solidFill>
                  <a:srgbClr val="2D37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＋OS隔離(sandbox)</a:t>
            </a:r>
            <a:endParaRPr lang="en-US" sz="860" dirty="0"/>
          </a:p>
        </p:txBody>
      </p:sp>
      <p:sp>
        <p:nvSpPr>
          <p:cNvPr id="20" name="Shape 18"/>
          <p:cNvSpPr/>
          <p:nvPr/>
        </p:nvSpPr>
        <p:spPr>
          <a:xfrm>
            <a:off x="4507992" y="1554480"/>
            <a:ext cx="212140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81144" y="1554480"/>
            <a:ext cx="19751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60" dirty="0">
                <a:solidFill>
                  <a:srgbClr val="2D37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規則をモデル外で強制</a:t>
            </a:r>
            <a:endParaRPr lang="en-US" sz="86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860" dirty="0">
                <a:solidFill>
                  <a:srgbClr val="2D37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＋OS隔離(sandbox)</a:t>
            </a:r>
            <a:endParaRPr lang="en-US" sz="860" dirty="0"/>
          </a:p>
        </p:txBody>
      </p:sp>
      <p:sp>
        <p:nvSpPr>
          <p:cNvPr id="22" name="Shape 20"/>
          <p:cNvSpPr/>
          <p:nvPr/>
        </p:nvSpPr>
        <p:spPr>
          <a:xfrm>
            <a:off x="6684264" y="1554480"/>
            <a:ext cx="212140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57416" y="1554480"/>
            <a:ext cx="19751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60" dirty="0">
                <a:solidFill>
                  <a:srgbClr val="2D37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突破されても</a:t>
            </a:r>
            <a:endParaRPr lang="en-US" sz="86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860" dirty="0">
                <a:solidFill>
                  <a:srgbClr val="2D37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外に出さない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411480" y="2368296"/>
            <a:ext cx="1828800" cy="777240"/>
          </a:xfrm>
          <a:prstGeom prst="rect">
            <a:avLst/>
          </a:prstGeom>
          <a:solidFill>
            <a:srgbClr val="F4F6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2368296"/>
            <a:ext cx="1691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930" b="1" dirty="0">
                <a:solidFill>
                  <a:srgbClr val="1E276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分離レベル</a:t>
            </a:r>
            <a:endParaRPr lang="en-US" sz="93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930" b="1" dirty="0">
                <a:solidFill>
                  <a:srgbClr val="1E276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（分ける）</a:t>
            </a:r>
            <a:endParaRPr lang="en-US" sz="93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原則: 分ける</a:t>
            </a:r>
            <a:endParaRPr lang="en-US" sz="930" dirty="0"/>
          </a:p>
        </p:txBody>
      </p:sp>
      <p:sp>
        <p:nvSpPr>
          <p:cNvPr id="26" name="Shape 24"/>
          <p:cNvSpPr/>
          <p:nvPr/>
        </p:nvSpPr>
        <p:spPr>
          <a:xfrm>
            <a:off x="2331720" y="2368296"/>
            <a:ext cx="212140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04872" y="2368296"/>
            <a:ext cx="19751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60" dirty="0">
                <a:solidFill>
                  <a:srgbClr val="2D37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プロセス＋OSサンドボックス</a:t>
            </a:r>
            <a:endParaRPr lang="en-US" sz="86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860" dirty="0">
                <a:solidFill>
                  <a:srgbClr val="2D37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（WindowsはWSL2）</a:t>
            </a:r>
            <a:endParaRPr lang="en-US" sz="860" dirty="0"/>
          </a:p>
        </p:txBody>
      </p:sp>
      <p:sp>
        <p:nvSpPr>
          <p:cNvPr id="28" name="Shape 26"/>
          <p:cNvSpPr/>
          <p:nvPr/>
        </p:nvSpPr>
        <p:spPr>
          <a:xfrm>
            <a:off x="4507992" y="2368296"/>
            <a:ext cx="212140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81144" y="2368296"/>
            <a:ext cx="19751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60" dirty="0">
                <a:solidFill>
                  <a:srgbClr val="2D37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プロセス＋OSサンドボックス</a:t>
            </a:r>
            <a:endParaRPr lang="en-US" sz="86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860" dirty="0">
                <a:solidFill>
                  <a:srgbClr val="2D37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（WindowsはWSL2）</a:t>
            </a:r>
            <a:endParaRPr lang="en-US" sz="860" dirty="0"/>
          </a:p>
        </p:txBody>
      </p:sp>
      <p:sp>
        <p:nvSpPr>
          <p:cNvPr id="30" name="Shape 28"/>
          <p:cNvSpPr/>
          <p:nvPr/>
        </p:nvSpPr>
        <p:spPr>
          <a:xfrm>
            <a:off x="6684264" y="2368296"/>
            <a:ext cx="212140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57416" y="2368296"/>
            <a:ext cx="19751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60" dirty="0">
                <a:solidFill>
                  <a:srgbClr val="2D37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コンテナ（物理分離）</a:t>
            </a:r>
            <a:endParaRPr lang="en-US" sz="860" dirty="0"/>
          </a:p>
        </p:txBody>
      </p:sp>
      <p:sp>
        <p:nvSpPr>
          <p:cNvPr id="32" name="Shape 30"/>
          <p:cNvSpPr/>
          <p:nvPr/>
        </p:nvSpPr>
        <p:spPr>
          <a:xfrm>
            <a:off x="411480" y="3182112"/>
            <a:ext cx="1828800" cy="777240"/>
          </a:xfrm>
          <a:prstGeom prst="rect">
            <a:avLst/>
          </a:prstGeom>
          <a:solidFill>
            <a:srgbClr val="F4F6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3182112"/>
            <a:ext cx="1691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930" b="1" dirty="0">
                <a:solidFill>
                  <a:srgbClr val="1E276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禁止・Web・</a:t>
            </a:r>
            <a:endParaRPr lang="en-US" sz="93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930" b="1" dirty="0">
                <a:solidFill>
                  <a:srgbClr val="1E276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ディレクトリ</a:t>
            </a:r>
            <a:endParaRPr lang="en-US" sz="93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原則: 防ぐ</a:t>
            </a:r>
            <a:endParaRPr lang="en-US" sz="930" dirty="0"/>
          </a:p>
        </p:txBody>
      </p:sp>
      <p:sp>
        <p:nvSpPr>
          <p:cNvPr id="34" name="Shape 32"/>
          <p:cNvSpPr/>
          <p:nvPr/>
        </p:nvSpPr>
        <p:spPr>
          <a:xfrm>
            <a:off x="2331720" y="3182112"/>
            <a:ext cx="212140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404872" y="3182112"/>
            <a:ext cx="19751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60" dirty="0">
                <a:solidFill>
                  <a:srgbClr val="2D37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設定で allow/deny</a:t>
            </a:r>
            <a:endParaRPr lang="en-US" sz="86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860" dirty="0">
                <a:solidFill>
                  <a:srgbClr val="2D37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（回避余地あり）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507992" y="3182112"/>
            <a:ext cx="212140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81144" y="3182112"/>
            <a:ext cx="19751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60" dirty="0">
                <a:solidFill>
                  <a:srgbClr val="2D37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permissions で deny</a:t>
            </a:r>
            <a:endParaRPr lang="en-US" sz="86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860" dirty="0">
                <a:solidFill>
                  <a:srgbClr val="2D37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＋ドメイン許可制</a:t>
            </a:r>
            <a:endParaRPr lang="en-US" sz="860" dirty="0"/>
          </a:p>
        </p:txBody>
      </p:sp>
      <p:sp>
        <p:nvSpPr>
          <p:cNvPr id="38" name="Shape 36"/>
          <p:cNvSpPr/>
          <p:nvPr/>
        </p:nvSpPr>
        <p:spPr>
          <a:xfrm>
            <a:off x="6684264" y="3182112"/>
            <a:ext cx="212140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57416" y="3182112"/>
            <a:ext cx="19751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60" dirty="0">
                <a:solidFill>
                  <a:srgbClr val="2D37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firewall 既定拒否</a:t>
            </a:r>
            <a:endParaRPr lang="en-US" sz="86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860" dirty="0">
                <a:solidFill>
                  <a:srgbClr val="2D37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＋許可のみ</a:t>
            </a:r>
            <a:endParaRPr lang="en-US" sz="860" dirty="0"/>
          </a:p>
        </p:txBody>
      </p:sp>
      <p:sp>
        <p:nvSpPr>
          <p:cNvPr id="40" name="Shape 38"/>
          <p:cNvSpPr/>
          <p:nvPr/>
        </p:nvSpPr>
        <p:spPr>
          <a:xfrm>
            <a:off x="411480" y="3995928"/>
            <a:ext cx="1828800" cy="777240"/>
          </a:xfrm>
          <a:prstGeom prst="rect">
            <a:avLst/>
          </a:prstGeom>
          <a:solidFill>
            <a:srgbClr val="F4F6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" y="3995928"/>
            <a:ext cx="1691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930" b="1" dirty="0">
                <a:solidFill>
                  <a:srgbClr val="1E276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設定の強制</a:t>
            </a:r>
            <a:endParaRPr lang="en-US" sz="93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930" b="1" dirty="0">
                <a:solidFill>
                  <a:srgbClr val="1E276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（変更不可化）</a:t>
            </a:r>
            <a:endParaRPr lang="en-US" sz="93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原則: 防ぐ</a:t>
            </a:r>
            <a:endParaRPr lang="en-US" sz="930" dirty="0"/>
          </a:p>
        </p:txBody>
      </p:sp>
      <p:sp>
        <p:nvSpPr>
          <p:cNvPr id="42" name="Shape 40"/>
          <p:cNvSpPr/>
          <p:nvPr/>
        </p:nvSpPr>
        <p:spPr>
          <a:xfrm>
            <a:off x="2331720" y="3995928"/>
            <a:ext cx="212140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404872" y="3995928"/>
            <a:ext cx="19751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60" dirty="0">
                <a:solidFill>
                  <a:srgbClr val="2D37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ポリシーで</a:t>
            </a:r>
            <a:endParaRPr lang="en-US" sz="86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860" dirty="0">
                <a:solidFill>
                  <a:srgbClr val="2D37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『組織で管理』ロック</a:t>
            </a:r>
            <a:endParaRPr lang="en-US" sz="860" dirty="0"/>
          </a:p>
        </p:txBody>
      </p:sp>
      <p:sp>
        <p:nvSpPr>
          <p:cNvPr id="44" name="Shape 42"/>
          <p:cNvSpPr/>
          <p:nvPr/>
        </p:nvSpPr>
        <p:spPr>
          <a:xfrm>
            <a:off x="4507992" y="3995928"/>
            <a:ext cx="212140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81144" y="3995928"/>
            <a:ext cx="19751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60" dirty="0">
                <a:solidFill>
                  <a:srgbClr val="2D37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managed-settings</a:t>
            </a:r>
            <a:endParaRPr lang="en-US" sz="86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860" dirty="0">
                <a:solidFill>
                  <a:srgbClr val="2D37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が最優先・上書き不可</a:t>
            </a:r>
            <a:endParaRPr lang="en-US" sz="860" dirty="0"/>
          </a:p>
        </p:txBody>
      </p:sp>
      <p:sp>
        <p:nvSpPr>
          <p:cNvPr id="46" name="Shape 44"/>
          <p:cNvSpPr/>
          <p:nvPr/>
        </p:nvSpPr>
        <p:spPr>
          <a:xfrm>
            <a:off x="6684264" y="3995928"/>
            <a:ext cx="212140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757416" y="3995928"/>
            <a:ext cx="19751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60" dirty="0">
                <a:solidFill>
                  <a:srgbClr val="2D37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イメージ/設定を</a:t>
            </a:r>
            <a:endParaRPr lang="en-US" sz="86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860" dirty="0">
                <a:solidFill>
                  <a:srgbClr val="2D37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リポジトリで固定</a:t>
            </a:r>
            <a:endParaRPr lang="en-US" sz="8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039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脅威モデル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共通の敵：プロンプトインジェクションの流れ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147304" y="4832604"/>
            <a:ext cx="82296" cy="82296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5" name="Shape 3"/>
          <p:cNvSpPr/>
          <p:nvPr/>
        </p:nvSpPr>
        <p:spPr>
          <a:xfrm>
            <a:off x="8293608" y="4832604"/>
            <a:ext cx="82296" cy="82296"/>
          </a:xfrm>
          <a:prstGeom prst="ellipse">
            <a:avLst/>
          </a:prstGeom>
          <a:solidFill>
            <a:srgbClr val="FFC800"/>
          </a:solidFill>
          <a:ln/>
        </p:spPr>
      </p:sp>
      <p:sp>
        <p:nvSpPr>
          <p:cNvPr id="6" name="Shape 4"/>
          <p:cNvSpPr/>
          <p:nvPr/>
        </p:nvSpPr>
        <p:spPr>
          <a:xfrm>
            <a:off x="8439912" y="4832604"/>
            <a:ext cx="82296" cy="82296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7" name="Shape 5"/>
          <p:cNvSpPr/>
          <p:nvPr/>
        </p:nvSpPr>
        <p:spPr>
          <a:xfrm>
            <a:off x="8586216" y="4832604"/>
            <a:ext cx="82296" cy="82296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8" name="Shape 6"/>
          <p:cNvSpPr/>
          <p:nvPr/>
        </p:nvSpPr>
        <p:spPr>
          <a:xfrm>
            <a:off x="8732520" y="4832604"/>
            <a:ext cx="82296" cy="82296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325880"/>
            <a:ext cx="18745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325880"/>
            <a:ext cx="64008" cy="14173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1" name="Shape 9"/>
          <p:cNvSpPr/>
          <p:nvPr/>
        </p:nvSpPr>
        <p:spPr>
          <a:xfrm>
            <a:off x="1110996" y="1490472"/>
            <a:ext cx="566928" cy="566928"/>
          </a:xfrm>
          <a:prstGeom prst="ellipse">
            <a:avLst/>
          </a:prstGeom>
          <a:solidFill>
            <a:srgbClr val="64748B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8397" y="1637873"/>
            <a:ext cx="272125" cy="272125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30352" y="2075688"/>
            <a:ext cx="17282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①悪意ある</a:t>
            </a:r>
            <a:endParaRPr lang="en-US" sz="10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コンテンツ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12064" y="2441448"/>
            <a:ext cx="1764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78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リポジトリ/Web</a:t>
            </a:r>
            <a:endParaRPr lang="en-US" sz="780" dirty="0"/>
          </a:p>
          <a:p>
            <a:pPr algn="ctr" indent="0" marL="0">
              <a:lnSpc>
                <a:spcPct val="88000"/>
              </a:lnSpc>
              <a:buNone/>
            </a:pPr>
            <a:r>
              <a:rPr lang="en-US" sz="78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/Issue/HTMLコメント</a:t>
            </a:r>
            <a:endParaRPr lang="en-US" sz="78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6584" y="1924812"/>
            <a:ext cx="256032" cy="256032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2715768" y="1325880"/>
            <a:ext cx="18745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2715768" y="1325880"/>
            <a:ext cx="64008" cy="1417320"/>
          </a:xfrm>
          <a:prstGeom prst="rect">
            <a:avLst/>
          </a:prstGeom>
          <a:solidFill>
            <a:srgbClr val="3A4DA6"/>
          </a:solidFill>
          <a:ln/>
        </p:spPr>
      </p:sp>
      <p:sp>
        <p:nvSpPr>
          <p:cNvPr id="18" name="Shape 14"/>
          <p:cNvSpPr/>
          <p:nvPr/>
        </p:nvSpPr>
        <p:spPr>
          <a:xfrm>
            <a:off x="3369564" y="1490472"/>
            <a:ext cx="566928" cy="566928"/>
          </a:xfrm>
          <a:prstGeom prst="ellipse">
            <a:avLst/>
          </a:prstGeom>
          <a:solidFill>
            <a:srgbClr val="3A4DA6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6965" y="1637873"/>
            <a:ext cx="272125" cy="27212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2788920" y="2075688"/>
            <a:ext cx="17282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②AIが解釈し</a:t>
            </a:r>
            <a:endParaRPr lang="en-US" sz="10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ゴール乗っ取り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2770632" y="2441448"/>
            <a:ext cx="1764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78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文脈汚染</a:t>
            </a:r>
            <a:endParaRPr lang="en-US" sz="78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5152" y="1924812"/>
            <a:ext cx="256032" cy="256032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4974336" y="1325880"/>
            <a:ext cx="18745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6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974336" y="1325880"/>
            <a:ext cx="64008" cy="1417320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25" name="Shape 19"/>
          <p:cNvSpPr/>
          <p:nvPr/>
        </p:nvSpPr>
        <p:spPr>
          <a:xfrm>
            <a:off x="5628132" y="1490472"/>
            <a:ext cx="566928" cy="566928"/>
          </a:xfrm>
          <a:prstGeom prst="ellipse">
            <a:avLst/>
          </a:prstGeom>
          <a:solidFill>
            <a:srgbClr val="B7791F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5533" y="1637873"/>
            <a:ext cx="272125" cy="27212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047488" y="2075688"/>
            <a:ext cx="17282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③ツール実行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5029200" y="2441448"/>
            <a:ext cx="1764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78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iwr・reg・del</a:t>
            </a:r>
            <a:endParaRPr lang="en-US" sz="780" dirty="0"/>
          </a:p>
          <a:p>
            <a:pPr algn="ctr" indent="0" marL="0">
              <a:lnSpc>
                <a:spcPct val="88000"/>
              </a:lnSpc>
              <a:buNone/>
            </a:pPr>
            <a:r>
              <a:rPr lang="en-US" sz="78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秘密ファイル読取</a:t>
            </a:r>
            <a:endParaRPr lang="en-US" sz="780" dirty="0"/>
          </a:p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3720" y="1924812"/>
            <a:ext cx="256032" cy="256032"/>
          </a:xfrm>
          <a:prstGeom prst="rect">
            <a:avLst/>
          </a:prstGeom>
        </p:spPr>
      </p:pic>
      <p:sp>
        <p:nvSpPr>
          <p:cNvPr id="30" name="Shape 22"/>
          <p:cNvSpPr/>
          <p:nvPr/>
        </p:nvSpPr>
        <p:spPr>
          <a:xfrm>
            <a:off x="7232904" y="1325880"/>
            <a:ext cx="18745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6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7232904" y="1325880"/>
            <a:ext cx="64008" cy="14173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2" name="Shape 24"/>
          <p:cNvSpPr/>
          <p:nvPr/>
        </p:nvSpPr>
        <p:spPr>
          <a:xfrm>
            <a:off x="7886700" y="1490472"/>
            <a:ext cx="566928" cy="566928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34101" y="1637873"/>
            <a:ext cx="272125" cy="272125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7306056" y="2075688"/>
            <a:ext cx="17282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④Windows PC被害</a:t>
            </a:r>
            <a:endParaRPr lang="en-US" sz="1050" dirty="0"/>
          </a:p>
        </p:txBody>
      </p:sp>
      <p:sp>
        <p:nvSpPr>
          <p:cNvPr id="35" name="Text 26"/>
          <p:cNvSpPr/>
          <p:nvPr/>
        </p:nvSpPr>
        <p:spPr>
          <a:xfrm>
            <a:off x="7287768" y="2441448"/>
            <a:ext cx="1764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78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%USERPROFILE%\.ssh</a:t>
            </a:r>
            <a:endParaRPr lang="en-US" sz="780" dirty="0"/>
          </a:p>
          <a:p>
            <a:pPr algn="ctr" indent="0" marL="0">
              <a:lnSpc>
                <a:spcPct val="88000"/>
              </a:lnSpc>
              <a:buNone/>
            </a:pPr>
            <a:r>
              <a:rPr lang="en-US" sz="78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流出・RCE</a:t>
            </a:r>
            <a:endParaRPr lang="en-US" sz="780" dirty="0"/>
          </a:p>
        </p:txBody>
      </p:sp>
      <p:sp>
        <p:nvSpPr>
          <p:cNvPr id="36" name="Shape 27"/>
          <p:cNvSpPr/>
          <p:nvPr/>
        </p:nvSpPr>
        <p:spPr>
          <a:xfrm>
            <a:off x="457200" y="3063240"/>
            <a:ext cx="8266176" cy="1417320"/>
          </a:xfrm>
          <a:prstGeom prst="rect">
            <a:avLst/>
          </a:prstGeom>
          <a:solidFill>
            <a:srgbClr val="F4F6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28"/>
          <p:cNvSpPr/>
          <p:nvPr/>
        </p:nvSpPr>
        <p:spPr>
          <a:xfrm>
            <a:off x="640080" y="3163824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各形態は「どの段で止められるか」で違う（共通：WSL2なら③④をサンドボックスで隔離）</a:t>
            </a:r>
            <a:endParaRPr lang="en-US" sz="1150" dirty="0"/>
          </a:p>
        </p:txBody>
      </p:sp>
      <p:sp>
        <p:nvSpPr>
          <p:cNvPr id="38" name="Text 29"/>
          <p:cNvSpPr/>
          <p:nvPr/>
        </p:nvSpPr>
        <p:spPr>
          <a:xfrm>
            <a:off x="640080" y="3511296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3A4DA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Copilot 拡張：</a:t>
            </a:r>
            <a:pPr indent="0" marL="0">
              <a:buNone/>
            </a:pPr>
            <a:r>
              <a:rPr lang="en-US" sz="960" dirty="0">
                <a:solidFill>
                  <a:srgbClr val="2D37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③実行を“人の承認ゲート”で止める（自動承認に倒すと素通り）＋sandbox(WSL2)で③④を隔離。</a:t>
            </a:r>
            <a:endParaRPr lang="en-US" sz="960" dirty="0"/>
          </a:p>
        </p:txBody>
      </p:sp>
      <p:sp>
        <p:nvSpPr>
          <p:cNvPr id="39" name="Text 30"/>
          <p:cNvSpPr/>
          <p:nvPr/>
        </p:nvSpPr>
        <p:spPr>
          <a:xfrm>
            <a:off x="640080" y="3822192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B26A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Claude Code 拡張：</a:t>
            </a:r>
            <a:pPr indent="0" marL="0">
              <a:buNone/>
            </a:pPr>
            <a:r>
              <a:rPr lang="en-US" sz="960" dirty="0">
                <a:solidFill>
                  <a:srgbClr val="2D37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③実行を許可ルールで機械的に遮断（決定論的）＋sandbox(WSL2)で③④を隔離。同じ段でも“止め方”が硬い。</a:t>
            </a:r>
            <a:endParaRPr lang="en-US" sz="960" dirty="0"/>
          </a:p>
        </p:txBody>
      </p:sp>
      <p:sp>
        <p:nvSpPr>
          <p:cNvPr id="40" name="Text 31"/>
          <p:cNvSpPr/>
          <p:nvPr/>
        </p:nvSpPr>
        <p:spPr>
          <a:xfrm>
            <a:off x="640080" y="4133088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2E8B6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DevContainer：</a:t>
            </a:r>
            <a:pPr indent="0" marL="0">
              <a:buNone/>
            </a:pPr>
            <a:r>
              <a:rPr lang="en-US" sz="960" dirty="0">
                <a:solidFill>
                  <a:srgbClr val="2D37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②③を突破されても、コンテナ境界で③④を封じ込め④のホスト被害を物理的に断つ。</a:t>
            </a:r>
            <a:endParaRPr lang="en-US" sz="96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3A4DA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見取り図（防ぐ・分ける）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2つの見取り図：4つの階段と4段階の分離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147304" y="4832604"/>
            <a:ext cx="82296" cy="82296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5" name="Shape 3"/>
          <p:cNvSpPr/>
          <p:nvPr/>
        </p:nvSpPr>
        <p:spPr>
          <a:xfrm>
            <a:off x="8293608" y="4832604"/>
            <a:ext cx="82296" cy="82296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6" name="Shape 4"/>
          <p:cNvSpPr/>
          <p:nvPr/>
        </p:nvSpPr>
        <p:spPr>
          <a:xfrm>
            <a:off x="8439912" y="4832604"/>
            <a:ext cx="82296" cy="82296"/>
          </a:xfrm>
          <a:prstGeom prst="ellipse">
            <a:avLst/>
          </a:prstGeom>
          <a:solidFill>
            <a:srgbClr val="FFC800"/>
          </a:solidFill>
          <a:ln/>
        </p:spPr>
      </p:sp>
      <p:sp>
        <p:nvSpPr>
          <p:cNvPr id="7" name="Shape 5"/>
          <p:cNvSpPr/>
          <p:nvPr/>
        </p:nvSpPr>
        <p:spPr>
          <a:xfrm>
            <a:off x="8586216" y="4832604"/>
            <a:ext cx="82296" cy="82296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8" name="Shape 6"/>
          <p:cNvSpPr/>
          <p:nvPr/>
        </p:nvSpPr>
        <p:spPr>
          <a:xfrm>
            <a:off x="8732520" y="4832604"/>
            <a:ext cx="82296" cy="82296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0241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4DA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①「防ぐ」＝ 指示の追従性の4つの階段（右ほど強制力が強い：助言的 → 決定的）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1371600"/>
            <a:ext cx="1874520" cy="841248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1E2761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1517904"/>
            <a:ext cx="1691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6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CLAUDE.md / 指示</a:t>
            </a:r>
            <a:endParaRPr lang="en-US" sz="960" dirty="0"/>
          </a:p>
        </p:txBody>
      </p:sp>
      <p:sp>
        <p:nvSpPr>
          <p:cNvPr id="12" name="Text 10"/>
          <p:cNvSpPr/>
          <p:nvPr/>
        </p:nvSpPr>
        <p:spPr>
          <a:xfrm>
            <a:off x="594360" y="1847088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助言的</a:t>
            </a:r>
            <a:endParaRPr lang="en-US" sz="8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32304" y="1664208"/>
            <a:ext cx="256032" cy="256032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2743200" y="1371600"/>
            <a:ext cx="1874520" cy="841248"/>
          </a:xfrm>
          <a:prstGeom prst="rect">
            <a:avLst/>
          </a:prstGeom>
          <a:solidFill>
            <a:srgbClr val="2E3C86"/>
          </a:solidFill>
          <a:ln/>
          <a:effectLst>
            <a:outerShdw sx="100000" sy="100000" kx="0" ky="0" algn="bl" rotWithShape="0" blurRad="88900" dist="25400" dir="5400000">
              <a:srgbClr val="1E2761">
                <a:alpha val="16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2834640" y="1517904"/>
            <a:ext cx="1691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6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Permission</a:t>
            </a:r>
            <a:endParaRPr lang="en-US" sz="960" dirty="0"/>
          </a:p>
        </p:txBody>
      </p:sp>
      <p:sp>
        <p:nvSpPr>
          <p:cNvPr id="16" name="Text 13"/>
          <p:cNvSpPr/>
          <p:nvPr/>
        </p:nvSpPr>
        <p:spPr>
          <a:xfrm>
            <a:off x="2834640" y="1847088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決定論的 / 承認ゲート</a:t>
            </a:r>
            <a:endParaRPr lang="en-US" sz="8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2584" y="1664208"/>
            <a:ext cx="256032" cy="256032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4983480" y="1371600"/>
            <a:ext cx="1874520" cy="841248"/>
          </a:xfrm>
          <a:prstGeom prst="rect">
            <a:avLst/>
          </a:prstGeom>
          <a:solidFill>
            <a:srgbClr val="4257B2"/>
          </a:solidFill>
          <a:ln/>
          <a:effectLst>
            <a:outerShdw sx="100000" sy="100000" kx="0" ky="0" algn="bl" rotWithShape="0" blurRad="88900" dist="25400" dir="5400000">
              <a:srgbClr val="1E2761">
                <a:alpha val="16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5074920" y="1517904"/>
            <a:ext cx="1691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6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Hooks</a:t>
            </a:r>
            <a:endParaRPr lang="en-US" sz="960" dirty="0"/>
          </a:p>
        </p:txBody>
      </p:sp>
      <p:sp>
        <p:nvSpPr>
          <p:cNvPr id="20" name="Text 16"/>
          <p:cNvSpPr/>
          <p:nvPr/>
        </p:nvSpPr>
        <p:spPr>
          <a:xfrm>
            <a:off x="5074920" y="1847088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実行前に検証</a:t>
            </a:r>
            <a:endParaRPr lang="en-US" sz="8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2864" y="1664208"/>
            <a:ext cx="256032" cy="256032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7223760" y="1371600"/>
            <a:ext cx="1874520" cy="841248"/>
          </a:xfrm>
          <a:prstGeom prst="rect">
            <a:avLst/>
          </a:prstGeom>
          <a:solidFill>
            <a:srgbClr val="2E8B6F"/>
          </a:solidFill>
          <a:ln/>
          <a:effectLst>
            <a:outerShdw sx="100000" sy="100000" kx="0" ky="0" algn="bl" rotWithShape="0" blurRad="88900" dist="25400" dir="5400000">
              <a:srgbClr val="1E2761">
                <a:alpha val="16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7315200" y="1517904"/>
            <a:ext cx="1691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6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Sandbox / 隔離</a:t>
            </a:r>
            <a:endParaRPr lang="en-US" sz="960" dirty="0"/>
          </a:p>
        </p:txBody>
      </p:sp>
      <p:sp>
        <p:nvSpPr>
          <p:cNvPr id="24" name="Text 19"/>
          <p:cNvSpPr/>
          <p:nvPr/>
        </p:nvSpPr>
        <p:spPr>
          <a:xfrm>
            <a:off x="7315200" y="1847088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OSレベルで強制</a:t>
            </a:r>
            <a:endParaRPr lang="en-US" sz="800" dirty="0"/>
          </a:p>
        </p:txBody>
      </p:sp>
      <p:sp>
        <p:nvSpPr>
          <p:cNvPr id="25" name="Text 20"/>
          <p:cNvSpPr/>
          <p:nvPr/>
        </p:nvSpPr>
        <p:spPr>
          <a:xfrm>
            <a:off x="457200" y="2468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8B6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②「分ける」＝ 4段階の分離レベル（右へ行くほど固い）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502920" y="2816352"/>
            <a:ext cx="1874520" cy="841248"/>
          </a:xfrm>
          <a:prstGeom prst="rect">
            <a:avLst/>
          </a:prstGeom>
          <a:solidFill>
            <a:srgbClr val="B0392B"/>
          </a:solidFill>
          <a:ln/>
          <a:effectLst>
            <a:outerShdw sx="100000" sy="100000" kx="0" ky="0" algn="bl" rotWithShape="0" blurRad="88900" dist="25400" dir="5400000">
              <a:srgbClr val="1E2761">
                <a:alpha val="16000"/>
              </a:srgbClr>
            </a:outerShdw>
          </a:effectLst>
        </p:spPr>
      </p:sp>
      <p:sp>
        <p:nvSpPr>
          <p:cNvPr id="27" name="Text 22"/>
          <p:cNvSpPr/>
          <p:nvPr/>
        </p:nvSpPr>
        <p:spPr>
          <a:xfrm>
            <a:off x="594360" y="2962656"/>
            <a:ext cx="1691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プロセス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594360" y="3291840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ホスト直</a:t>
            </a:r>
            <a:endParaRPr lang="en-US" sz="800" dirty="0"/>
          </a:p>
        </p:txBody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2304" y="3108960"/>
            <a:ext cx="256032" cy="256032"/>
          </a:xfrm>
          <a:prstGeom prst="rect">
            <a:avLst/>
          </a:prstGeom>
        </p:spPr>
      </p:pic>
      <p:sp>
        <p:nvSpPr>
          <p:cNvPr id="30" name="Shape 24"/>
          <p:cNvSpPr/>
          <p:nvPr/>
        </p:nvSpPr>
        <p:spPr>
          <a:xfrm>
            <a:off x="2743200" y="2816352"/>
            <a:ext cx="1874520" cy="841248"/>
          </a:xfrm>
          <a:prstGeom prst="rect">
            <a:avLst/>
          </a:prstGeom>
          <a:solidFill>
            <a:srgbClr val="C99700"/>
          </a:solidFill>
          <a:ln/>
          <a:effectLst>
            <a:outerShdw sx="100000" sy="100000" kx="0" ky="0" algn="bl" rotWithShape="0" blurRad="88900" dist="25400" dir="5400000">
              <a:srgbClr val="1E2761">
                <a:alpha val="16000"/>
              </a:srgbClr>
            </a:outerShdw>
          </a:effectLst>
        </p:spPr>
      </p:sp>
      <p:sp>
        <p:nvSpPr>
          <p:cNvPr id="31" name="Text 25"/>
          <p:cNvSpPr/>
          <p:nvPr/>
        </p:nvSpPr>
        <p:spPr>
          <a:xfrm>
            <a:off x="2834640" y="2962656"/>
            <a:ext cx="1691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コンテナ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2834640" y="3291840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OS共有・隔離</a:t>
            </a:r>
            <a:endParaRPr lang="en-US" sz="800" dirty="0"/>
          </a:p>
        </p:txBody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2584" y="3108960"/>
            <a:ext cx="256032" cy="256032"/>
          </a:xfrm>
          <a:prstGeom prst="rect">
            <a:avLst/>
          </a:prstGeom>
        </p:spPr>
      </p:pic>
      <p:sp>
        <p:nvSpPr>
          <p:cNvPr id="34" name="Shape 27"/>
          <p:cNvSpPr/>
          <p:nvPr/>
        </p:nvSpPr>
        <p:spPr>
          <a:xfrm>
            <a:off x="4983480" y="2816352"/>
            <a:ext cx="1874520" cy="841248"/>
          </a:xfrm>
          <a:prstGeom prst="rect">
            <a:avLst/>
          </a:prstGeom>
          <a:solidFill>
            <a:srgbClr val="2E8B6F"/>
          </a:solidFill>
          <a:ln/>
          <a:effectLst>
            <a:outerShdw sx="100000" sy="100000" kx="0" ky="0" algn="bl" rotWithShape="0" blurRad="88900" dist="25400" dir="5400000">
              <a:srgbClr val="1E2761">
                <a:alpha val="16000"/>
              </a:srgbClr>
            </a:outerShdw>
          </a:effectLst>
        </p:spPr>
      </p:sp>
      <p:sp>
        <p:nvSpPr>
          <p:cNvPr id="35" name="Text 28"/>
          <p:cNvSpPr/>
          <p:nvPr/>
        </p:nvSpPr>
        <p:spPr>
          <a:xfrm>
            <a:off x="5074920" y="2962656"/>
            <a:ext cx="1691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VM</a:t>
            </a:r>
            <a:endParaRPr lang="en-US" sz="1100" dirty="0"/>
          </a:p>
        </p:txBody>
      </p:sp>
      <p:sp>
        <p:nvSpPr>
          <p:cNvPr id="36" name="Text 29"/>
          <p:cNvSpPr/>
          <p:nvPr/>
        </p:nvSpPr>
        <p:spPr>
          <a:xfrm>
            <a:off x="5074920" y="3291840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OSごと分離</a:t>
            </a:r>
            <a:endParaRPr lang="en-US" sz="800" dirty="0"/>
          </a:p>
        </p:txBody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12864" y="3108960"/>
            <a:ext cx="256032" cy="256032"/>
          </a:xfrm>
          <a:prstGeom prst="rect">
            <a:avLst/>
          </a:prstGeom>
        </p:spPr>
      </p:pic>
      <p:sp>
        <p:nvSpPr>
          <p:cNvPr id="38" name="Shape 30"/>
          <p:cNvSpPr/>
          <p:nvPr/>
        </p:nvSpPr>
        <p:spPr>
          <a:xfrm>
            <a:off x="7223760" y="2816352"/>
            <a:ext cx="1874520" cy="841248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1E2761">
                <a:alpha val="16000"/>
              </a:srgbClr>
            </a:outerShdw>
          </a:effectLst>
        </p:spPr>
      </p:sp>
      <p:sp>
        <p:nvSpPr>
          <p:cNvPr id="39" name="Text 31"/>
          <p:cNvSpPr/>
          <p:nvPr/>
        </p:nvSpPr>
        <p:spPr>
          <a:xfrm>
            <a:off x="7315200" y="2962656"/>
            <a:ext cx="1691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物理マシン</a:t>
            </a:r>
            <a:endParaRPr lang="en-US" sz="1100" dirty="0"/>
          </a:p>
        </p:txBody>
      </p:sp>
      <p:sp>
        <p:nvSpPr>
          <p:cNvPr id="40" name="Text 32"/>
          <p:cNvSpPr/>
          <p:nvPr/>
        </p:nvSpPr>
        <p:spPr>
          <a:xfrm>
            <a:off x="7315200" y="3291840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完全分離</a:t>
            </a:r>
            <a:endParaRPr lang="en-US" sz="800" dirty="0"/>
          </a:p>
        </p:txBody>
      </p:sp>
      <p:sp>
        <p:nvSpPr>
          <p:cNvPr id="41" name="Shape 33"/>
          <p:cNvSpPr/>
          <p:nvPr/>
        </p:nvSpPr>
        <p:spPr>
          <a:xfrm>
            <a:off x="502920" y="3977640"/>
            <a:ext cx="8183880" cy="566928"/>
          </a:xfrm>
          <a:prstGeom prst="rect">
            <a:avLst/>
          </a:prstGeom>
          <a:solidFill>
            <a:srgbClr val="F4F6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34"/>
          <p:cNvSpPr/>
          <p:nvPr/>
        </p:nvSpPr>
        <p:spPr>
          <a:xfrm>
            <a:off x="658368" y="3977640"/>
            <a:ext cx="7955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1E276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3形態の位置：  </a:t>
            </a:r>
            <a:pPr indent="0" marL="0">
              <a:buNone/>
            </a:pPr>
            <a:r>
              <a:rPr lang="en-US" sz="930" dirty="0">
                <a:solidFill>
                  <a:srgbClr val="2D37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Copilot拡張・Claude Code拡張＝プロセス＋OSサンドボックス（WindowsはWSL2）／ DevContainer＝コンテナ</a:t>
            </a:r>
            <a:endParaRPr lang="en-US" sz="93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3A4DA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詳細比較 ①「防ぐ」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止め方の違い：人の承認 vs ルールでの強制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147304" y="4832604"/>
            <a:ext cx="82296" cy="82296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5" name="Shape 3"/>
          <p:cNvSpPr/>
          <p:nvPr/>
        </p:nvSpPr>
        <p:spPr>
          <a:xfrm>
            <a:off x="8293608" y="4832604"/>
            <a:ext cx="82296" cy="82296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6" name="Shape 4"/>
          <p:cNvSpPr/>
          <p:nvPr/>
        </p:nvSpPr>
        <p:spPr>
          <a:xfrm>
            <a:off x="8439912" y="4832604"/>
            <a:ext cx="82296" cy="82296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7" name="Shape 5"/>
          <p:cNvSpPr/>
          <p:nvPr/>
        </p:nvSpPr>
        <p:spPr>
          <a:xfrm>
            <a:off x="8586216" y="4832604"/>
            <a:ext cx="82296" cy="82296"/>
          </a:xfrm>
          <a:prstGeom prst="ellipse">
            <a:avLst/>
          </a:prstGeom>
          <a:solidFill>
            <a:srgbClr val="FFC800"/>
          </a:solidFill>
          <a:ln/>
        </p:spPr>
      </p:sp>
      <p:sp>
        <p:nvSpPr>
          <p:cNvPr id="8" name="Shape 6"/>
          <p:cNvSpPr/>
          <p:nvPr/>
        </p:nvSpPr>
        <p:spPr>
          <a:xfrm>
            <a:off x="8732520" y="4832604"/>
            <a:ext cx="82296" cy="82296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9" name="Shape 7"/>
          <p:cNvSpPr/>
          <p:nvPr/>
        </p:nvSpPr>
        <p:spPr>
          <a:xfrm>
            <a:off x="411480" y="1051560"/>
            <a:ext cx="406908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1051560"/>
            <a:ext cx="64008" cy="2697480"/>
          </a:xfrm>
          <a:prstGeom prst="rect">
            <a:avLst/>
          </a:prstGeom>
          <a:solidFill>
            <a:srgbClr val="3A4DA6"/>
          </a:solidFill>
          <a:ln/>
        </p:spPr>
      </p:sp>
      <p:sp>
        <p:nvSpPr>
          <p:cNvPr id="11" name="Shape 9"/>
          <p:cNvSpPr/>
          <p:nvPr/>
        </p:nvSpPr>
        <p:spPr>
          <a:xfrm>
            <a:off x="594360" y="1216152"/>
            <a:ext cx="457200" cy="457200"/>
          </a:xfrm>
          <a:prstGeom prst="ellipse">
            <a:avLst/>
          </a:prstGeom>
          <a:solidFill>
            <a:srgbClr val="3A4DA6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335024"/>
            <a:ext cx="219456" cy="21945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143000" y="1243584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4DA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Copilot：人の承認ゲート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40080" y="1783080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lnSpc>
                <a:spcPct val="95000"/>
              </a:lnSpc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一次防壁は“人の承認”。Default / Bypass / Autopilot で自動化度を選ぶ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40080" y="2386584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lnSpc>
                <a:spcPct val="95000"/>
              </a:lnSpc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ターミナル自動承認は正規表現で許可/拒否（PowerShell: iwr/irm・reg・netsh を deny 例）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40080" y="2990088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lnSpc>
                <a:spcPct val="95000"/>
              </a:lnSpc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URLゲートは #fetch ツールのみ。PowerShell の iwr/Invoke-WebRequest は別管轄で抜け得る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663440" y="1051560"/>
            <a:ext cx="406908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6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663440" y="1051560"/>
            <a:ext cx="64008" cy="2697480"/>
          </a:xfrm>
          <a:prstGeom prst="rect">
            <a:avLst/>
          </a:prstGeom>
          <a:solidFill>
            <a:srgbClr val="B26A2B"/>
          </a:solidFill>
          <a:ln/>
        </p:spPr>
      </p:sp>
      <p:sp>
        <p:nvSpPr>
          <p:cNvPr id="19" name="Shape 16"/>
          <p:cNvSpPr/>
          <p:nvPr/>
        </p:nvSpPr>
        <p:spPr>
          <a:xfrm>
            <a:off x="4846320" y="1216152"/>
            <a:ext cx="457200" cy="457200"/>
          </a:xfrm>
          <a:prstGeom prst="ellipse">
            <a:avLst/>
          </a:prstGeom>
          <a:solidFill>
            <a:srgbClr val="B26A2B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192" y="1335024"/>
            <a:ext cx="219456" cy="219456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394960" y="1243584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26A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Claude Code：許可ルール強制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4892040" y="1783080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lnSpc>
                <a:spcPct val="95000"/>
              </a:lnSpc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permissions(allow/ask/deny) を本体が機械的に強制。deny→ask→allow で deny 常勝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4892040" y="2386584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lnSpc>
                <a:spcPct val="95000"/>
              </a:lnSpc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判定はモデルでなくツール層＝決定論的。複合コマンド/ラッパーも解析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4892040" y="2990088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lnSpc>
                <a:spcPct val="95000"/>
              </a:lnSpc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Windowsは WSL2 で運用。WebFetch許可制＋Bash(curl:*) を deny で通信も塞ぐ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411480" y="3931920"/>
            <a:ext cx="8321040" cy="877824"/>
          </a:xfrm>
          <a:prstGeom prst="rect">
            <a:avLst/>
          </a:prstGeom>
          <a:solidFill>
            <a:srgbClr val="F4F6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411480" y="3931920"/>
            <a:ext cx="73152" cy="877824"/>
          </a:xfrm>
          <a:prstGeom prst="rect">
            <a:avLst/>
          </a:prstGeom>
          <a:solidFill>
            <a:srgbClr val="FFC800"/>
          </a:solidFill>
          <a:ln/>
        </p:spPr>
      </p:sp>
      <p:sp>
        <p:nvSpPr>
          <p:cNvPr id="27" name="Text 23"/>
          <p:cNvSpPr/>
          <p:nvPr/>
        </p:nvSpPr>
        <p:spPr>
          <a:xfrm>
            <a:off x="621792" y="3995928"/>
            <a:ext cx="7955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違いの本質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621792" y="4233672"/>
            <a:ext cx="8001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20" dirty="0">
                <a:solidFill>
                  <a:srgbClr val="2D37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Copilot は「人が見て止める」前提（柔軟だが best-effort）、Claude Code は「ルールで自動的に止まる」前提（決定論的）。組織では後者の方が運用が一貫する。ただし“ターミナル経由の抜け”はどちらもサンドボックスで塞ぐ必要がある＝共通の急所。</a:t>
            </a:r>
            <a:endParaRPr lang="en-US" sz="9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2E8B6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詳細比較 ②「分ける」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読める/書ける範囲と、隔離の“選べる幅”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147304" y="4832604"/>
            <a:ext cx="82296" cy="82296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5" name="Shape 3"/>
          <p:cNvSpPr/>
          <p:nvPr/>
        </p:nvSpPr>
        <p:spPr>
          <a:xfrm>
            <a:off x="8293608" y="4832604"/>
            <a:ext cx="82296" cy="82296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6" name="Shape 4"/>
          <p:cNvSpPr/>
          <p:nvPr/>
        </p:nvSpPr>
        <p:spPr>
          <a:xfrm>
            <a:off x="8439912" y="4832604"/>
            <a:ext cx="82296" cy="82296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7" name="Shape 5"/>
          <p:cNvSpPr/>
          <p:nvPr/>
        </p:nvSpPr>
        <p:spPr>
          <a:xfrm>
            <a:off x="8586216" y="4832604"/>
            <a:ext cx="82296" cy="82296"/>
          </a:xfrm>
          <a:prstGeom prst="ellipse">
            <a:avLst/>
          </a:prstGeom>
          <a:solidFill>
            <a:srgbClr val="FFC800"/>
          </a:solidFill>
          <a:ln/>
        </p:spPr>
      </p:sp>
      <p:sp>
        <p:nvSpPr>
          <p:cNvPr id="8" name="Shape 6"/>
          <p:cNvSpPr/>
          <p:nvPr/>
        </p:nvSpPr>
        <p:spPr>
          <a:xfrm>
            <a:off x="8732520" y="4832604"/>
            <a:ext cx="82296" cy="82296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9" name="Shape 7"/>
          <p:cNvSpPr/>
          <p:nvPr/>
        </p:nvSpPr>
        <p:spPr>
          <a:xfrm>
            <a:off x="411480" y="1051560"/>
            <a:ext cx="406908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1051560"/>
            <a:ext cx="64008" cy="2697480"/>
          </a:xfrm>
          <a:prstGeom prst="rect">
            <a:avLst/>
          </a:prstGeom>
          <a:solidFill>
            <a:srgbClr val="3A4DA6"/>
          </a:solidFill>
          <a:ln/>
        </p:spPr>
      </p:sp>
      <p:sp>
        <p:nvSpPr>
          <p:cNvPr id="11" name="Shape 9"/>
          <p:cNvSpPr/>
          <p:nvPr/>
        </p:nvSpPr>
        <p:spPr>
          <a:xfrm>
            <a:off x="594360" y="1216152"/>
            <a:ext cx="457200" cy="457200"/>
          </a:xfrm>
          <a:prstGeom prst="ellipse">
            <a:avLst/>
          </a:prstGeom>
          <a:solidFill>
            <a:srgbClr val="3A4DA6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335024"/>
            <a:ext cx="219456" cy="21945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143000" y="1243584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4DA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Copilot：作業域に限定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40080" y="1783080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lnSpc>
                <a:spcPct val="95000"/>
              </a:lnSpc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編集はレビュー必須。書込は作業域中心、秘密（%USERPROFILE%\.ssh 等）は読ませない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40080" y="2386584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lnSpc>
                <a:spcPct val="95000"/>
              </a:lnSpc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読取=作業域＋一時、書込=作業域のみ（%TEMP% は例外）。ファイル隔離は sandbox 有効時（WindowsはWSL2）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40080" y="2990088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lnSpc>
                <a:spcPct val="95000"/>
              </a:lnSpc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content exclusion は Agent mode/CLI に効かない（補完/Chatのみ）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663440" y="1051560"/>
            <a:ext cx="406908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6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663440" y="1051560"/>
            <a:ext cx="64008" cy="2697480"/>
          </a:xfrm>
          <a:prstGeom prst="rect">
            <a:avLst/>
          </a:prstGeom>
          <a:solidFill>
            <a:srgbClr val="B26A2B"/>
          </a:solidFill>
          <a:ln/>
        </p:spPr>
      </p:sp>
      <p:sp>
        <p:nvSpPr>
          <p:cNvPr id="19" name="Shape 16"/>
          <p:cNvSpPr/>
          <p:nvPr/>
        </p:nvSpPr>
        <p:spPr>
          <a:xfrm>
            <a:off x="4846320" y="1216152"/>
            <a:ext cx="457200" cy="457200"/>
          </a:xfrm>
          <a:prstGeom prst="ellipse">
            <a:avLst/>
          </a:prstGeom>
          <a:solidFill>
            <a:srgbClr val="B26A2B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192" y="1335024"/>
            <a:ext cx="219456" cy="219456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394960" y="1243584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26A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Claude Code：三段で選べる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4892040" y="1783080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lnSpc>
                <a:spcPct val="95000"/>
              </a:lnSpc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Read/Edit deny（.gitignore記法）でツール層が遮断（例 Read(**/.env) を deny）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4892040" y="2386584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lnSpc>
                <a:spcPct val="95000"/>
              </a:lnSpc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Windowsは WSL2 の sandbox で OS級隔離（書込=作業域、秘密を deny）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4892040" y="2990088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lnSpc>
                <a:spcPct val="95000"/>
              </a:lnSpc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DevContainer（Docker Desktop＋WSL2）で物理分離＝最も固い。add-dir で範囲追加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411480" y="3931920"/>
            <a:ext cx="8321040" cy="877824"/>
          </a:xfrm>
          <a:prstGeom prst="rect">
            <a:avLst/>
          </a:prstGeom>
          <a:solidFill>
            <a:srgbClr val="F4F6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411480" y="3931920"/>
            <a:ext cx="73152" cy="877824"/>
          </a:xfrm>
          <a:prstGeom prst="rect">
            <a:avLst/>
          </a:prstGeom>
          <a:solidFill>
            <a:srgbClr val="FFC800"/>
          </a:solidFill>
          <a:ln/>
        </p:spPr>
      </p:sp>
      <p:sp>
        <p:nvSpPr>
          <p:cNvPr id="27" name="Text 23"/>
          <p:cNvSpPr/>
          <p:nvPr/>
        </p:nvSpPr>
        <p:spPr>
          <a:xfrm>
            <a:off x="621792" y="3995928"/>
            <a:ext cx="7955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違いの本質（選べる隔離の幅）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621792" y="4233672"/>
            <a:ext cx="8001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4000"/>
              </a:lnSpc>
              <a:buNone/>
            </a:pPr>
            <a:r>
              <a:rPr lang="en-US" sz="900" dirty="0">
                <a:solidFill>
                  <a:srgbClr val="2D37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WSL2でサンドボックスを使う点は両者共通。違いは“分け方の段数”。Copilot は実質オン/オフ（sandbox の有無）。Claude Code は deny ルール（ツール層）→ WSL2 sandbox（OS級）→ DevContainer（コンテナ）の三段で、作業のリスクに応じて隔離レベルを選べる。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3A4DA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詳細比較 ③ HOOKS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Hooks（ライフサイクル強制）は Copilot にもある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147304" y="4832604"/>
            <a:ext cx="82296" cy="82296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5" name="Shape 3"/>
          <p:cNvSpPr/>
          <p:nvPr/>
        </p:nvSpPr>
        <p:spPr>
          <a:xfrm>
            <a:off x="8293608" y="4832604"/>
            <a:ext cx="82296" cy="82296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6" name="Shape 4"/>
          <p:cNvSpPr/>
          <p:nvPr/>
        </p:nvSpPr>
        <p:spPr>
          <a:xfrm>
            <a:off x="8439912" y="4832604"/>
            <a:ext cx="82296" cy="82296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7" name="Shape 5"/>
          <p:cNvSpPr/>
          <p:nvPr/>
        </p:nvSpPr>
        <p:spPr>
          <a:xfrm>
            <a:off x="8586216" y="4832604"/>
            <a:ext cx="82296" cy="82296"/>
          </a:xfrm>
          <a:prstGeom prst="ellipse">
            <a:avLst/>
          </a:prstGeom>
          <a:solidFill>
            <a:srgbClr val="FFC800"/>
          </a:solidFill>
          <a:ln/>
        </p:spPr>
      </p:sp>
      <p:sp>
        <p:nvSpPr>
          <p:cNvPr id="8" name="Shape 6"/>
          <p:cNvSpPr/>
          <p:nvPr/>
        </p:nvSpPr>
        <p:spPr>
          <a:xfrm>
            <a:off x="8732520" y="4832604"/>
            <a:ext cx="82296" cy="82296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024128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Hooks＝AIの判断とは別に、節目で必ず走る決定論的シェルコマンド（“助言”でなく“強制”）。実は両者ともサポートし、しかも設定フォーマットは互換。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11480" y="1371600"/>
            <a:ext cx="406908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" y="1371600"/>
            <a:ext cx="64008" cy="2514600"/>
          </a:xfrm>
          <a:prstGeom prst="rect">
            <a:avLst/>
          </a:prstGeom>
          <a:solidFill>
            <a:srgbClr val="3A4DA6"/>
          </a:solidFill>
          <a:ln/>
        </p:spPr>
      </p:sp>
      <p:sp>
        <p:nvSpPr>
          <p:cNvPr id="12" name="Shape 10"/>
          <p:cNvSpPr/>
          <p:nvPr/>
        </p:nvSpPr>
        <p:spPr>
          <a:xfrm>
            <a:off x="594360" y="1536192"/>
            <a:ext cx="457200" cy="457200"/>
          </a:xfrm>
          <a:prstGeom prst="ellipse">
            <a:avLst/>
          </a:prstGeom>
          <a:solidFill>
            <a:srgbClr val="3A4DA6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655064"/>
            <a:ext cx="219456" cy="21945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143000" y="1563624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A4DA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Copilot の Hooks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40080" y="2029968"/>
            <a:ext cx="37033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lnSpc>
                <a:spcPct val="90000"/>
              </a:lnSpc>
              <a:buSzPct val="100000"/>
              <a:buChar char="•"/>
            </a:pPr>
            <a:r>
              <a:rPr lang="en-US" sz="830" dirty="0">
                <a:solidFill>
                  <a:srgbClr val="2D37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VS Code＝.github/hooks/*.json を自動ロード（拡張不要）。Copilot CLI／クラウドエージェントでも対応</a:t>
            </a:r>
            <a:endParaRPr lang="en-US" sz="830" dirty="0"/>
          </a:p>
        </p:txBody>
      </p:sp>
      <p:sp>
        <p:nvSpPr>
          <p:cNvPr id="16" name="Text 13"/>
          <p:cNvSpPr/>
          <p:nvPr/>
        </p:nvSpPr>
        <p:spPr>
          <a:xfrm>
            <a:off x="640080" y="2615184"/>
            <a:ext cx="37033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lnSpc>
                <a:spcPct val="90000"/>
              </a:lnSpc>
              <a:buSzPct val="100000"/>
              <a:buChar char="•"/>
            </a:pPr>
            <a:r>
              <a:rPr lang="en-US" sz="830" dirty="0">
                <a:solidFill>
                  <a:srgbClr val="2D37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8イベント：SessionStart/UserPromptSubmit/PreToolUse/PostToolUse/PreCompact/SubagentStart・Stop/Stop</a:t>
            </a:r>
            <a:endParaRPr lang="en-US" sz="830" dirty="0"/>
          </a:p>
        </p:txBody>
      </p:sp>
      <p:sp>
        <p:nvSpPr>
          <p:cNvPr id="17" name="Text 14"/>
          <p:cNvSpPr/>
          <p:nvPr/>
        </p:nvSpPr>
        <p:spPr>
          <a:xfrm>
            <a:off x="640080" y="3200400"/>
            <a:ext cx="37033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lnSpc>
                <a:spcPct val="90000"/>
              </a:lnSpc>
              <a:buSzPct val="100000"/>
              <a:buChar char="•"/>
            </a:pPr>
            <a:r>
              <a:rPr lang="en-US" sz="830" dirty="0">
                <a:solidFill>
                  <a:srgbClr val="2D37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PreToolUseで allow/ask/deny。複数フックは最も厳しい判定が勝つ（deny＞ask＞allow）</a:t>
            </a:r>
            <a:endParaRPr lang="en-US" sz="830" dirty="0"/>
          </a:p>
        </p:txBody>
      </p:sp>
      <p:sp>
        <p:nvSpPr>
          <p:cNvPr id="18" name="Shape 15"/>
          <p:cNvSpPr/>
          <p:nvPr/>
        </p:nvSpPr>
        <p:spPr>
          <a:xfrm>
            <a:off x="4663440" y="1371600"/>
            <a:ext cx="406908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663440" y="1371600"/>
            <a:ext cx="64008" cy="2514600"/>
          </a:xfrm>
          <a:prstGeom prst="rect">
            <a:avLst/>
          </a:prstGeom>
          <a:solidFill>
            <a:srgbClr val="B26A2B"/>
          </a:solidFill>
          <a:ln/>
        </p:spPr>
      </p:sp>
      <p:sp>
        <p:nvSpPr>
          <p:cNvPr id="20" name="Shape 17"/>
          <p:cNvSpPr/>
          <p:nvPr/>
        </p:nvSpPr>
        <p:spPr>
          <a:xfrm>
            <a:off x="4846320" y="1536192"/>
            <a:ext cx="457200" cy="457200"/>
          </a:xfrm>
          <a:prstGeom prst="ellipse">
            <a:avLst/>
          </a:prstGeom>
          <a:solidFill>
            <a:srgbClr val="B26A2B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192" y="1655064"/>
            <a:ext cx="219456" cy="219456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394960" y="1563624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26A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Claude Code の Hooks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4892040" y="2029968"/>
            <a:ext cx="37033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lnSpc>
                <a:spcPct val="90000"/>
              </a:lnSpc>
              <a:buSzPct val="100000"/>
              <a:buChar char="•"/>
            </a:pPr>
            <a:r>
              <a:rPr lang="en-US" sz="830" dirty="0">
                <a:solidFill>
                  <a:srgbClr val="2D37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settings.json の hooks。元祖でフォーマットの基準（VS Codeが互換採用）</a:t>
            </a:r>
            <a:endParaRPr lang="en-US" sz="830" dirty="0"/>
          </a:p>
        </p:txBody>
      </p:sp>
      <p:sp>
        <p:nvSpPr>
          <p:cNvPr id="24" name="Text 20"/>
          <p:cNvSpPr/>
          <p:nvPr/>
        </p:nvSpPr>
        <p:spPr>
          <a:xfrm>
            <a:off x="4892040" y="2615184"/>
            <a:ext cx="37033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lnSpc>
                <a:spcPct val="90000"/>
              </a:lnSpc>
              <a:buSzPct val="100000"/>
              <a:buChar char="•"/>
            </a:pPr>
            <a:r>
              <a:rPr lang="en-US" sz="830" dirty="0">
                <a:solidFill>
                  <a:srgbClr val="2D37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同じく PreToolUse/PostToolUse 等。PreToolUseで実行前にブロック可・deny常勝</a:t>
            </a:r>
            <a:endParaRPr lang="en-US" sz="830" dirty="0"/>
          </a:p>
        </p:txBody>
      </p:sp>
      <p:sp>
        <p:nvSpPr>
          <p:cNvPr id="25" name="Text 21"/>
          <p:cNvSpPr/>
          <p:nvPr/>
        </p:nvSpPr>
        <p:spPr>
          <a:xfrm>
            <a:off x="4892040" y="3200400"/>
            <a:ext cx="37033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lnSpc>
                <a:spcPct val="90000"/>
              </a:lnSpc>
              <a:buSzPct val="100000"/>
              <a:buChar char="•"/>
            </a:pPr>
            <a:r>
              <a:rPr lang="en-US" sz="830" dirty="0">
                <a:solidFill>
                  <a:srgbClr val="2D37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managed-settings で hooks を組織固定（allowManagedHooksOnly）＝改竄耐性と接続</a:t>
            </a:r>
            <a:endParaRPr lang="en-US" sz="830" dirty="0"/>
          </a:p>
        </p:txBody>
      </p:sp>
      <p:sp>
        <p:nvSpPr>
          <p:cNvPr id="26" name="Shape 22"/>
          <p:cNvSpPr/>
          <p:nvPr/>
        </p:nvSpPr>
        <p:spPr>
          <a:xfrm>
            <a:off x="411480" y="4041648"/>
            <a:ext cx="8321040" cy="777240"/>
          </a:xfrm>
          <a:prstGeom prst="rect">
            <a:avLst/>
          </a:prstGeom>
          <a:solidFill>
            <a:srgbClr val="F4F6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411480" y="4041648"/>
            <a:ext cx="73152" cy="777240"/>
          </a:xfrm>
          <a:prstGeom prst="rect">
            <a:avLst/>
          </a:prstGeom>
          <a:solidFill>
            <a:srgbClr val="FFC800"/>
          </a:solidFill>
          <a:ln/>
        </p:spPr>
      </p:sp>
      <p:sp>
        <p:nvSpPr>
          <p:cNvPr id="28" name="Text 24"/>
          <p:cNvSpPr/>
          <p:nvPr/>
        </p:nvSpPr>
        <p:spPr>
          <a:xfrm>
            <a:off x="621792" y="4087368"/>
            <a:ext cx="7955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違いの本質</a:t>
            </a:r>
            <a:endParaRPr lang="en-US" sz="1000" dirty="0"/>
          </a:p>
        </p:txBody>
      </p:sp>
      <p:sp>
        <p:nvSpPr>
          <p:cNvPr id="29" name="Text 25"/>
          <p:cNvSpPr/>
          <p:nvPr/>
        </p:nvSpPr>
        <p:spPr>
          <a:xfrm>
            <a:off x="621792" y="4325112"/>
            <a:ext cx="8001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88000"/>
              </a:lnSpc>
              <a:buNone/>
            </a:pPr>
            <a:r>
              <a:rPr lang="en-US" sz="830" dirty="0">
                <a:solidFill>
                  <a:srgbClr val="2D37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“Hooksの有無”では差は付かない（両者あり・フォーマット互換）。差は周辺：Copilotは提供面が分かれ（CLI/クラウド/VS Codeで発火イベントや命名 preToolUse↔PreToolUse が一部違う）、Claude Codeは managed-settings でフック自体を組織が固定でき、改竄耐性と一体化している点。</a:t>
            </a:r>
            <a:endParaRPr lang="en-US" sz="83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2E8B6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詳細比較 ④ サンドボックス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Windowsでの隔離：ネイティブは未対応 → WSL2なら両者動く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147304" y="4832604"/>
            <a:ext cx="82296" cy="82296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5" name="Shape 3"/>
          <p:cNvSpPr/>
          <p:nvPr/>
        </p:nvSpPr>
        <p:spPr>
          <a:xfrm>
            <a:off x="8293608" y="4832604"/>
            <a:ext cx="82296" cy="82296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6" name="Shape 4"/>
          <p:cNvSpPr/>
          <p:nvPr/>
        </p:nvSpPr>
        <p:spPr>
          <a:xfrm>
            <a:off x="8439912" y="4832604"/>
            <a:ext cx="82296" cy="82296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7" name="Shape 5"/>
          <p:cNvSpPr/>
          <p:nvPr/>
        </p:nvSpPr>
        <p:spPr>
          <a:xfrm>
            <a:off x="8586216" y="4832604"/>
            <a:ext cx="82296" cy="82296"/>
          </a:xfrm>
          <a:prstGeom prst="ellipse">
            <a:avLst/>
          </a:prstGeom>
          <a:solidFill>
            <a:srgbClr val="FFC800"/>
          </a:solidFill>
          <a:ln/>
        </p:spPr>
      </p:sp>
      <p:sp>
        <p:nvSpPr>
          <p:cNvPr id="8" name="Shape 6"/>
          <p:cNvSpPr/>
          <p:nvPr/>
        </p:nvSpPr>
        <p:spPr>
          <a:xfrm>
            <a:off x="8732520" y="4832604"/>
            <a:ext cx="82296" cy="82296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9" name="Shape 7"/>
          <p:cNvSpPr/>
          <p:nvPr/>
        </p:nvSpPr>
        <p:spPr>
          <a:xfrm>
            <a:off x="411480" y="1024128"/>
            <a:ext cx="4069080" cy="2816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1024128"/>
            <a:ext cx="64008" cy="2816352"/>
          </a:xfrm>
          <a:prstGeom prst="rect">
            <a:avLst/>
          </a:prstGeom>
          <a:solidFill>
            <a:srgbClr val="3A4DA6"/>
          </a:solidFill>
          <a:ln/>
        </p:spPr>
      </p:sp>
      <p:sp>
        <p:nvSpPr>
          <p:cNvPr id="11" name="Shape 9"/>
          <p:cNvSpPr/>
          <p:nvPr/>
        </p:nvSpPr>
        <p:spPr>
          <a:xfrm>
            <a:off x="594360" y="1188720"/>
            <a:ext cx="457200" cy="457200"/>
          </a:xfrm>
          <a:prstGeom prst="ellipse">
            <a:avLst/>
          </a:prstGeom>
          <a:solidFill>
            <a:srgbClr val="3A4DA6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307592"/>
            <a:ext cx="219456" cy="21945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143000" y="121615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A4DA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Copilot Agent Sandbox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40080" y="1700784"/>
            <a:ext cx="370332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lnSpc>
                <a:spcPct val="90000"/>
              </a:lnSpc>
              <a:buSzPct val="100000"/>
              <a:buChar char="•"/>
            </a:pPr>
            <a:r>
              <a:rPr lang="en-US" sz="830" dirty="0">
                <a:solidFill>
                  <a:srgbClr val="2D37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対応：WindowsサポートはWSL2を基盤に動く（公式）。ネイティブWindows（PowerShell直）は対象外・WSL1不可</a:t>
            </a:r>
            <a:endParaRPr lang="en-US" sz="830" dirty="0"/>
          </a:p>
        </p:txBody>
      </p:sp>
      <p:sp>
        <p:nvSpPr>
          <p:cNvPr id="15" name="Text 12"/>
          <p:cNvSpPr/>
          <p:nvPr/>
        </p:nvSpPr>
        <p:spPr>
          <a:xfrm>
            <a:off x="640080" y="2414016"/>
            <a:ext cx="370332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lnSpc>
                <a:spcPct val="90000"/>
              </a:lnSpc>
              <a:buSzPct val="100000"/>
              <a:buChar char="•"/>
            </a:pPr>
            <a:r>
              <a:rPr lang="en-US" sz="830" dirty="0">
                <a:solidFill>
                  <a:srgbClr val="2D37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範囲：適用はターミナルコマンドのみ。read/edit/write ファイルツールは別管轄（権限システム側）</a:t>
            </a:r>
            <a:endParaRPr lang="en-US" sz="830" dirty="0"/>
          </a:p>
        </p:txBody>
      </p:sp>
      <p:sp>
        <p:nvSpPr>
          <p:cNvPr id="16" name="Text 13"/>
          <p:cNvSpPr/>
          <p:nvPr/>
        </p:nvSpPr>
        <p:spPr>
          <a:xfrm>
            <a:off x="640080" y="3127248"/>
            <a:ext cx="370332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lnSpc>
                <a:spcPct val="90000"/>
              </a:lnSpc>
              <a:buSzPct val="100000"/>
              <a:buChar char="•"/>
            </a:pPr>
            <a:r>
              <a:rPr lang="en-US" sz="830" dirty="0">
                <a:solidFill>
                  <a:srgbClr val="2D37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Remote-WSLでVS Codeを開けば、コマンドはWSL2側で走り bubblewrap が効く</a:t>
            </a:r>
            <a:endParaRPr lang="en-US" sz="830" dirty="0"/>
          </a:p>
        </p:txBody>
      </p:sp>
      <p:sp>
        <p:nvSpPr>
          <p:cNvPr id="17" name="Shape 14"/>
          <p:cNvSpPr/>
          <p:nvPr/>
        </p:nvSpPr>
        <p:spPr>
          <a:xfrm>
            <a:off x="4663440" y="1024128"/>
            <a:ext cx="4069080" cy="2816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6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663440" y="1024128"/>
            <a:ext cx="64008" cy="2816352"/>
          </a:xfrm>
          <a:prstGeom prst="rect">
            <a:avLst/>
          </a:prstGeom>
          <a:solidFill>
            <a:srgbClr val="B26A2B"/>
          </a:solidFill>
          <a:ln/>
        </p:spPr>
      </p:sp>
      <p:sp>
        <p:nvSpPr>
          <p:cNvPr id="19" name="Shape 16"/>
          <p:cNvSpPr/>
          <p:nvPr/>
        </p:nvSpPr>
        <p:spPr>
          <a:xfrm>
            <a:off x="4846320" y="1188720"/>
            <a:ext cx="457200" cy="457200"/>
          </a:xfrm>
          <a:prstGeom prst="ellipse">
            <a:avLst/>
          </a:prstGeom>
          <a:solidFill>
            <a:srgbClr val="B26A2B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192" y="1307592"/>
            <a:ext cx="219456" cy="219456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394960" y="121615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26A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Claude Code Sandbox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4892040" y="1719072"/>
            <a:ext cx="370332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lnSpc>
                <a:spcPct val="92000"/>
              </a:lnSpc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対応：ネイティブWindowsでは動かない（/sandbox 非対応）。Windowsは WSL2 かコンテナで</a:t>
            </a:r>
            <a:endParaRPr lang="en-US" sz="850" dirty="0"/>
          </a:p>
        </p:txBody>
      </p:sp>
      <p:sp>
        <p:nvSpPr>
          <p:cNvPr id="23" name="Text 19"/>
          <p:cNvSpPr/>
          <p:nvPr/>
        </p:nvSpPr>
        <p:spPr>
          <a:xfrm>
            <a:off x="4892040" y="2414016"/>
            <a:ext cx="370332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lnSpc>
                <a:spcPct val="92000"/>
              </a:lnSpc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WSL2：bubblewrap＋socat で隔離（WSL1は不可）。ファイル＝作業域に書込、通信＝プロキシでドメイン許可制。子プロセスまで継承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4892040" y="3108960"/>
            <a:ext cx="370332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lnSpc>
                <a:spcPct val="92000"/>
              </a:lnSpc>
              <a:buSzPct val="100000"/>
              <a:buChar char="•"/>
            </a:pPr>
            <a:r>
              <a:rPr lang="en-US" sz="850" dirty="0">
                <a:solidFill>
                  <a:srgbClr val="2D37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実装：mac=Seatbelt／Linux・WSL2=bubblewrap＋seccomp（システムコール制限）</a:t>
            </a:r>
            <a:endParaRPr lang="en-US" sz="850" dirty="0"/>
          </a:p>
        </p:txBody>
      </p:sp>
      <p:sp>
        <p:nvSpPr>
          <p:cNvPr id="25" name="Shape 21"/>
          <p:cNvSpPr/>
          <p:nvPr/>
        </p:nvSpPr>
        <p:spPr>
          <a:xfrm>
            <a:off x="411480" y="3950208"/>
            <a:ext cx="8321040" cy="868680"/>
          </a:xfrm>
          <a:prstGeom prst="rect">
            <a:avLst/>
          </a:prstGeom>
          <a:solidFill>
            <a:srgbClr val="F4F6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411480" y="3950208"/>
            <a:ext cx="73152" cy="868680"/>
          </a:xfrm>
          <a:prstGeom prst="rect">
            <a:avLst/>
          </a:prstGeom>
          <a:solidFill>
            <a:srgbClr val="FFC800"/>
          </a:solidFill>
          <a:ln/>
        </p:spPr>
      </p:sp>
      <p:sp>
        <p:nvSpPr>
          <p:cNvPr id="27" name="Text 23"/>
          <p:cNvSpPr/>
          <p:nvPr/>
        </p:nvSpPr>
        <p:spPr>
          <a:xfrm>
            <a:off x="621792" y="4005072"/>
            <a:ext cx="7955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違いの本質（Windows）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621792" y="4233672"/>
            <a:ext cx="8001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860" dirty="0">
                <a:solidFill>
                  <a:srgbClr val="2D37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Windowsの正攻法はWSL2。Remote-WSLでVS Codeを開く（Copilot）／WSL内でClaude Codeを動かすと、コマンドはLinux側で走り bubblewrap で隔離できる＝両者ともWSL2上では決定的に効く。ネイティブWindows（PowerShell直）のまま使う時だけ隔離が無く、承認ゲート＋組織ポリシー＋コンテナで補う設計になる。</a:t>
            </a:r>
            <a:endParaRPr lang="en-US" sz="86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2E8B6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詳細比較 ⑤ ネットワーク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通信の止め方とIP直アクセスへの強さ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147304" y="4832604"/>
            <a:ext cx="82296" cy="82296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5" name="Shape 3"/>
          <p:cNvSpPr/>
          <p:nvPr/>
        </p:nvSpPr>
        <p:spPr>
          <a:xfrm>
            <a:off x="8293608" y="4832604"/>
            <a:ext cx="82296" cy="82296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6" name="Shape 4"/>
          <p:cNvSpPr/>
          <p:nvPr/>
        </p:nvSpPr>
        <p:spPr>
          <a:xfrm>
            <a:off x="8439912" y="4832604"/>
            <a:ext cx="82296" cy="82296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7" name="Shape 5"/>
          <p:cNvSpPr/>
          <p:nvPr/>
        </p:nvSpPr>
        <p:spPr>
          <a:xfrm>
            <a:off x="8586216" y="4832604"/>
            <a:ext cx="82296" cy="82296"/>
          </a:xfrm>
          <a:prstGeom prst="ellipse">
            <a:avLst/>
          </a:prstGeom>
          <a:solidFill>
            <a:srgbClr val="FFC800"/>
          </a:solidFill>
          <a:ln/>
        </p:spPr>
      </p:sp>
      <p:sp>
        <p:nvSpPr>
          <p:cNvPr id="8" name="Shape 6"/>
          <p:cNvSpPr/>
          <p:nvPr/>
        </p:nvSpPr>
        <p:spPr>
          <a:xfrm>
            <a:off x="8732520" y="4832604"/>
            <a:ext cx="82296" cy="82296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9" name="Shape 7"/>
          <p:cNvSpPr/>
          <p:nvPr/>
        </p:nvSpPr>
        <p:spPr>
          <a:xfrm>
            <a:off x="411480" y="1024128"/>
            <a:ext cx="40690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1024128"/>
            <a:ext cx="64008" cy="2331720"/>
          </a:xfrm>
          <a:prstGeom prst="rect">
            <a:avLst/>
          </a:prstGeom>
          <a:solidFill>
            <a:srgbClr val="3A4DA6"/>
          </a:solidFill>
          <a:ln/>
        </p:spPr>
      </p:sp>
      <p:sp>
        <p:nvSpPr>
          <p:cNvPr id="11" name="Shape 9"/>
          <p:cNvSpPr/>
          <p:nvPr/>
        </p:nvSpPr>
        <p:spPr>
          <a:xfrm>
            <a:off x="594360" y="1188720"/>
            <a:ext cx="457200" cy="457200"/>
          </a:xfrm>
          <a:prstGeom prst="ellipse">
            <a:avLst/>
          </a:prstGeom>
          <a:solidFill>
            <a:srgbClr val="3A4DA6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307592"/>
            <a:ext cx="219456" cy="21945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143000" y="121615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A4DA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Copilot：ドメインフィルタ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40080" y="1682496"/>
            <a:ext cx="37033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lnSpc>
                <a:spcPct val="88000"/>
              </a:lnSpc>
              <a:buSzPct val="100000"/>
              <a:buChar char="•"/>
            </a:pPr>
            <a:r>
              <a:rPr lang="en-US" sz="800" dirty="0">
                <a:solidFill>
                  <a:srgbClr val="2D37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networkFilter＋allowed/deniedNetworkDomains（拒否優先・*.example.com 可）。fetch/ブラウザ＋sandbox時はターミナルにも適用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40080" y="2231136"/>
            <a:ext cx="37033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lnSpc>
                <a:spcPct val="88000"/>
              </a:lnSpc>
              <a:buSzPct val="100000"/>
              <a:buChar char="•"/>
            </a:pPr>
            <a:r>
              <a:rPr lang="en-US" sz="800" dirty="0">
                <a:solidFill>
                  <a:srgbClr val="2D37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粒度はドメイン名。IP直指定の許可表現は弱く、localhost/127.0.0.1 は許可しても遮断される既知挙動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640080" y="2779776"/>
            <a:ext cx="37033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lnSpc>
                <a:spcPct val="88000"/>
              </a:lnSpc>
              <a:buSzPct val="100000"/>
              <a:buChar char="•"/>
            </a:pPr>
            <a:r>
              <a:rPr lang="en-US" sz="800" dirty="0">
                <a:solidFill>
                  <a:srgbClr val="2D37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決定的な遮断は sandbox ON 時。OFFだとフィルタは fetch/ブラウザ止まりで curl は別管轄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4663440" y="1024128"/>
            <a:ext cx="40690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6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663440" y="1024128"/>
            <a:ext cx="64008" cy="2331720"/>
          </a:xfrm>
          <a:prstGeom prst="rect">
            <a:avLst/>
          </a:prstGeom>
          <a:solidFill>
            <a:srgbClr val="B26A2B"/>
          </a:solidFill>
          <a:ln/>
        </p:spPr>
      </p:sp>
      <p:sp>
        <p:nvSpPr>
          <p:cNvPr id="19" name="Shape 16"/>
          <p:cNvSpPr/>
          <p:nvPr/>
        </p:nvSpPr>
        <p:spPr>
          <a:xfrm>
            <a:off x="4846320" y="1188720"/>
            <a:ext cx="457200" cy="457200"/>
          </a:xfrm>
          <a:prstGeom prst="ellipse">
            <a:avLst/>
          </a:prstGeom>
          <a:solidFill>
            <a:srgbClr val="B26A2B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192" y="1307592"/>
            <a:ext cx="219456" cy="219456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394960" y="121615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26A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Claude Code：プロキシ許可制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4892040" y="1682496"/>
            <a:ext cx="37033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lnSpc>
                <a:spcPct val="88000"/>
              </a:lnSpc>
              <a:buSzPct val="100000"/>
              <a:buChar char="•"/>
            </a:pPr>
            <a:r>
              <a:rPr lang="en-US" sz="800" dirty="0">
                <a:solidFill>
                  <a:srgbClr val="2D37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全通信を localhost プロキシ（socat）に強制。ループバック以外のNICを持たず、許可ドメイン以外は 403 で遮断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4892040" y="2231136"/>
            <a:ext cx="37033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lnSpc>
                <a:spcPct val="88000"/>
              </a:lnSpc>
              <a:buSzPct val="100000"/>
              <a:buChar char="•"/>
            </a:pPr>
            <a:r>
              <a:rPr lang="en-US" sz="800" dirty="0">
                <a:solidFill>
                  <a:srgbClr val="2D37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IPリテラル／DNSリバインディングは設計上の注意点（下の補足）。過去のSOCKS5ヌルバイト回避は srt のパッチで修正済み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4892040" y="2779776"/>
            <a:ext cx="37033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lnSpc>
                <a:spcPct val="88000"/>
              </a:lnSpc>
              <a:buSzPct val="100000"/>
              <a:buChar char="•"/>
            </a:pPr>
            <a:r>
              <a:rPr lang="en-US" sz="800" dirty="0">
                <a:solidFill>
                  <a:srgbClr val="2D37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Node の fetch(undici) は別経路でDNSが抜け得る＝Cライブラリ解決(curl等)前提のフィルタの穴</a:t>
            </a:r>
            <a:endParaRPr lang="en-US" sz="800" dirty="0"/>
          </a:p>
        </p:txBody>
      </p:sp>
      <p:sp>
        <p:nvSpPr>
          <p:cNvPr id="25" name="Shape 21"/>
          <p:cNvSpPr/>
          <p:nvPr/>
        </p:nvSpPr>
        <p:spPr>
          <a:xfrm>
            <a:off x="411480" y="3456432"/>
            <a:ext cx="8321040" cy="603504"/>
          </a:xfrm>
          <a:prstGeom prst="rect">
            <a:avLst/>
          </a:prstGeom>
          <a:solidFill>
            <a:srgbClr val="FBF3E0"/>
          </a:solidFill>
          <a:ln w="12700">
            <a:solidFill>
              <a:srgbClr val="E8D9B0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576072" y="3511296"/>
            <a:ext cx="804672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B7791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用語：SOCKS5ヌルバイト回避とは — </a:t>
            </a:r>
            <a:pPr indent="0" marL="0">
              <a:lnSpc>
                <a:spcPct val="90000"/>
              </a:lnSpc>
              <a:buNone/>
            </a:pPr>
            <a:r>
              <a:rPr lang="en-US" sz="800" dirty="0">
                <a:solidFill>
                  <a:srgbClr val="2D37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許可判定の文字列に「evil.com\0.allowed.com」のようにヌルバイト(\0)を挟むと、判定側は“…allowed.com”に見えて通過し、接続側はヌルで切れて evil.com に繋ぐ古典的バイパス。Claude Codeでは srt のパッチで修正済み。</a:t>
            </a:r>
            <a:endParaRPr lang="en-US" sz="800" dirty="0"/>
          </a:p>
        </p:txBody>
      </p:sp>
      <p:sp>
        <p:nvSpPr>
          <p:cNvPr id="27" name="Shape 23"/>
          <p:cNvSpPr/>
          <p:nvPr/>
        </p:nvSpPr>
        <p:spPr>
          <a:xfrm>
            <a:off x="411480" y="4169664"/>
            <a:ext cx="8321040" cy="640080"/>
          </a:xfrm>
          <a:prstGeom prst="rect">
            <a:avLst/>
          </a:prstGeom>
          <a:solidFill>
            <a:srgbClr val="F4F6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411480" y="4169664"/>
            <a:ext cx="73152" cy="640080"/>
          </a:xfrm>
          <a:prstGeom prst="rect">
            <a:avLst/>
          </a:prstGeom>
          <a:solidFill>
            <a:srgbClr val="FFC800"/>
          </a:solidFill>
          <a:ln/>
        </p:spPr>
      </p:sp>
      <p:sp>
        <p:nvSpPr>
          <p:cNvPr id="29" name="Text 25"/>
          <p:cNvSpPr/>
          <p:nvPr/>
        </p:nvSpPr>
        <p:spPr>
          <a:xfrm>
            <a:off x="621792" y="4224528"/>
            <a:ext cx="8001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820" b="1" dirty="0">
                <a:solidFill>
                  <a:srgbClr val="1E276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違いの本質（IP直アクセス）：</a:t>
            </a:r>
            <a:pPr indent="0" marL="0">
              <a:lnSpc>
                <a:spcPct val="90000"/>
              </a:lnSpc>
              <a:buNone/>
            </a:pPr>
            <a:r>
              <a:rPr lang="en-US" sz="820" dirty="0">
                <a:solidFill>
                  <a:srgbClr val="2D37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両者ともガードはドメイン許可制が前提＝IP直指定・DNSリバインディング・非標準DNS解決(Node fetch等)は共通の弱点。真に固めるなら DevContainer の iptables（default-deny＋送信先IP/ポートで許可）まで降ろす。</a:t>
            </a:r>
            <a:endParaRPr lang="en-US" sz="8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3A4DA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詳細比較 ⑥ 組織ポリシー / 改竄耐性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ユーザーに書き換えさせない仕組みの違い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147304" y="4832604"/>
            <a:ext cx="82296" cy="82296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5" name="Shape 3"/>
          <p:cNvSpPr/>
          <p:nvPr/>
        </p:nvSpPr>
        <p:spPr>
          <a:xfrm>
            <a:off x="8293608" y="4832604"/>
            <a:ext cx="82296" cy="82296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6" name="Shape 4"/>
          <p:cNvSpPr/>
          <p:nvPr/>
        </p:nvSpPr>
        <p:spPr>
          <a:xfrm>
            <a:off x="8439912" y="4832604"/>
            <a:ext cx="82296" cy="82296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7" name="Shape 5"/>
          <p:cNvSpPr/>
          <p:nvPr/>
        </p:nvSpPr>
        <p:spPr>
          <a:xfrm>
            <a:off x="8586216" y="4832604"/>
            <a:ext cx="82296" cy="82296"/>
          </a:xfrm>
          <a:prstGeom prst="ellipse">
            <a:avLst/>
          </a:prstGeom>
          <a:solidFill>
            <a:srgbClr val="FFC800"/>
          </a:solidFill>
          <a:ln/>
        </p:spPr>
      </p:sp>
      <p:sp>
        <p:nvSpPr>
          <p:cNvPr id="8" name="Shape 6"/>
          <p:cNvSpPr/>
          <p:nvPr/>
        </p:nvSpPr>
        <p:spPr>
          <a:xfrm>
            <a:off x="8732520" y="4832604"/>
            <a:ext cx="82296" cy="82296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9" name="Shape 7"/>
          <p:cNvSpPr/>
          <p:nvPr/>
        </p:nvSpPr>
        <p:spPr>
          <a:xfrm>
            <a:off x="411480" y="1024128"/>
            <a:ext cx="40690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1024128"/>
            <a:ext cx="64008" cy="1828800"/>
          </a:xfrm>
          <a:prstGeom prst="rect">
            <a:avLst/>
          </a:prstGeom>
          <a:solidFill>
            <a:srgbClr val="3A4DA6"/>
          </a:solidFill>
          <a:ln/>
        </p:spPr>
      </p:sp>
      <p:sp>
        <p:nvSpPr>
          <p:cNvPr id="11" name="Shape 9"/>
          <p:cNvSpPr/>
          <p:nvPr/>
        </p:nvSpPr>
        <p:spPr>
          <a:xfrm>
            <a:off x="594360" y="1188720"/>
            <a:ext cx="457200" cy="457200"/>
          </a:xfrm>
          <a:prstGeom prst="ellipse">
            <a:avLst/>
          </a:prstGeom>
          <a:solidFill>
            <a:srgbClr val="3A4DA6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307592"/>
            <a:ext cx="219456" cy="21945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143000" y="121615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4DA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Copilot（VS Code＋GitHub）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40080" y="1700784"/>
            <a:ext cx="370332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lnSpc>
                <a:spcPct val="88000"/>
              </a:lnSpc>
              <a:buSzPct val="100000"/>
              <a:buChar char="•"/>
            </a:pPr>
            <a:r>
              <a:rPr lang="en-US" sz="800" dirty="0">
                <a:solidFill>
                  <a:srgbClr val="2D37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ユーザー設定 %APPDATA%\Code\User\settings.json は編集可。ただしポリシー項目は無視され効かない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40080" y="2212848"/>
            <a:ext cx="370332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lnSpc>
                <a:spcPct val="88000"/>
              </a:lnSpc>
              <a:buSzPct val="100000"/>
              <a:buChar char="•"/>
            </a:pPr>
            <a:r>
              <a:rPr lang="en-US" sz="800" dirty="0">
                <a:solidFill>
                  <a:srgbClr val="2D37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固定は「組織で管理」ロック（鍵表示）。配布は GPO／Intune（GPO＝Windowsの集中設定配布＝グループポリシー）、書込は管理者権限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4663440" y="1024128"/>
            <a:ext cx="40690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6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663440" y="1024128"/>
            <a:ext cx="64008" cy="1828800"/>
          </a:xfrm>
          <a:prstGeom prst="rect">
            <a:avLst/>
          </a:prstGeom>
          <a:solidFill>
            <a:srgbClr val="B26A2B"/>
          </a:solidFill>
          <a:ln/>
        </p:spPr>
      </p:sp>
      <p:sp>
        <p:nvSpPr>
          <p:cNvPr id="18" name="Shape 15"/>
          <p:cNvSpPr/>
          <p:nvPr/>
        </p:nvSpPr>
        <p:spPr>
          <a:xfrm>
            <a:off x="4846320" y="1188720"/>
            <a:ext cx="457200" cy="457200"/>
          </a:xfrm>
          <a:prstGeom prst="ellipse">
            <a:avLst/>
          </a:prstGeom>
          <a:solidFill>
            <a:srgbClr val="B26A2B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192" y="1307592"/>
            <a:ext cx="219456" cy="219456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394960" y="121615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26A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Claude Code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4892040" y="1700784"/>
            <a:ext cx="370332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lnSpc>
                <a:spcPct val="88000"/>
              </a:lnSpc>
              <a:buSzPct val="100000"/>
              <a:buChar char="•"/>
            </a:pPr>
            <a:r>
              <a:rPr lang="en-US" sz="800" dirty="0">
                <a:solidFill>
                  <a:srgbClr val="2D37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ユーザー設定 ~/.claude/settings.json は編集可。だが managed が最優先・deny常勝で覆せない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4892040" y="2212848"/>
            <a:ext cx="370332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lnSpc>
                <a:spcPct val="88000"/>
              </a:lnSpc>
              <a:buSzPct val="100000"/>
              <a:buChar char="•"/>
            </a:pPr>
            <a:r>
              <a:rPr lang="en-US" sz="800" dirty="0">
                <a:solidFill>
                  <a:srgbClr val="2D37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守り方：管理者しか書けない場所（HKLM／Program Files）or サーバー管理（端末にファイル無し）。WSL継承あり</a:t>
            </a:r>
            <a:endParaRPr lang="en-US" sz="800" dirty="0"/>
          </a:p>
        </p:txBody>
      </p:sp>
      <p:sp>
        <p:nvSpPr>
          <p:cNvPr id="23" name="Shape 19"/>
          <p:cNvSpPr/>
          <p:nvPr/>
        </p:nvSpPr>
        <p:spPr>
          <a:xfrm>
            <a:off x="4663440" y="2962656"/>
            <a:ext cx="4069080" cy="749808"/>
          </a:xfrm>
          <a:prstGeom prst="rect">
            <a:avLst/>
          </a:prstGeom>
          <a:solidFill>
            <a:srgbClr val="F4F6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828032" y="2999232"/>
            <a:ext cx="3767328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780" b="1" dirty="0">
                <a:solidFill>
                  <a:srgbClr val="1E276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HKLM とは：</a:t>
            </a:r>
            <a:pPr indent="0" marL="0">
              <a:lnSpc>
                <a:spcPct val="90000"/>
              </a:lnSpc>
              <a:buNone/>
            </a:pPr>
            <a:r>
              <a:rPr lang="en-US" sz="780" dirty="0">
                <a:solidFill>
                  <a:srgbClr val="2D37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HKEY_LOCAL_MACHINE。Windowsレジストリの“PC全体（全ユーザー共通）”の領域。書込に管理者権限が要り、一般ユーザーは触れない＝ポリシーの置き場所に向く（個人用は HKCU）。</a:t>
            </a:r>
            <a:endParaRPr lang="en-US" sz="780" dirty="0"/>
          </a:p>
        </p:txBody>
      </p:sp>
      <p:sp>
        <p:nvSpPr>
          <p:cNvPr id="25" name="Shape 21"/>
          <p:cNvSpPr/>
          <p:nvPr/>
        </p:nvSpPr>
        <p:spPr>
          <a:xfrm>
            <a:off x="411480" y="2962656"/>
            <a:ext cx="4069080" cy="749808"/>
          </a:xfrm>
          <a:prstGeom prst="rect">
            <a:avLst/>
          </a:prstGeom>
          <a:solidFill>
            <a:srgbClr val="F4F6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576072" y="2999232"/>
            <a:ext cx="3767328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780" b="1" dirty="0">
                <a:solidFill>
                  <a:srgbClr val="1E276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固定できる“ポリシー項目”の例：</a:t>
            </a:r>
            <a:pPr indent="0" marL="0">
              <a:lnSpc>
                <a:spcPct val="90000"/>
              </a:lnSpc>
              <a:buNone/>
            </a:pPr>
            <a:r>
              <a:rPr lang="en-US" sz="780" dirty="0">
                <a:solidFill>
                  <a:srgbClr val="2D37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エージェント可否／自動承認(Bypass)の封印／MCP導入元／拡張許可リスト／Sandbox・ネットワーク／Hooks。Claude側は permissions・モデル等も。</a:t>
            </a:r>
            <a:endParaRPr lang="en-US" sz="780" dirty="0"/>
          </a:p>
        </p:txBody>
      </p:sp>
      <p:sp>
        <p:nvSpPr>
          <p:cNvPr id="27" name="Shape 23"/>
          <p:cNvSpPr/>
          <p:nvPr/>
        </p:nvSpPr>
        <p:spPr>
          <a:xfrm>
            <a:off x="411480" y="3840480"/>
            <a:ext cx="8321040" cy="960120"/>
          </a:xfrm>
          <a:prstGeom prst="rect">
            <a:avLst/>
          </a:prstGeom>
          <a:solidFill>
            <a:srgbClr val="F4F6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411480" y="3840480"/>
            <a:ext cx="73152" cy="960120"/>
          </a:xfrm>
          <a:prstGeom prst="rect">
            <a:avLst/>
          </a:prstGeom>
          <a:solidFill>
            <a:srgbClr val="FFC800"/>
          </a:solidFill>
          <a:ln/>
        </p:spPr>
      </p:sp>
      <p:sp>
        <p:nvSpPr>
          <p:cNvPr id="29" name="Text 25"/>
          <p:cNvSpPr/>
          <p:nvPr/>
        </p:nvSpPr>
        <p:spPr>
          <a:xfrm>
            <a:off x="621792" y="3895344"/>
            <a:ext cx="7955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違いの本質（ファイルを編集できてしまうか）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621792" y="4133088"/>
            <a:ext cx="8001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840" dirty="0">
                <a:solidFill>
                  <a:srgbClr val="2D37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Copilotは「ユーザー設定ファイルは編集できるが、ポリシー項目は書いても効かない」方式。Claude Codeは「ポリシーを置いたファイル自体を管理者権限が無いと書き換えられない／サーバー管理なら端末にファイルが無い」方式。共通の急所として、ユーザーがローカル管理者だとどちらも置き場所を書き換えられる→日常は非管理者ユーザー運用が前提。</a:t>
            </a:r>
            <a:endParaRPr lang="en-US" sz="84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E276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運用モデル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組織で効かせる：ガバナンス運用モデル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147304" y="4832604"/>
            <a:ext cx="82296" cy="82296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5" name="Shape 3"/>
          <p:cNvSpPr/>
          <p:nvPr/>
        </p:nvSpPr>
        <p:spPr>
          <a:xfrm>
            <a:off x="8293608" y="4832604"/>
            <a:ext cx="82296" cy="82296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6" name="Shape 4"/>
          <p:cNvSpPr/>
          <p:nvPr/>
        </p:nvSpPr>
        <p:spPr>
          <a:xfrm>
            <a:off x="8439912" y="4832604"/>
            <a:ext cx="82296" cy="82296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7" name="Shape 5"/>
          <p:cNvSpPr/>
          <p:nvPr/>
        </p:nvSpPr>
        <p:spPr>
          <a:xfrm>
            <a:off x="8586216" y="4832604"/>
            <a:ext cx="82296" cy="82296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8" name="Shape 6"/>
          <p:cNvSpPr/>
          <p:nvPr/>
        </p:nvSpPr>
        <p:spPr>
          <a:xfrm>
            <a:off x="8732520" y="4832604"/>
            <a:ext cx="82296" cy="82296"/>
          </a:xfrm>
          <a:prstGeom prst="ellipse">
            <a:avLst/>
          </a:prstGeom>
          <a:solidFill>
            <a:srgbClr val="FFC800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02412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個人の“安全運用”から組織の“統制”へ。背骨の3原則を、そのまま組織レベルへ引き上げる。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" y="1463040"/>
            <a:ext cx="83210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" y="1463040"/>
            <a:ext cx="64008" cy="603504"/>
          </a:xfrm>
          <a:prstGeom prst="rect">
            <a:avLst/>
          </a:prstGeom>
          <a:solidFill>
            <a:srgbClr val="2E8B6F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1581912"/>
            <a:ext cx="365760" cy="365760"/>
          </a:xfrm>
          <a:prstGeom prst="ellipse">
            <a:avLst/>
          </a:prstGeom>
          <a:solidFill>
            <a:srgbClr val="2E8B6F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026" y="1677010"/>
            <a:ext cx="175565" cy="175565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097280" y="1463040"/>
            <a:ext cx="15544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B6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分ける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743200" y="1463040"/>
            <a:ext cx="5852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60" dirty="0">
                <a:solidFill>
                  <a:srgbClr val="2D37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高リスク作業はサンドボックスON＋コンテナ/VM。日常は非管理者ユーザで最小権限。</a:t>
            </a:r>
            <a:endParaRPr lang="en-US" sz="960" dirty="0"/>
          </a:p>
        </p:txBody>
      </p:sp>
      <p:sp>
        <p:nvSpPr>
          <p:cNvPr id="16" name="Shape 13"/>
          <p:cNvSpPr/>
          <p:nvPr/>
        </p:nvSpPr>
        <p:spPr>
          <a:xfrm>
            <a:off x="411480" y="2139696"/>
            <a:ext cx="83210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6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11480" y="2139696"/>
            <a:ext cx="64008" cy="603504"/>
          </a:xfrm>
          <a:prstGeom prst="rect">
            <a:avLst/>
          </a:prstGeom>
          <a:solidFill>
            <a:srgbClr val="3A4DA6"/>
          </a:solidFill>
          <a:ln/>
        </p:spPr>
      </p:sp>
      <p:sp>
        <p:nvSpPr>
          <p:cNvPr id="18" name="Shape 15"/>
          <p:cNvSpPr/>
          <p:nvPr/>
        </p:nvSpPr>
        <p:spPr>
          <a:xfrm>
            <a:off x="566928" y="2258568"/>
            <a:ext cx="365760" cy="365760"/>
          </a:xfrm>
          <a:prstGeom prst="ellipse">
            <a:avLst/>
          </a:prstGeom>
          <a:solidFill>
            <a:srgbClr val="3A4DA6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026" y="2353666"/>
            <a:ext cx="175565" cy="175565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097280" y="2139696"/>
            <a:ext cx="15544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4DA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防ぐ（許可制）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2743200" y="2139696"/>
            <a:ext cx="5852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60" dirty="0">
                <a:solidFill>
                  <a:srgbClr val="2D37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allowManaged*Only・拡張許可リストで「許可したものだけ」。deny優先で穴を塞ぐ。</a:t>
            </a:r>
            <a:endParaRPr lang="en-US" sz="960" dirty="0"/>
          </a:p>
        </p:txBody>
      </p:sp>
      <p:sp>
        <p:nvSpPr>
          <p:cNvPr id="22" name="Shape 18"/>
          <p:cNvSpPr/>
          <p:nvPr/>
        </p:nvSpPr>
        <p:spPr>
          <a:xfrm>
            <a:off x="411480" y="2816352"/>
            <a:ext cx="83210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6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411480" y="2816352"/>
            <a:ext cx="64008" cy="60350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4" name="Shape 20"/>
          <p:cNvSpPr/>
          <p:nvPr/>
        </p:nvSpPr>
        <p:spPr>
          <a:xfrm>
            <a:off x="566928" y="2935224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026" y="3030322"/>
            <a:ext cx="175565" cy="175565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097280" y="2816352"/>
            <a:ext cx="15544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防ぐ（強制）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2743200" y="2816352"/>
            <a:ext cx="5852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60" dirty="0">
                <a:solidFill>
                  <a:srgbClr val="2D37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security設定はユーザーでなくポリシー層へ（MDM / Admin Console）。fail-closedで鮮度を担保。</a:t>
            </a:r>
            <a:endParaRPr lang="en-US" sz="960" dirty="0"/>
          </a:p>
        </p:txBody>
      </p:sp>
      <p:sp>
        <p:nvSpPr>
          <p:cNvPr id="28" name="Shape 23"/>
          <p:cNvSpPr/>
          <p:nvPr/>
        </p:nvSpPr>
        <p:spPr>
          <a:xfrm>
            <a:off x="411480" y="3493008"/>
            <a:ext cx="83210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6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411480" y="3493008"/>
            <a:ext cx="64008" cy="603504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0" name="Shape 25"/>
          <p:cNvSpPr/>
          <p:nvPr/>
        </p:nvSpPr>
        <p:spPr>
          <a:xfrm>
            <a:off x="566928" y="3611880"/>
            <a:ext cx="365760" cy="365760"/>
          </a:xfrm>
          <a:prstGeom prst="ellipse">
            <a:avLst/>
          </a:prstGeom>
          <a:solidFill>
            <a:srgbClr val="64748B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026" y="3706978"/>
            <a:ext cx="175565" cy="175565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1097280" y="3493008"/>
            <a:ext cx="15544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残す（監査）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2743200" y="3493008"/>
            <a:ext cx="5852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60" dirty="0">
                <a:solidFill>
                  <a:srgbClr val="2D37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Compliance API / OpenTelemetry / 監査ログ＋ConfigChangeフックで設定変更を検知。</a:t>
            </a:r>
            <a:endParaRPr lang="en-US" sz="960" dirty="0"/>
          </a:p>
        </p:txBody>
      </p:sp>
      <p:sp>
        <p:nvSpPr>
          <p:cNvPr id="34" name="Shape 28"/>
          <p:cNvSpPr/>
          <p:nvPr/>
        </p:nvSpPr>
        <p:spPr>
          <a:xfrm>
            <a:off x="411480" y="4169664"/>
            <a:ext cx="83210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6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411480" y="4169664"/>
            <a:ext cx="64008" cy="603504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36" name="Shape 30"/>
          <p:cNvSpPr/>
          <p:nvPr/>
        </p:nvSpPr>
        <p:spPr>
          <a:xfrm>
            <a:off x="566928" y="4288536"/>
            <a:ext cx="365760" cy="365760"/>
          </a:xfrm>
          <a:prstGeom prst="ellipse">
            <a:avLst/>
          </a:prstGeom>
          <a:solidFill>
            <a:srgbClr val="B7791F"/>
          </a:solidFill>
          <a:ln/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026" y="4383634"/>
            <a:ext cx="175565" cy="175565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1097280" y="4169664"/>
            <a:ext cx="15544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7791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段階展開</a:t>
            </a:r>
            <a:endParaRPr lang="en-US" sz="1100" dirty="0"/>
          </a:p>
        </p:txBody>
      </p:sp>
      <p:sp>
        <p:nvSpPr>
          <p:cNvPr id="39" name="Text 32"/>
          <p:cNvSpPr/>
          <p:nvPr/>
        </p:nvSpPr>
        <p:spPr>
          <a:xfrm>
            <a:off x="2743200" y="4169664"/>
            <a:ext cx="5852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60" dirty="0">
                <a:solidFill>
                  <a:srgbClr val="2D37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パイロット→部門→全社。deny規則がCI/ビルドを壊さないか先に検証して広げる。</a:t>
            </a:r>
            <a:endParaRPr lang="en-US" sz="96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3108960"/>
            <a:ext cx="3840480" cy="3840480"/>
          </a:xfrm>
          <a:prstGeom prst="ellipse">
            <a:avLst/>
          </a:prstGeom>
          <a:solidFill>
            <a:srgbClr val="2630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KEY TAKEAWAY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73152" cy="566928"/>
          </a:xfrm>
          <a:prstGeom prst="rect">
            <a:avLst/>
          </a:prstGeom>
          <a:solidFill>
            <a:srgbClr val="FFC800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7315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C8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守りの硬さは境界で決まる</a:t>
            </a:r>
            <a:endParaRPr lang="en-US" sz="2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70992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" y="1655064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Windowsの隔離はWSL2が正攻法 → Remote-WSL/WSL内実行で両者とも bubblewrap が効く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85416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41248" y="213055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境界はユーザーではなく“ポリシー層”で固定（Intune/GPO・HKLM・Admin Console）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660904"/>
            <a:ext cx="237744" cy="23774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41248" y="26060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「許可したものだけ」＋deny優先で最小権限。監査まで含めて初めてガバナンス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457200" y="3310128"/>
            <a:ext cx="8229600" cy="960120"/>
          </a:xfrm>
          <a:prstGeom prst="rect">
            <a:avLst/>
          </a:prstGeom>
          <a:solidFill>
            <a:srgbClr val="171E4D"/>
          </a:solidFill>
          <a:ln w="12700">
            <a:solidFill>
              <a:srgbClr val="2C3780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640080" y="340156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3原則の現在地</a:t>
            </a:r>
            <a:endParaRPr lang="en-US" sz="11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767328"/>
            <a:ext cx="274320" cy="2743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05840" y="373075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分ける  </a:t>
            </a:r>
            <a:pPr indent="0" marL="0">
              <a:buNone/>
            </a:pPr>
            <a:r>
              <a:rPr lang="en-US" sz="1100" dirty="0">
                <a:solidFill>
                  <a:srgbClr val="7FE3B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扱った</a:t>
            </a:r>
            <a:endParaRPr lang="en-US" sz="11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7560" y="3767328"/>
            <a:ext cx="274320" cy="27432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3703320" y="373075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防ぐ  </a:t>
            </a:r>
            <a:pPr indent="0" marL="0">
              <a:buNone/>
            </a:pPr>
            <a:r>
              <a:rPr lang="en-US" sz="1100" dirty="0">
                <a:solidFill>
                  <a:srgbClr val="7FE3B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扱った</a:t>
            </a:r>
            <a:endParaRPr lang="en-US" sz="11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5040" y="3767328"/>
            <a:ext cx="274320" cy="27432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400800" y="373075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残す  </a:t>
            </a:r>
            <a:pPr indent="0" marL="0">
              <a:buNone/>
            </a:pPr>
            <a:r>
              <a:rPr lang="en-US" sz="1100" dirty="0">
                <a:solidFill>
                  <a:srgbClr val="FFD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監査で登場</a:t>
            </a:r>
            <a:endParaRPr lang="en-US" sz="1100" dirty="0"/>
          </a:p>
        </p:txBody>
      </p:sp>
      <p:sp>
        <p:nvSpPr>
          <p:cNvPr id="20" name="Text 12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294C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出典：VS Code 公式Docs（Copilot agent tools / enterprise AI settings / policies）, Claude Code Docs（permissions / settings / sandboxing / devcontainer）。2026年5月時点。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本編に戻る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ここまで番外編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第2回「分ける」・第3回「防ぐ」の延長として、Copilotとの違いを確かめました。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2468880"/>
            <a:ext cx="8229600" cy="1371600"/>
          </a:xfrm>
          <a:prstGeom prst="rect">
            <a:avLst/>
          </a:prstGeom>
          <a:solidFill>
            <a:srgbClr val="1B2150"/>
          </a:solidFill>
          <a:ln w="12700">
            <a:solidFill>
              <a:srgbClr val="2E3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468880"/>
            <a:ext cx="91440" cy="1371600"/>
          </a:xfrm>
          <a:prstGeom prst="rect">
            <a:avLst/>
          </a:prstGeom>
          <a:solidFill>
            <a:srgbClr val="FFC800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606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C8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NEXT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2852928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第4回「自動化・共有」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85800" y="3310128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Skills / MCP / スラッシュコマンド / コンテキストエンジニアリング ―「繰り返し作業は Skill にする」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294C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番外編は本編10回のナビゲーションには含まない付録です（位置：第3回と第4回の間）。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3A4DA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APPENDIX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Windows構築手順：VS Code＋Copilot＋WSL2＋Sandbox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147304" y="4832604"/>
            <a:ext cx="82296" cy="82296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5" name="Shape 3"/>
          <p:cNvSpPr/>
          <p:nvPr/>
        </p:nvSpPr>
        <p:spPr>
          <a:xfrm>
            <a:off x="8293608" y="4832604"/>
            <a:ext cx="82296" cy="82296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6" name="Shape 4"/>
          <p:cNvSpPr/>
          <p:nvPr/>
        </p:nvSpPr>
        <p:spPr>
          <a:xfrm>
            <a:off x="8439912" y="4832604"/>
            <a:ext cx="82296" cy="82296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7" name="Shape 5"/>
          <p:cNvSpPr/>
          <p:nvPr/>
        </p:nvSpPr>
        <p:spPr>
          <a:xfrm>
            <a:off x="8586216" y="4832604"/>
            <a:ext cx="82296" cy="82296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8" name="Shape 6"/>
          <p:cNvSpPr/>
          <p:nvPr/>
        </p:nvSpPr>
        <p:spPr>
          <a:xfrm>
            <a:off x="8732520" y="4832604"/>
            <a:ext cx="82296" cy="82296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00584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ねらい：ネイティブWindowsでは効かない隔離を、WSL2上で有効化する。所要15分ほど。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1389888"/>
            <a:ext cx="274320" cy="274320"/>
          </a:xfrm>
          <a:prstGeom prst="ellipse">
            <a:avLst/>
          </a:prstGeom>
          <a:solidFill>
            <a:srgbClr val="3A4DA6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3898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1362456"/>
            <a:ext cx="42062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88000"/>
              </a:lnSpc>
              <a:buNone/>
            </a:pPr>
            <a:r>
              <a:rPr lang="en-US" sz="930" b="1" dirty="0">
                <a:solidFill>
                  <a:srgbClr val="1E276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WSL2 を入れる  </a:t>
            </a:r>
            <a:pPr indent="0" marL="0">
              <a:lnSpc>
                <a:spcPct val="88000"/>
              </a:lnSpc>
              <a:buNone/>
            </a:pPr>
            <a:r>
              <a:rPr lang="en-US" sz="800" dirty="0">
                <a:solidFill>
                  <a:srgbClr val="2D37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PowerShell(管理者)で wsl --install → 再起動。既存環境は wsl --set-default-version 2 / wsl --update で WSL2 化（WSL1は非対応）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457200" y="1901952"/>
            <a:ext cx="274320" cy="274320"/>
          </a:xfrm>
          <a:prstGeom prst="ellipse">
            <a:avLst/>
          </a:prstGeom>
          <a:solidFill>
            <a:srgbClr val="3A4DA6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19019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41248" y="1874520"/>
            <a:ext cx="42062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88000"/>
              </a:lnSpc>
              <a:buNone/>
            </a:pPr>
            <a:r>
              <a:rPr lang="en-US" sz="930" b="1" dirty="0">
                <a:solidFill>
                  <a:srgbClr val="1E276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VS Code を WSL で開く  </a:t>
            </a:r>
            <a:pPr indent="0" marL="0">
              <a:lnSpc>
                <a:spcPct val="88000"/>
              </a:lnSpc>
              <a:buNone/>
            </a:pPr>
            <a:r>
              <a:rPr lang="en-US" sz="800" dirty="0">
                <a:solidFill>
                  <a:srgbClr val="2D37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拡張「WSL」を入れ、コマンドパレット→ WSL: Connect。左下が「WSL: &lt;distro&gt;」表示＝コマンドはLinux側で実行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457200" y="2414016"/>
            <a:ext cx="274320" cy="274320"/>
          </a:xfrm>
          <a:prstGeom prst="ellipse">
            <a:avLst/>
          </a:prstGeom>
          <a:solidFill>
            <a:srgbClr val="3A4DA6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4140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41248" y="2386584"/>
            <a:ext cx="42062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88000"/>
              </a:lnSpc>
              <a:buNone/>
            </a:pPr>
            <a:r>
              <a:rPr lang="en-US" sz="930" b="1" dirty="0">
                <a:solidFill>
                  <a:srgbClr val="1E276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Copilot をWSLで有効化  </a:t>
            </a:r>
            <a:pPr indent="0" marL="0">
              <a:lnSpc>
                <a:spcPct val="88000"/>
              </a:lnSpc>
              <a:buNone/>
            </a:pPr>
            <a:r>
              <a:rPr lang="en-US" sz="800" dirty="0">
                <a:solidFill>
                  <a:srgbClr val="2D37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GitHub Copilot / Copilot Chat 拡張を WSL 側にインストール（Install in WSL）。Chatビューでエージェントを選択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457200" y="2926080"/>
            <a:ext cx="274320" cy="274320"/>
          </a:xfrm>
          <a:prstGeom prst="ellipse">
            <a:avLst/>
          </a:prstGeom>
          <a:solidFill>
            <a:srgbClr val="3A4DA6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9260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41248" y="2898648"/>
            <a:ext cx="42062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88000"/>
              </a:lnSpc>
              <a:buNone/>
            </a:pPr>
            <a:r>
              <a:rPr lang="en-US" sz="930" b="1" dirty="0">
                <a:solidFill>
                  <a:srgbClr val="1E276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Sandbox を有効化  </a:t>
            </a:r>
            <a:pPr indent="0" marL="0">
              <a:lnSpc>
                <a:spcPct val="88000"/>
              </a:lnSpc>
              <a:buNone/>
            </a:pPr>
            <a:r>
              <a:rPr lang="en-US" sz="800" dirty="0">
                <a:solidFill>
                  <a:srgbClr val="2D37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settings.json で chat.agent.sandbox.enabled を on（or allowNetwork）に。ON時はコマンドが自動承認され隔離内で実行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457200" y="3438144"/>
            <a:ext cx="274320" cy="274320"/>
          </a:xfrm>
          <a:prstGeom prst="ellipse">
            <a:avLst/>
          </a:prstGeom>
          <a:solidFill>
            <a:srgbClr val="3A4DA6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4381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41248" y="3410712"/>
            <a:ext cx="42062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88000"/>
              </a:lnSpc>
              <a:buNone/>
            </a:pPr>
            <a:r>
              <a:rPr lang="en-US" sz="930" b="1" dirty="0">
                <a:solidFill>
                  <a:srgbClr val="1E276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OS依存はVS Codeが導入  </a:t>
            </a:r>
            <a:pPr indent="0" marL="0">
              <a:lnSpc>
                <a:spcPct val="88000"/>
              </a:lnSpc>
              <a:buNone/>
            </a:pPr>
            <a:r>
              <a:rPr lang="en-US" sz="800" dirty="0">
                <a:solidFill>
                  <a:srgbClr val="2D37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必要な依存(bubblewrap等)が無ければVS Codeが導入を提案。入れないとサンドボックスは有効化されない（公式仕様）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5257800" y="1417320"/>
            <a:ext cx="3474720" cy="2331720"/>
          </a:xfrm>
          <a:prstGeom prst="rect">
            <a:avLst/>
          </a:prstGeom>
          <a:solidFill>
            <a:srgbClr val="0F1430"/>
          </a:solidFill>
          <a:ln/>
        </p:spPr>
      </p:sp>
      <p:sp>
        <p:nvSpPr>
          <p:cNvPr id="26" name="Text 24"/>
          <p:cNvSpPr/>
          <p:nvPr/>
        </p:nvSpPr>
        <p:spPr>
          <a:xfrm>
            <a:off x="5394960" y="148132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ADCF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settings.json（WSL側）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376672" y="1755648"/>
            <a:ext cx="329184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8294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.vscode/settings.json（WSL側）
</a:t>
            </a:r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
</a:t>
            </a:r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7FB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"chat.agent.sandbox.enabled": "on",
</a:t>
            </a:r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8294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"on"=FS＋通信を分離
</a:t>
            </a:r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8294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"allowNetwork"=FSのみ分離
</a:t>
            </a:r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7FB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"chat.agent.networkFilter": true,
</a:t>
            </a:r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7FB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"chat.agent.allowedNetworkDomains": [
</a:t>
            </a:r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F0C6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"api.github.com", "*.npmjs.org"
</a:t>
            </a:r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7FB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],
</a:t>
            </a:r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7FB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"chat.agent.sandbox.FileSystem.linux": {
</a:t>
            </a:r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7FE3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"allowWrite": ["."],
</a:t>
            </a:r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F0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"denyRead": ["/etc/passwd"]
</a:t>
            </a:r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7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60" dirty="0"/>
          </a:p>
        </p:txBody>
      </p:sp>
      <p:sp>
        <p:nvSpPr>
          <p:cNvPr id="28" name="Shape 26"/>
          <p:cNvSpPr/>
          <p:nvPr/>
        </p:nvSpPr>
        <p:spPr>
          <a:xfrm>
            <a:off x="411480" y="3977640"/>
            <a:ext cx="8321040" cy="896112"/>
          </a:xfrm>
          <a:prstGeom prst="rect">
            <a:avLst/>
          </a:prstGeom>
          <a:solidFill>
            <a:srgbClr val="F4F6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1480" y="3977640"/>
            <a:ext cx="73152" cy="896112"/>
          </a:xfrm>
          <a:prstGeom prst="rect">
            <a:avLst/>
          </a:prstGeom>
          <a:solidFill>
            <a:srgbClr val="FFC800"/>
          </a:solidFill>
          <a:ln/>
        </p:spPr>
      </p:sp>
      <p:sp>
        <p:nvSpPr>
          <p:cNvPr id="30" name="Text 28"/>
          <p:cNvSpPr/>
          <p:nvPr/>
        </p:nvSpPr>
        <p:spPr>
          <a:xfrm>
            <a:off x="621792" y="4023360"/>
            <a:ext cx="7955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確認とハマりどころ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21792" y="4224528"/>
            <a:ext cx="8001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800" dirty="0">
                <a:solidFill>
                  <a:srgbClr val="2D37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プロジェクトは WSL 側(例 ~/work)に置く（/mnt/c のWindows側はI/Oが遅い）／WSL1は不可・wsl -l -v で VERSION 2 を確認／enabled は文字列 "on"／"allowNetwork"／"off"／FS制御は FileSystem.linux で deny優先・glob不可。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21792" y="4553712"/>
            <a:ext cx="7406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88000"/>
              </a:lnSpc>
              <a:buNone/>
            </a:pPr>
            <a:r>
              <a:rPr lang="en-US" sz="680" i="1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出典（Microsoft公式）：code.visualstudio.com/docs/copilot/agents/agent-tools（設定手順）, /concepts/trust-and-safety（WSL2要件・OS実装）, /security（Windows有効化）。2026年5月時点。</a:t>
            </a:r>
            <a:endParaRPr lang="en-US" sz="68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039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APPENDIX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WSL2を使わず Sandbox を ON にしたら？（ネイティブWindows）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147304" y="4832604"/>
            <a:ext cx="82296" cy="82296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5" name="Shape 3"/>
          <p:cNvSpPr/>
          <p:nvPr/>
        </p:nvSpPr>
        <p:spPr>
          <a:xfrm>
            <a:off x="8293608" y="4832604"/>
            <a:ext cx="82296" cy="82296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6" name="Shape 4"/>
          <p:cNvSpPr/>
          <p:nvPr/>
        </p:nvSpPr>
        <p:spPr>
          <a:xfrm>
            <a:off x="8439912" y="4832604"/>
            <a:ext cx="82296" cy="82296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7" name="Shape 5"/>
          <p:cNvSpPr/>
          <p:nvPr/>
        </p:nvSpPr>
        <p:spPr>
          <a:xfrm>
            <a:off x="8586216" y="4832604"/>
            <a:ext cx="82296" cy="82296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8" name="Shape 6"/>
          <p:cNvSpPr/>
          <p:nvPr/>
        </p:nvSpPr>
        <p:spPr>
          <a:xfrm>
            <a:off x="8732520" y="4832604"/>
            <a:ext cx="82296" cy="82296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00584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結論：隔離は成立しない。bubblewrap は Windowsカーネルでは動かず、サンドボックスの基盤が無い。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11480" y="1371600"/>
            <a:ext cx="8321040" cy="786384"/>
          </a:xfrm>
          <a:prstGeom prst="rect">
            <a:avLst/>
          </a:prstGeom>
          <a:solidFill>
            <a:srgbClr val="F4F6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1371600"/>
            <a:ext cx="73152" cy="78638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621792" y="1572768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1644" y="1672620"/>
            <a:ext cx="184343" cy="184343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188720" y="1463040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そもそも有効化できない／無視される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1188720" y="1773936"/>
            <a:ext cx="74066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840" dirty="0">
                <a:solidFill>
                  <a:srgbClr val="2D37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sandbox.enabled を立てても、依存(bubblewrap/socat)が無いため隔離が起動しない。設定はあるのに“箱が無い”状態。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411480" y="2249424"/>
            <a:ext cx="8321040" cy="786384"/>
          </a:xfrm>
          <a:prstGeom prst="rect">
            <a:avLst/>
          </a:prstGeom>
          <a:solidFill>
            <a:srgbClr val="F4F6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11480" y="2249424"/>
            <a:ext cx="73152" cy="786384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18" name="Shape 15"/>
          <p:cNvSpPr/>
          <p:nvPr/>
        </p:nvSpPr>
        <p:spPr>
          <a:xfrm>
            <a:off x="621792" y="2450592"/>
            <a:ext cx="384048" cy="384048"/>
          </a:xfrm>
          <a:prstGeom prst="ellipse">
            <a:avLst/>
          </a:prstGeom>
          <a:solidFill>
            <a:srgbClr val="B7791F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644" y="2550444"/>
            <a:ext cx="184343" cy="184343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188720" y="2340864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隔離されないまま自動承認だけ進む危険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1188720" y="2651760"/>
            <a:ext cx="74066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840" dirty="0">
                <a:solidFill>
                  <a:srgbClr val="2D37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サンドボックス前提で「自動承認」に倒していると、隔離が無いのに確認が省かれ、ホスト直で危険コマンドが走り得る。</a:t>
            </a:r>
            <a:endParaRPr lang="en-US" sz="840" dirty="0"/>
          </a:p>
        </p:txBody>
      </p:sp>
      <p:sp>
        <p:nvSpPr>
          <p:cNvPr id="22" name="Shape 18"/>
          <p:cNvSpPr/>
          <p:nvPr/>
        </p:nvSpPr>
        <p:spPr>
          <a:xfrm>
            <a:off x="411480" y="3127248"/>
            <a:ext cx="8321040" cy="786384"/>
          </a:xfrm>
          <a:prstGeom prst="rect">
            <a:avLst/>
          </a:prstGeom>
          <a:solidFill>
            <a:srgbClr val="F4F6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11480" y="3127248"/>
            <a:ext cx="73152" cy="78638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4" name="Shape 20"/>
          <p:cNvSpPr/>
          <p:nvPr/>
        </p:nvSpPr>
        <p:spPr>
          <a:xfrm>
            <a:off x="621792" y="3328416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644" y="3428268"/>
            <a:ext cx="184343" cy="184343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188720" y="3218688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WSL併用の中途半端構成は事故源</a:t>
            </a:r>
            <a:endParaRPr lang="en-US" sz="1050" dirty="0"/>
          </a:p>
        </p:txBody>
      </p:sp>
      <p:sp>
        <p:nvSpPr>
          <p:cNvPr id="27" name="Text 22"/>
          <p:cNvSpPr/>
          <p:nvPr/>
        </p:nvSpPr>
        <p:spPr>
          <a:xfrm>
            <a:off x="1188720" y="3529584"/>
            <a:ext cx="74066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840" dirty="0">
                <a:solidFill>
                  <a:srgbClr val="2D37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Windows側からwsl.exe経由で“隔離コマンド”を渡すと、クォート破損でHOMEの指定が外れ rm -rf が実ホームを消す報告（#316120）。</a:t>
            </a:r>
            <a:endParaRPr lang="en-US" sz="840" dirty="0"/>
          </a:p>
        </p:txBody>
      </p:sp>
      <p:sp>
        <p:nvSpPr>
          <p:cNvPr id="28" name="Shape 23"/>
          <p:cNvSpPr/>
          <p:nvPr/>
        </p:nvSpPr>
        <p:spPr>
          <a:xfrm>
            <a:off x="411480" y="4041648"/>
            <a:ext cx="8321040" cy="749808"/>
          </a:xfrm>
          <a:prstGeom prst="rect">
            <a:avLst/>
          </a:prstGeom>
          <a:solidFill>
            <a:srgbClr val="FBF3E0"/>
          </a:solidFill>
          <a:ln w="12700">
            <a:solidFill>
              <a:srgbClr val="E8D9B0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411480" y="4041648"/>
            <a:ext cx="73152" cy="749808"/>
          </a:xfrm>
          <a:prstGeom prst="rect">
            <a:avLst/>
          </a:prstGeom>
          <a:solidFill>
            <a:srgbClr val="FFC800"/>
          </a:solidFill>
          <a:ln/>
        </p:spPr>
      </p:sp>
      <p:sp>
        <p:nvSpPr>
          <p:cNvPr id="30" name="Text 25"/>
          <p:cNvSpPr/>
          <p:nvPr/>
        </p:nvSpPr>
        <p:spPr>
          <a:xfrm>
            <a:off x="621792" y="4114800"/>
            <a:ext cx="8001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860" b="1" dirty="0">
                <a:solidFill>
                  <a:srgbClr val="1E276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では何をすべきか：</a:t>
            </a:r>
            <a:pPr indent="0" marL="0">
              <a:lnSpc>
                <a:spcPct val="92000"/>
              </a:lnSpc>
              <a:buNone/>
            </a:pPr>
            <a:r>
              <a:rPr lang="en-US" sz="860" dirty="0">
                <a:solidFill>
                  <a:srgbClr val="2D374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 ネイティブWindowsで使うなら隔離は当てにせず、承認ゲート＋組織ポリシー（Intune/GPO）＋許可コマンド限定で運用。決定的な隔離が要るなら WSL2 か DevContainer に移す（＝前ページの構成）。</a:t>
            </a:r>
            <a:endParaRPr lang="en-US" sz="8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番外編：VS Code AIエージェント セキュリティ比較</dc:title>
  <dc:subject>PptxGenJS Presentation</dc:subject>
  <dc:creator>Koji</dc:creator>
  <cp:lastModifiedBy>Koji</cp:lastModifiedBy>
  <cp:revision>1</cp:revision>
  <dcterms:created xsi:type="dcterms:W3CDTF">2026-06-01T00:08:56Z</dcterms:created>
  <dcterms:modified xsi:type="dcterms:W3CDTF">2026-06-01T00:08:56Z</dcterms:modified>
</cp:coreProperties>
</file>