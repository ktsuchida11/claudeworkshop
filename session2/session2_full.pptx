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2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9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勉強会  /  全10回シリーズ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2 回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環境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「分ける」を物理・論理レベルで実装する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今日のテーマ:  3原則の【01 分ける】の実践編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○ ○ ○ ○ ○ ○ ○ 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100">
                <a:solidFill>
                  <a:schemeClr val="bg1"/>
                </a:solidFill>
              </a:rPr>
              <a:t>土田　晃司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C800"/>
                </a:solidFill>
              </a:rPr>
              <a:t>★ 覚えて帰る一言: 「迷ったらDevContainerから始める」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</a:rPr>
              <a:t>●  DevContainer</a:t>
            </a:r>
            <a:r>
              <a:rPr sz="1400" b="0">
                <a:solidFill>
                  <a:srgbClr val="2D3748"/>
                </a:solidFill>
              </a:rPr>
              <a:t>　＝　プロジェクトごとの使い捨て開発コンテナ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L1〜L4</a:t>
            </a:r>
            <a:r>
              <a:rPr sz="1400" b="0">
                <a:solidFill>
                  <a:srgbClr val="2D3748"/>
                </a:solidFill>
              </a:rPr>
              <a:t>　＝　分離の強度レベル（プロセス→コンテナ→VM→物理マシン）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IAMロール</a:t>
            </a:r>
            <a:r>
              <a:rPr sz="1400" b="0">
                <a:solidFill>
                  <a:srgbClr val="2D3748"/>
                </a:solidFill>
              </a:rPr>
              <a:t>　＝　クラウド上の「誰が何をできるか」の権限定義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IMDSv2</a:t>
            </a:r>
            <a:r>
              <a:rPr sz="1400" b="0">
                <a:solidFill>
                  <a:srgbClr val="2D3748"/>
                </a:solidFill>
              </a:rPr>
              <a:t>　＝　クラウドの認証情報を盗まれにくくしたエンドポイント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最小権限</a:t>
            </a:r>
            <a:r>
              <a:rPr sz="1400" b="0">
                <a:solidFill>
                  <a:srgbClr val="2D3748"/>
                </a:solidFill>
              </a:rPr>
              <a:t>　＝　必要なものだけ許可する設計の基本原則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前回までの地図と、今日の位置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前回の3原則を再掲。今日は【01 分ける】を深掘りする回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788920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645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51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分ける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動作環境・アカウント・権限を分離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429000"/>
            <a:ext cx="233172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今日はココを深掘り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554480"/>
            <a:ext cx="2697480" cy="22860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288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5E9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356616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防ぐ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56616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悪意あるものを入れない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6616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(第3回/第6回で扱う)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1554480"/>
            <a:ext cx="2697480" cy="22860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288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5E9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640080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残す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40080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行動ログを記録し監査可能に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008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(第3回/第6回で扱う)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今日のゴール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「分ける」を4つのレベルで理解し、自分のユースケースに合う分離を選べるようになる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なぜ「分ける」が3原則のトップなのか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予防（事前）→ 制御（実行時）→ 監査（事後）の順序で最も効く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78308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事前対策が一番安い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3375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事故が起きる前に環境を分けるほうが、起きてから対処するより圧倒的に安い。やり直しコストが最小。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66160" y="178308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661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8912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他の原則を支える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66160" y="324612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分けた環境の中でなら、Permission / Hooks の設定もログ収集も設計しやすい。土台を作る原則。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269748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00800" y="178308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23760" y="1920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失敗しても被害が小さい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3246120"/>
            <a:ext cx="2148840" cy="0"/>
          </a:xfrm>
          <a:prstGeom prst="line">
            <a:avLst/>
          </a:prstGeom>
          <a:noFill/>
          <a:ln w="12700">
            <a:solidFill>
              <a:srgbClr val="D1D5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0" y="33375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分離を失敗しても「動かない」で済む。一方、防御や監査を失敗すると「流出・削除」になる。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43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「分ける」は事前投資、「防ぐ」は日々の運用、「残す」は事後のセーフティネット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分離には 4 段階ある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強度と運用コストのトレードオフ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1508760"/>
            <a:ext cx="1920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13612" y="1508760"/>
            <a:ext cx="1828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9184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5434" y="1508760"/>
            <a:ext cx="1371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911804" y="149946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運用コスト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9773" y="1508373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73152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1920240"/>
            <a:ext cx="192024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8016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プロセス分離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13612" y="1920240"/>
            <a:ext cx="182880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122916" y="1919853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★☆☆☆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42412" y="1920240"/>
            <a:ext cx="137160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86769" y="1929733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14013" y="1920240"/>
            <a:ext cx="265176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5452" y="1920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別ユーザーアカウント、chroot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73152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2560320"/>
            <a:ext cx="192024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801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コンテナ分離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13612" y="2560320"/>
            <a:ext cx="182880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167273" y="255915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★★☆☆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42412" y="2560320"/>
            <a:ext cx="137160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86769" y="256826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14012" y="2560320"/>
            <a:ext cx="265176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8368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DevContainer、Docker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200400"/>
            <a:ext cx="73152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3200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88720" y="3200400"/>
            <a:ext cx="192024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8016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VM 分離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13612" y="3200400"/>
            <a:ext cx="182880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134146" y="320969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★★★☆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942412" y="3200400"/>
            <a:ext cx="137160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988132" y="3200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3200400"/>
            <a:ext cx="2651760" cy="64008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05452" y="3200400"/>
            <a:ext cx="2555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VirtualBox、Multipass、クラウドVM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840480"/>
            <a:ext cx="73152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640" y="3840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88720" y="3840480"/>
            <a:ext cx="192024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28016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物理マシン分離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113612" y="3840480"/>
            <a:ext cx="182880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134146" y="38373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★★★★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942412" y="3840480"/>
            <a:ext cx="137160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942412" y="3836993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最高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314012" y="3840480"/>
            <a:ext cx="265176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405452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別端末（Mac mini等）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199" y="4526280"/>
            <a:ext cx="8503921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57199" y="4526280"/>
            <a:ext cx="85039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DevContainerの選び方は FAQ Q1-1 / VMとコンテナの使い分けは FAQ Q1-5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DevContainer と Claude Code Sandbox は別レイヤー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「部屋の中でさらに手袋をする」― 2段階の境界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206240" cy="2880360"/>
          </a:xfrm>
          <a:prstGeom prst="rect">
            <a:avLst/>
          </a:prstGeom>
          <a:solidFill>
            <a:srgbClr val="EEF1F6"/>
          </a:solidFill>
          <a:ln w="12700">
            <a:solidFill>
              <a:srgbClr val="B7C0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ホストOS（あなたのマシン）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3566160" cy="214884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DevContainer（Docker）</a:t>
            </a:r>
            <a:endParaRPr lang="en-US" sz="12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ホストから分離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292608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2880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/sandbox 有効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bash実行ごとに境界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1508760"/>
            <a:ext cx="10058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46320" y="1508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1508760"/>
            <a:ext cx="1417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85216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69480" y="1508760"/>
            <a:ext cx="1417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26948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Sandbox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1920240"/>
            <a:ext cx="100584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937760" y="19202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分離対象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1920240"/>
            <a:ext cx="141732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943600" y="1920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コンテナ全体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269480" y="1920240"/>
            <a:ext cx="141732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360920" y="19202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bash サブプロセス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2514600"/>
            <a:ext cx="1005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937760" y="2514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粒度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852160" y="2514600"/>
            <a:ext cx="1417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943600" y="25146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プロジェクト単位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69480" y="2514600"/>
            <a:ext cx="1417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360920" y="25146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コマンド単位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3108960"/>
            <a:ext cx="100584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937760" y="3108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852160" y="3108960"/>
            <a:ext cx="141732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943600" y="31089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ホストの機密を守る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269480" y="3108960"/>
            <a:ext cx="1417320" cy="59436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360920" y="31089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コンテナ内も細かく制御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46320" y="3794760"/>
            <a:ext cx="3840480" cy="457200"/>
          </a:xfrm>
          <a:prstGeom prst="rect">
            <a:avLst/>
          </a:prstGeom>
          <a:solidFill>
            <a:srgbClr val="ECF7F0"/>
          </a:solidFill>
          <a:ln w="9525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98348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</a:t>
            </a: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両方同時に有効化できる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🛡️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両方同時に有効化 = 最強の分離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。承認疲れ </a:t>
            </a: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84% 削減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の効果も併せて得られる(Anthropic内部計測)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/sandbox で有効化 / OSS として npx @anthropic-ai/sandbox-runtime でも提供(macOS Seatbelt / Linux bubblewrap / WSL2対応)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どの環境がどこまで守ってくれるか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4つの選択肢を、評価軸で比較する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860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ローカル直接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146304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862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Code拡張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16002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463040"/>
            <a:ext cx="16002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866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別マシン (L4)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187452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ファイル範囲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1874520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31720" y="187452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全PC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86200" y="1874520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31920" y="187452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WS中心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1874520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532120" y="187452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0" y="1874520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32320" y="187452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物理隔離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267712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226771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2267712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331720" y="226771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86200" y="2267712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931920" y="226771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267712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532120" y="226771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制御可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86600" y="2267712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132320" y="226771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物理隔離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660904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2660904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認証情報到達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2660904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31720" y="2660904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86200" y="2660904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931920" y="2660904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🟡 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2660904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532120" y="2660904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🟢 低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86600" y="2660904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32320" y="2660904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🟢 極低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054096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640" y="305409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ssh鍵流出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0" y="3054096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331720" y="3054096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86200" y="3054096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931920" y="3054096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🟡 中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0" y="3054096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532120" y="3054096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🟢 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86600" y="3054096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132320" y="3054096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🟢 極低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3447288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48640" y="344728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運用コスト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86000" y="3447288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331720" y="3447288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86200" y="3447288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931920" y="3447288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0" y="3447288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532120" y="3447288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86600" y="3447288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132320" y="3447288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3840480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48640" y="384048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推奨度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3840480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2331720" y="3840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886200" y="3840480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931920" y="3840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△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486400" y="3840480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532120" y="3840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◎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7086600" y="3840480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132320" y="384048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◎◎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57200" y="4233672"/>
            <a:ext cx="1828800" cy="393192"/>
          </a:xfrm>
          <a:prstGeom prst="rect">
            <a:avLst/>
          </a:prstGeom>
          <a:solidFill>
            <a:srgbClr val="1E2761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48640" y="423367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使うべき場面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286000" y="4233672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2331720" y="423367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検証・個人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886200" y="4233672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3931920" y="423367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軽い編集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486400" y="4233672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5532120" y="423367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業務コード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086600" y="4233672"/>
            <a:ext cx="1600200" cy="393192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7132320" y="423367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高リスク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5943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基本は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。ローカル直接でも Hooks+Permission で L2相当まで引き上げられる（</a:t>
            </a: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第3回で扱う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ローカルPC と DevContainer ― 同じPCで何が変わるか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から見える世界を比較する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0175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508760"/>
            <a:ext cx="73152" cy="3017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</a:t>
            </a: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ローカルPC 直接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0D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💻 あなたのPC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5603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~/.ssh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342900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8036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~/.aws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490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ブラウザCookie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74904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8036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他プロジェクト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1" name="Text 14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全部見える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663440" y="1508760"/>
            <a:ext cx="4023360" cy="3017520"/>
          </a:xfrm>
          <a:prstGeom prst="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3" name="Shape 16"/>
          <p:cNvSpPr/>
          <p:nvPr/>
        </p:nvSpPr>
        <p:spPr>
          <a:xfrm>
            <a:off x="4663440" y="1508760"/>
            <a:ext cx="73152" cy="3017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4" name="Text 17"/>
          <p:cNvSpPr/>
          <p:nvPr/>
        </p:nvSpPr>
        <p:spPr>
          <a:xfrm>
            <a:off x="48463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🟢 </a:t>
            </a: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 経由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892040" y="214884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0D0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49834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💻 あなたのPC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120640" y="2514600"/>
            <a:ext cx="1463040" cy="109728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dash"/>
          </a:ln>
        </p:spPr>
        <p:txBody>
          <a:bodyPr/>
          <a:p/>
        </p:txBody>
      </p:sp>
      <p:sp>
        <p:nvSpPr>
          <p:cNvPr id="28" name="Text 21"/>
          <p:cNvSpPr/>
          <p:nvPr/>
        </p:nvSpPr>
        <p:spPr>
          <a:xfrm>
            <a:off x="521208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📦 DevContainer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2807208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32278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8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337560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623560" y="3337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 ✓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651760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86600" y="2651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~/.ssh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6693408" y="2551176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32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017520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086600" y="3017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~/.aws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693408" y="2916936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32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383280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086600" y="3383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ブラウザCookie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6693408" y="3282696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32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749040"/>
            <a:ext cx="256032" cy="25603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08660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他プロジェクト</a:t>
            </a:r>
            <a:endParaRPr lang="en-US" sz="900" dirty="0"/>
          </a:p>
        </p:txBody>
      </p:sp>
      <p:sp>
        <p:nvSpPr>
          <p:cNvPr id="44" name="Text 31"/>
          <p:cNvSpPr/>
          <p:nvPr/>
        </p:nvSpPr>
        <p:spPr>
          <a:xfrm>
            <a:off x="6693408" y="3648456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3200" dirty="0"/>
          </a:p>
        </p:txBody>
      </p:sp>
      <p:sp>
        <p:nvSpPr>
          <p:cNvPr id="45" name="Shape 32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46" name="Text 33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箱の中だけ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48" name="Text 35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同じPC、違う世界観。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これが L2 コンテナ分離の効果 / さらに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/sandbox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併用で内部も細かく制御(前スライド参照)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クラウドで動かす時の落とし穴 ― IAMと最小権限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「誰が動くか」ではなく「何ができるか」で設計する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554480"/>
          </a:xfrm>
          <a:prstGeom prst="rect">
            <a:avLst/>
          </a:prstGeom>
          <a:solidFill>
            <a:srgbClr val="FDECEC"/>
          </a:solidFill>
          <a:ln w="9525">
            <a:solidFill>
              <a:srgbClr val="F96167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想定外のIAMロール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EC2/ECSのインスタンスロールが想定以上の権限を持っていて、エージェントがそれを使える状態に。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697480" cy="1554480"/>
          </a:xfrm>
          <a:prstGeom prst="rect">
            <a:avLst/>
          </a:prstGeom>
          <a:solidFill>
            <a:srgbClr val="FDECEC"/>
          </a:solidFill>
          <a:ln w="9525">
            <a:solidFill>
              <a:srgbClr val="F96167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6459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認証情報の自動取得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IMDSv2、GCP Metadataサーバーから、エージェントが認証情報を自動取得できてしまう。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697480" cy="1554480"/>
          </a:xfrm>
          <a:prstGeom prst="rect">
            <a:avLst/>
          </a:prstGeom>
          <a:solidFill>
            <a:srgbClr val="FDECEC"/>
          </a:solidFill>
          <a:ln w="9525">
            <a:solidFill>
              <a:srgbClr val="F96167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459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横展開（ラテラル）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一度認証情報が取れると、S3・RDS・Lambda等の他AWSサービスに広範にアクセス可能。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57200" y="3154680"/>
            <a:ext cx="91440" cy="13716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8580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 ― 最小権限の原則で設計する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77240" y="3675888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960120" y="361188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エージェント専用の IAM ロールを作る（人間のロールを使い回さない）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77240" y="3886200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960120" y="382219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権限は必要最小限のみ：IAMロール + S3の特定バケット + Secrets Managerの特定シークレット のように具体的に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960120" y="403250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IMDSv2 必須化、もしくは Metadata エンドポイントを無効化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77240" y="4306824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960120" y="424281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アクセスは CloudTrail 等でログを残す（第6回「残す」と連動）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「エージェント専用アカウント」+「最小権限」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の2つが、クラウドで「分ける」の肝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あなたはどの環境で動かすべきか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DevContainer。ここから始めて必要に応じてスケールアップ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Q1: 業務で機密情報を扱う？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Q2: 規制業界（金融/医療）？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828800" y="2103120"/>
            <a:ext cx="5486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828800" y="2103120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306324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80160" y="3337560"/>
            <a:ext cx="1920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280160" y="3337560"/>
            <a:ext cx="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00400" y="3337560"/>
            <a:ext cx="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3136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136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B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2103120"/>
            <a:ext cx="0" cy="17830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64592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886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L4: 別端末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(Mac mini等)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77440" y="3886200"/>
            <a:ext cx="1645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77440" y="3886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 ★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(基本線)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3886200"/>
            <a:ext cx="2377440" cy="777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ローカル直接でOK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第3回の3点セット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4360" y="4754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DevContainer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。そこから、必要に応じてスケールアップ or ダウンするのが実用的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 E M 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ここからは実演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「分ける」の効果を目で見る ― ローカル vs DevContainer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651760"/>
            <a:ext cx="393192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  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ローカル直接で試行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に「ホームディレクトリを調査して」と依頼。~/.ssh や ~/.aws が到達できる様子を見る。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1828800" cy="256032"/>
          </a:xfrm>
          <a:prstGeom prst="rect">
            <a:avLst/>
          </a:prstGeom>
          <a:solidFill>
            <a:srgbClr val="151B4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全部見える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93192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  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 経由で試行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同じ依頼をコンテナ内で実行。ホスト側の機密には到達できないことを確認。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4251960"/>
            <a:ext cx="1828800" cy="25603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箱の中だけ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ただし DevContainer でも完璧ではない ― コンテナ内の .env や、マウントされたディレクトリは見える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実演の参考 ― コマンドと確認ポイント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DEMO B ▸ </a:t>
            </a: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DevContainer 起動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292608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プロジェクトルートで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コマンドパレット: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"Reopen in Container"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または CLI から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devcontainer up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--workspace-folder 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コンテナ内で Claude Code 起動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/sandbox も忘れず有効化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/sandbox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DEMO B ▸ </a:t>
            </a: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分離の確認コマンド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292608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コンテナ内で試す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~/.ssh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No such file or directory 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/etc/hostname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コンテナID (ホストではない)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http://169.254.169.254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IMDS到達性を確認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(クラウド環境のみ)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 | grep workspace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どこがマウントされたか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4526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▸ </a:t>
            </a: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マウントを意図的に制限するのが設定のコツ。デフォルトは広めなので、絞る発想で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 ○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E Y   T A K E A W A 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ja-JP" sz="2200" b="1">
                <a:solidFill>
                  <a:srgbClr val="FFC800"/>
                </a:solidFill>
                <a:latin typeface="+mj-lt"/>
              </a:rPr>
              <a:t>★ 「迷ったらDevContainerから始める」</a:t>
            </a:r>
          </a:p>
          <a:p>
            <a:endParaRPr lang="ja-JP" sz="80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分離には </a:t>
            </a: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段階</a:t>
            </a: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ある。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 が基本線</a:t>
            </a: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、ローカルは Hooks+Permission で代替、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高リスクタスクは 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別マシン</a:t>
            </a: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を検討。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今日持ち帰るチェック項目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886200"/>
            <a:ext cx="182880" cy="182880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4段階の分離レベル（プロセス/コンテナ/VM/物理）を説明できる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178808"/>
            <a:ext cx="182880" cy="182880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DevContainer と Claude Code Sandbox は別レイヤーで併用できると分かる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471416"/>
            <a:ext cx="182880" cy="182880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44256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クラウドIAMは「何ができるか」で設計するという原則を持ち帰った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4900000"/>
            <a:ext cx="82296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C800"/>
                </a:solidFill>
              </a:rPr>
              <a:t>3原則の現在地：  01 分ける 🎯    02 防ぐ ⏳    03 残す 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E X T   S E S S I O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次回 ― 第3回「基本ガード」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783080"/>
            <a:ext cx="3383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▸ </a:t>
            </a: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3原則の【02 防ぐ】の実践編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取り扱う内容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/ Permission / Hooks の3点セット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19272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入口・出口・境界の3リスクカテゴリへの対応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助言的ガード vs 決定的ガード ― それぞれの使い分け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4069080"/>
            <a:ext cx="9144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 </a:t>
            </a: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+ Permission + Hooks の前後で振る舞いを比較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1045</Words>
  <Application>Microsoft Macintosh PowerPoint</Application>
  <PresentationFormat>画面に合わせる (16:9)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Meiryo</vt:lpstr>
      <vt:lpstr>Arial</vt:lpstr>
      <vt:lpstr>Arial Black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第2回 環境</dc:title>
  <dc:subject>PptxGenJS Presentation</dc:subject>
  <dc:creator>Koji</dc:creator>
  <cp:lastModifiedBy>晃司 土田</cp:lastModifiedBy>
  <cp:revision>3</cp:revision>
  <dcterms:created xsi:type="dcterms:W3CDTF">2026-04-16T14:12:47Z</dcterms:created>
  <dcterms:modified xsi:type="dcterms:W3CDTF">2026-04-27T08:38:58Z</dcterms:modified>
</cp:coreProperties>
</file>