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5" d="100"/>
          <a:sy n="165" d="100"/>
        </p:scale>
        <p:origin x="5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49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6858000" y="109728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65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勉強会  /  全10回シリーズ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91440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第 2 回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環境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731520" cy="54864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「分ける」を物理・論理レベルで実装する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今日のテーマ:  3原則の【01 分ける】の実践編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6634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kern="0" spc="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○ ○ ○ ○ ○ ○ ○ ○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100">
                <a:solidFill>
                  <a:schemeClr val="bg1"/>
                </a:solidFill>
              </a:rPr>
              <a:t>土田　晃司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前回までの地図と、今日の位置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前回の3原則を再掲。今日は【01 分ける】を深掘りする回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2788920" cy="23774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54480"/>
            <a:ext cx="2697480" cy="2286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40280" y="164592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151B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31520" y="24231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分ける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31520" y="30175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動作環境・アカウント・権限を分離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233172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4290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今日はココを深掘り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82880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6636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400" dirty="0"/>
          </a:p>
        </p:txBody>
      </p:sp>
      <p:sp>
        <p:nvSpPr>
          <p:cNvPr id="16" name="Text 12"/>
          <p:cNvSpPr/>
          <p:nvPr/>
        </p:nvSpPr>
        <p:spPr>
          <a:xfrm>
            <a:off x="356616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防ぐ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3566160" y="2926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悪意あるものを入れない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566160" y="3474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(第3回/第6回で扱う)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126480" y="1554480"/>
            <a:ext cx="2697480" cy="228600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82880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001000" y="1645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E5E9F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400" dirty="0"/>
          </a:p>
        </p:txBody>
      </p:sp>
      <p:sp>
        <p:nvSpPr>
          <p:cNvPr id="22" name="Text 17"/>
          <p:cNvSpPr/>
          <p:nvPr/>
        </p:nvSpPr>
        <p:spPr>
          <a:xfrm>
            <a:off x="6400800" y="237744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残す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6400800" y="29260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行動ログを記録し監査可能に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00800" y="3474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(第3回/第6回で扱う)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640080" y="4114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今日のゴール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「分ける」を4つのレベルで理解し、自分のユースケースに合う分離を選べるようになる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なぜ「分ける」が3原則のトップなのか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予防（事前）→ 制御（実行時）→ 監査（事後）の順序で最も効く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55448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事前対策が一番安い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事故が起きる前に環境を分けるほうが、起きてから対処するより圧倒的に安い。やり直しコストが最小。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9184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38912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構造軸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他の原則を支える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56616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分けた環境の中でなら、Permission / Hooks の設定もログ収集も設計しやすい。土台を作る原則。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1463040"/>
            <a:ext cx="2697480" cy="2926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1463040"/>
            <a:ext cx="2697480" cy="7315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783080"/>
            <a:ext cx="685800" cy="6858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7223760" y="192024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失敗しても被害が小さい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0" y="3246120"/>
            <a:ext cx="2148840" cy="0"/>
          </a:xfrm>
          <a:prstGeom prst="line">
            <a:avLst/>
          </a:prstGeom>
          <a:noFill/>
          <a:ln w="12700">
            <a:solidFill>
              <a:srgbClr val="D1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333756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分離を失敗しても「動かない」で済む。一方、防御や監査を失敗すると「流出・削除」になる。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「分ける」は事前投資、「防ぐ」は日々の運用、「残す」は事後のセーフティネット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分離には 4 段階ある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強度と運用コストのトレードオフ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7315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0876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88720" y="1508760"/>
            <a:ext cx="19202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13612" y="1508760"/>
            <a:ext cx="1828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508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強度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5434" y="1508760"/>
            <a:ext cx="13716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4911804" y="149946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運用コスト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9773" y="1508373"/>
            <a:ext cx="265176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5087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920240"/>
            <a:ext cx="73152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188720" y="1920240"/>
            <a:ext cx="192024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80160" y="19202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プロセス分離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13612" y="1920240"/>
            <a:ext cx="18288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22916" y="1919853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★☆☆☆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42412" y="1920240"/>
            <a:ext cx="13716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6769" y="1929733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14013" y="1920240"/>
            <a:ext cx="265176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5452" y="1920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別ユーザーアカウント、chroot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2560320"/>
            <a:ext cx="73152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560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88720" y="2560320"/>
            <a:ext cx="192024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25603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コンテナ分離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113612" y="2560320"/>
            <a:ext cx="18288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67273" y="255915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★★☆☆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942412" y="2560320"/>
            <a:ext cx="13716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6769" y="256826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14012" y="2560320"/>
            <a:ext cx="265176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DevContainer、Docker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3200400"/>
            <a:ext cx="73152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2004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188720" y="3200400"/>
            <a:ext cx="192024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80160" y="32004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VM 分離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13612" y="3200400"/>
            <a:ext cx="18288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134146" y="320969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★★★☆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942412" y="3200400"/>
            <a:ext cx="137160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88132" y="32004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309360" y="3200400"/>
            <a:ext cx="2651760" cy="64008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5452" y="3200400"/>
            <a:ext cx="25556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VirtualBox、Multipass、クラウドVM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73152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840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188720" y="3840480"/>
            <a:ext cx="192024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80160" y="38404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物理マシン分離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113612" y="3840480"/>
            <a:ext cx="18288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34146" y="38373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★★★★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942412" y="3840480"/>
            <a:ext cx="137160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42412" y="3836993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最高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314012" y="3840480"/>
            <a:ext cx="2651760" cy="640080"/>
          </a:xfrm>
          <a:prstGeom prst="rect">
            <a:avLst/>
          </a:prstGeom>
          <a:solidFill>
            <a:srgbClr val="CADC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05452" y="3840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別端末（Mac mini等）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199" y="4526280"/>
            <a:ext cx="8503921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199" y="4526280"/>
            <a:ext cx="85039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の基本線は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L2（DevContainer）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。高リスクタスクは L4 を検討 / L2 はさらに内部で細分化できる 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次スライド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DevContainer と Claude Code Sandbox は別レイヤー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「部屋の中でさらに手袋をする」― 2段階の境界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206240" cy="2880360"/>
          </a:xfrm>
          <a:prstGeom prst="rect">
            <a:avLst/>
          </a:prstGeom>
          <a:solidFill>
            <a:srgbClr val="EEF1F6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ホストOS（あなたのマシン）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011680"/>
            <a:ext cx="3566160" cy="214884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DevContainer（Docker）</a:t>
            </a:r>
            <a:endParaRPr lang="en-US" sz="1200" dirty="0"/>
          </a:p>
          <a:p>
            <a:pPr marL="0" indent="0">
              <a:buNone/>
            </a:pPr>
            <a:r>
              <a:rPr lang="en-US" sz="1000" i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ホストから分離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97280" y="2743200"/>
            <a:ext cx="2926080" cy="1234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92608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737360" y="288036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/sandbox 有効</a:t>
            </a:r>
            <a:endParaRPr lang="en-US" sz="13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bash実行ごとに境界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846320" y="1508760"/>
            <a:ext cx="100584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46320" y="15087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観点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852160" y="1508760"/>
            <a:ext cx="1417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69480" y="1508760"/>
            <a:ext cx="141732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15087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Sandbox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846320" y="1920240"/>
            <a:ext cx="100584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37760" y="19202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分離対象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852160" y="192024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943600" y="19202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コンテナ全体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269480" y="192024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360920" y="192024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bash サブプロセス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846320" y="2514600"/>
            <a:ext cx="10058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25146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粒度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852160" y="2514600"/>
            <a:ext cx="1417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0" y="251460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プロジェクト単位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269480" y="2514600"/>
            <a:ext cx="1417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60920" y="251460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コマンド単位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846320" y="3108960"/>
            <a:ext cx="100584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31089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852160" y="310896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0" y="310896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ホストの機密を守る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269480" y="3108960"/>
            <a:ext cx="141732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360920" y="310896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コンテナ内も細かく制御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846320" y="3794760"/>
            <a:ext cx="3840480" cy="457200"/>
          </a:xfrm>
          <a:prstGeom prst="rect">
            <a:avLst/>
          </a:prstGeom>
          <a:solidFill>
            <a:srgbClr val="ECF7F0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✓ </a:t>
            </a: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両方同時に有効化できる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457200" y="4480560"/>
            <a:ext cx="8229600" cy="41148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4360" y="44805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🛡️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両方同時に有効化 = 最強の分離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。承認疲れ 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84% 削減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の効果も併せて得られる(Anthropic内部計測)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57200" y="49377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/sandbox で有効化 / OSS として npx @anthropic-ai/sandbox-runtime でも提供(macOS Seatbelt / Linux bubblewrap / WSL2対応)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どの環境がどこまで守ってくれるか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4つの選択肢を、評価軸で比較する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評価軸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1463040"/>
            <a:ext cx="1600200" cy="4114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Code拡張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1463040"/>
            <a:ext cx="1600200" cy="411480"/>
          </a:xfrm>
          <a:prstGeom prst="rect">
            <a:avLst/>
          </a:prstGeom>
          <a:solidFill>
            <a:srgbClr val="F9616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86600" y="1463040"/>
            <a:ext cx="1600200" cy="411480"/>
          </a:xfrm>
          <a:prstGeom prst="rect">
            <a:avLst/>
          </a:prstGeom>
          <a:solidFill>
            <a:srgbClr val="F96167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866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別マシン (L4)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1874520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ファイル範囲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17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全PC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862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319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WS中心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コンテナ内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18745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物理隔離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267712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226771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860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3317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862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9319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全て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321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制御可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086600" y="2267712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0" y="22677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物理隔離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2660904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2660904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認証情報到達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2860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317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862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🟡 中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321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低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86600" y="2660904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32320" y="26609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極低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3054096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3054096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ssh鍵流出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860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317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8862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319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🟡 中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864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321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低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086600" y="3054096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32320" y="30540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極低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3447288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" y="3447288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運用コスト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860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3317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8862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9319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低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4864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321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7086600" y="3447288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132320" y="34472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3840480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3840480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推奨度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22860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317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374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△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38862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9319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D374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△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54864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5321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◎</a:t>
            </a:r>
            <a:endParaRPr lang="en-US" sz="1400" dirty="0"/>
          </a:p>
        </p:txBody>
      </p:sp>
      <p:sp>
        <p:nvSpPr>
          <p:cNvPr id="73" name="Shape 71"/>
          <p:cNvSpPr/>
          <p:nvPr/>
        </p:nvSpPr>
        <p:spPr>
          <a:xfrm>
            <a:off x="7086600" y="3840480"/>
            <a:ext cx="16002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32320" y="38404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◎◎</a:t>
            </a:r>
            <a:endParaRPr lang="en-US" sz="1400" dirty="0"/>
          </a:p>
        </p:txBody>
      </p:sp>
      <p:sp>
        <p:nvSpPr>
          <p:cNvPr id="75" name="Shape 73"/>
          <p:cNvSpPr/>
          <p:nvPr/>
        </p:nvSpPr>
        <p:spPr>
          <a:xfrm>
            <a:off x="457200" y="4233672"/>
            <a:ext cx="1828800" cy="393192"/>
          </a:xfrm>
          <a:prstGeom prst="rect">
            <a:avLst/>
          </a:prstGeom>
          <a:solidFill>
            <a:srgbClr val="1E2761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48640" y="4233672"/>
            <a:ext cx="1645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使うべき場面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22860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3317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検証・個人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38862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軽い編集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5321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業務コード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086600" y="4233672"/>
            <a:ext cx="1600200" cy="393192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32320" y="42336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高リスク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94360" y="4526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。ローカル直接でも Hooks+Permission で L2相当まで引き上げられる（</a:t>
            </a: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第3回で扱う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ローカルPC と DevContainer ― 同じPCで何が変わるか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から見える世界を比較する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023360" cy="3017520"/>
          </a:xfrm>
          <a:prstGeom prst="rect">
            <a:avLst/>
          </a:prstGeom>
          <a:solidFill>
            <a:srgbClr val="FDECEC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08760"/>
            <a:ext cx="73152" cy="30175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🔴 </a:t>
            </a: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ローカルPC 直接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14884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あなたのPC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2560320"/>
            <a:ext cx="548640" cy="5486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85800" y="31089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9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3444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~/.ssh</a:t>
            </a:r>
            <a:endParaRPr lang="en-US" sz="9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342900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80360" y="342900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~/.aws</a:t>
            </a:r>
            <a:endParaRPr lang="en-US" sz="9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749040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23444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ブラウザCookie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749040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8036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他プロジェクト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640080" y="4160520"/>
            <a:ext cx="3657600" cy="2743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1" name="Text 14"/>
          <p:cNvSpPr/>
          <p:nvPr/>
        </p:nvSpPr>
        <p:spPr>
          <a:xfrm>
            <a:off x="64008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全部見える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4663440" y="1508760"/>
            <a:ext cx="4023360" cy="301752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63440" y="1508760"/>
            <a:ext cx="73152" cy="30175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484632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🟢 </a:t>
            </a: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経由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892040" y="214884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7C0D0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98348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💻 あなたのPC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5120640" y="2514600"/>
            <a:ext cx="1463040" cy="109728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28" name="Text 21"/>
          <p:cNvSpPr/>
          <p:nvPr/>
        </p:nvSpPr>
        <p:spPr>
          <a:xfrm>
            <a:off x="5212080" y="2560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📦 DevContainer</a:t>
            </a:r>
            <a:endParaRPr lang="en-US" sz="9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0992" y="2807208"/>
            <a:ext cx="411480" cy="41148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120640" y="32278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</a:t>
            </a:r>
            <a:endParaRPr lang="en-US" sz="800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0" y="3337560"/>
            <a:ext cx="256032" cy="25603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562356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プロジェクト ✓</a:t>
            </a:r>
            <a:endParaRPr lang="en-US" sz="900" dirty="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2651760"/>
            <a:ext cx="256032" cy="256032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7086600" y="26517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~/.ssh</a:t>
            </a:r>
            <a:endParaRPr lang="en-US" sz="900" dirty="0"/>
          </a:p>
        </p:txBody>
      </p:sp>
      <p:sp>
        <p:nvSpPr>
          <p:cNvPr id="35" name="Text 25"/>
          <p:cNvSpPr/>
          <p:nvPr/>
        </p:nvSpPr>
        <p:spPr>
          <a:xfrm>
            <a:off x="6693408" y="255117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3017520"/>
            <a:ext cx="256032" cy="256032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086600" y="30175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~/.aws</a:t>
            </a:r>
            <a:endParaRPr lang="en-US" sz="900" dirty="0"/>
          </a:p>
        </p:txBody>
      </p:sp>
      <p:sp>
        <p:nvSpPr>
          <p:cNvPr id="38" name="Text 27"/>
          <p:cNvSpPr/>
          <p:nvPr/>
        </p:nvSpPr>
        <p:spPr>
          <a:xfrm>
            <a:off x="6693408" y="291693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383280"/>
            <a:ext cx="256032" cy="256032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086600" y="33832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ブラウザCookie</a:t>
            </a:r>
            <a:endParaRPr lang="en-US" sz="900" dirty="0"/>
          </a:p>
        </p:txBody>
      </p:sp>
      <p:sp>
        <p:nvSpPr>
          <p:cNvPr id="41" name="Text 29"/>
          <p:cNvSpPr/>
          <p:nvPr/>
        </p:nvSpPr>
        <p:spPr>
          <a:xfrm>
            <a:off x="6693408" y="328269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pic>
        <p:nvPicPr>
          <p:cNvPr id="4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3749040"/>
            <a:ext cx="256032" cy="256032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7086600" y="37490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他プロジェクト</a:t>
            </a:r>
            <a:endParaRPr lang="en-US" sz="900" dirty="0"/>
          </a:p>
        </p:txBody>
      </p:sp>
      <p:sp>
        <p:nvSpPr>
          <p:cNvPr id="44" name="Text 31"/>
          <p:cNvSpPr/>
          <p:nvPr/>
        </p:nvSpPr>
        <p:spPr>
          <a:xfrm>
            <a:off x="6693408" y="3648456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×</a:t>
            </a:r>
            <a:endParaRPr lang="en-US" sz="3200" dirty="0"/>
          </a:p>
        </p:txBody>
      </p:sp>
      <p:sp>
        <p:nvSpPr>
          <p:cNvPr id="45" name="Shape 32"/>
          <p:cNvSpPr/>
          <p:nvPr/>
        </p:nvSpPr>
        <p:spPr>
          <a:xfrm>
            <a:off x="4846320" y="4160520"/>
            <a:ext cx="3657600" cy="27432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84632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箱の中だけ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48" name="Text 35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🎯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同じPC、違う世界観。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これが L2 コンテナ分離の効果 / さらに 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/sandbox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併用で内部も細かく制御(前スライド参照)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クラウドで動かす時の落とし穴 ― IAMと最小権限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「誰が動くか」ではなく「何ができるか」で設計する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想定外のIAMロール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EC2/ECSのインスタンスロールが想定以上の権限を持っていて、エージェントがそれを使える状態に。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9184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6459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認証情報の自動取得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6616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AWS IMDSv2、GCP Metadataサーバーから、エージェントが認証情報を自動取得できてしまう。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126480" y="1417320"/>
            <a:ext cx="2697480" cy="1554480"/>
          </a:xfrm>
          <a:prstGeom prst="rect">
            <a:avLst/>
          </a:prstGeom>
          <a:solidFill>
            <a:srgbClr val="FDECEC"/>
          </a:solidFill>
          <a:ln w="9525">
            <a:solidFill>
              <a:srgbClr val="F96167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6459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横展開（ラテラル）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400800" y="21945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一度認証情報が取れると、S3・RDS・Lambda等の他AWSサービスに広範にアクセス可能。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57200" y="3154680"/>
            <a:ext cx="8229600" cy="1371600"/>
          </a:xfrm>
          <a:prstGeom prst="rect">
            <a:avLst/>
          </a:prstGeom>
          <a:solidFill>
            <a:srgbClr val="ECF7F0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57200" y="3154680"/>
            <a:ext cx="91440" cy="13716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85800" y="32461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5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 ― 最小権限の原則で設計する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777240" y="3675888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60120" y="3611880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エージェント専用の IAM ロールを作る（人間のロールを使い回さない）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777240" y="3886200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960120" y="3822192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権限は必要最小限のみ：IAMロール + S3の特定バケット + Secrets Managerの特定シークレット のように具体的に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777240" y="4096512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60120" y="4032504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IMDSv2 必須化、もしくは Metadata エンドポイントを無効化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777240" y="4306824"/>
            <a:ext cx="91440" cy="914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60120" y="4242816"/>
            <a:ext cx="7589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アクセスは CloudTrail 等でログを残す（第6回「残す」と連動）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94360" y="461772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「エージェント専用アカウント」+「最小権限」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の2つが、クラウドで「分ける」の肝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あなたはどの環境で動かすべきか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DevContainer。ここから始めて必要に応じてスケールアップ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0" y="141732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Q1: 業務で機密情報を扱う？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27432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606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Q2: 規制業界（金融/医療）？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0" y="1874520"/>
            <a:ext cx="0" cy="2286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2103120"/>
            <a:ext cx="54864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8800" y="2103120"/>
            <a:ext cx="0" cy="5029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18745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0880" y="187452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8B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828800" y="3063240"/>
            <a:ext cx="0" cy="27432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80160" y="3337560"/>
            <a:ext cx="19202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0160" y="333756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3337560"/>
            <a:ext cx="0" cy="54864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31363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926080" y="31363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E8B5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0" y="2103120"/>
            <a:ext cx="0" cy="17830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886200"/>
            <a:ext cx="1645920" cy="77724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886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L4: 別端末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(Mac mini等)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377440" y="3886200"/>
            <a:ext cx="164592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8862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★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(基本線)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3886200"/>
            <a:ext cx="2377440" cy="77724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88620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ローカル直接でOK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 第3回の3点セット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47548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💡 </a:t>
            </a: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 DevContainer</a:t>
            </a: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。そこから、必要に応じてスケールアップ or ダウンするのが実用的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 E M 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ここからは実演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「分ける」の効果を目で見る ― ローカル vs DevContainer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  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ローカル直接で試行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に「ホームディレクトリを調査して」と依頼。~/.ssh や ~/.aws が到達できる様子を見る。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全部見える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3931920" cy="192024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28803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F961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   </a:t>
            </a: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3246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経由で試行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同じ依頼をコンテナ内で実行。ホスト側の機密には到達できないことを確認。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▸ 箱の中だけ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ただし DevContainer でも完璧ではない ― コンテナ内の .env や、マウントされたディレクトリは見える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実演の参考 ― コマンドと確認ポイント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32688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DevContainer 起動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プロジェクトルートで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コマンドパレット: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"Reopen in Container"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または CLI から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devcontainer up \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--workspace-folder .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コンテナ内で Claude Code 起動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/sandbox も忘れず有効化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/sandbox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DEMO B ▸ </a:t>
            </a:r>
            <a:r>
              <a:rPr lang="en-US" sz="13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分離の確認コマンド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2926080"/>
          </a:xfrm>
          <a:prstGeom prst="rect">
            <a:avLst/>
          </a:prstGeom>
          <a:solidFill>
            <a:srgbClr val="0F1434"/>
          </a:solidFill>
          <a:ln w="12700">
            <a:solidFill>
              <a:srgbClr val="0F14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600200"/>
            <a:ext cx="3657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コンテナ内で試す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~/.ssh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No such file or directory ✓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/etc/hostname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コンテナID (ホストではない)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http://169.254.169.254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IMDS到達性を確認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F8F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(クラウド環境のみ)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mount | grep workspace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どこがマウントされたか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solidFill>
            <a:srgbClr val="F8F9FC"/>
          </a:solidFill>
          <a:ln w="6350">
            <a:solidFill>
              <a:srgbClr val="E5E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5262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 ▸ </a:t>
            </a:r>
            <a:r>
              <a:rPr lang="en-US" sz="11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マウントを意図的に制限するのが設定のコツ。デフォルトは広めなので、絞る発想で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 ○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 E Y   T A K E A W A 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今日のKey Takeaway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分離には </a:t>
            </a:r>
            <a:r>
              <a:rPr lang="en-US" sz="22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段階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ある。</a:t>
            </a:r>
            <a:endParaRPr lang="en-US" sz="2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が基本線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、ローカルは Hooks+Permission で代替、</a:t>
            </a:r>
            <a:endParaRPr lang="en-US" sz="2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高リスクタスクは </a:t>
            </a: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別マシン</a:t>
            </a: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を検討。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8229600" cy="1371600"/>
          </a:xfrm>
          <a:prstGeom prst="rect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520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今日持ち帰るチェック項目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886200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840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4段階の分離レベル（プロセス/コンテナ/VM/物理）を説明できる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178808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13308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DevContainer と Claude Code Sandbox は別レイヤーで併用できると分かる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471416"/>
            <a:ext cx="182880" cy="182880"/>
          </a:xfrm>
          <a:prstGeom prst="rect">
            <a:avLst/>
          </a:prstGeom>
          <a:solidFill>
            <a:srgbClr val="151B47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4256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クラウドIAMは「何ができるか」で設計するという原則を持ち帰った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F9616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 E X T   S E S S I O 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次回 ― 第3回「基本ガード」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" cy="4572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783080"/>
            <a:ext cx="338328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 ▸ </a:t>
            </a: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3原則の【02 防ぐ】の実践編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取り扱う内容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971800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/ Permission / Hooks の3点セット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319272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2278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入口・出口・境界の3リスクカテゴリへの対応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666744"/>
            <a:ext cx="118872" cy="118872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57530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助言的ガード vs 決定的ガード ― それぞれの使い分け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8F9FC"/>
          </a:solidFill>
          <a:ln w="9525">
            <a:solidFill>
              <a:srgbClr val="E5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4069080"/>
            <a:ext cx="91440" cy="6400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実演  </a:t>
            </a:r>
            <a:r>
              <a:rPr lang="en-US" sz="1300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+ Permission + Hooks の前後で振る舞いを比較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0" y="4828032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● ● ○ ○ ○ ○ ○ ○ ○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1045</Words>
  <Application>Microsoft Macintosh PowerPoint</Application>
  <PresentationFormat>画面に合わせる (16:9)</PresentationFormat>
  <Paragraphs>266</Paragraphs>
  <Slides>13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Meiryo</vt:lpstr>
      <vt:lpstr>Arial</vt:lpstr>
      <vt:lpstr>Arial Black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勉強会 第2回 環境</dc:title>
  <dc:subject>PptxGenJS Presentation</dc:subject>
  <dc:creator>Koji</dc:creator>
  <cp:lastModifiedBy>晃司 土田</cp:lastModifiedBy>
  <cp:revision>3</cp:revision>
  <dcterms:created xsi:type="dcterms:W3CDTF">2026-04-16T14:12:47Z</dcterms:created>
  <dcterms:modified xsi:type="dcterms:W3CDTF">2026-04-27T08:38:58Z</dcterms:modified>
</cp:coreProperties>
</file>