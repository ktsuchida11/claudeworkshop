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6858000" y="1097280"/>
            <a:ext cx="1828800" cy="1828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勉強会  /  全10回シリーズ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9144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第 6 回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15544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ログ/トレース</a:t>
            </a:r>
            <a:endParaRPr lang="en-US" sz="5600" dirty="0"/>
          </a:p>
        </p:txBody>
      </p:sp>
      <p:sp>
        <p:nvSpPr>
          <p:cNvPr id="6" name="Shape 3"/>
          <p:cNvSpPr/>
          <p:nvPr/>
        </p:nvSpPr>
        <p:spPr>
          <a:xfrm>
            <a:off x="457200" y="2880360"/>
            <a:ext cx="731520" cy="54864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30632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動いた≠OK ― 「残す」をシステムで実装する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今日のテーマ:  3原則の【03 残す】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spc="20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● ● ● ● ● ○ ○ ○ ○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6634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Koji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前回までの地図と、今日の位置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3原則「分ける・防ぐ・残す」の最後のピースを埋める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3931920" cy="182880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63040"/>
            <a:ext cx="73152" cy="182880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第5回の要約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92024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AIとの仕事の型 ― バイブコーディングから、型を育てる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バイブ→SDD（スペック駆動開発）への成熟度を意識する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計画→実装→記録のループを崩さない = 型の基本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463040"/>
            <a:ext cx="4023360" cy="1828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554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今日の位置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19202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「システムが自動で記録を残す」話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Codeの振る舞いをLangfuseで可視化・評価・改善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3原則の【残す】を技術で実装 ― 前半6回の集大成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566160"/>
            <a:ext cx="8229600" cy="68580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6616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🎯 今日のゴール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Codeのトレースがなぜ重要かを理解し、Trace→Evaluate→Improveのサイクルを知る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○ ○ ●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従来のシステム監視 vs 生成AI監視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「毎回異なる出力」と「見えない処理過程」― Claude Codeも例外ではない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931920" cy="24688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17320"/>
            <a:ext cx="3931920" cy="640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600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従来のシステム監視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8745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予測可能・定型的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入力 → 処理 → 出力 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5603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焦点: インフラ稼働状況、レイテンシ、エラーレート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前提: 「決まった入力に決まった出力が返る」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手法: ログ、APM、セキュリティ監査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417320"/>
            <a:ext cx="4023360" cy="2468880"/>
          </a:xfrm>
          <a:prstGeom prst="rect">
            <a:avLst/>
          </a:prstGeom>
          <a:solidFill>
            <a:srgbClr val="FDECEC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417320"/>
            <a:ext cx="4023360" cy="64008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/ 生成AI監視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1874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予測困難・複雑で不透明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指示 → 読み → 計画 → 編集 → テスト → 反復 → 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46320" y="25603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出力品質: 同じ指示でも結果が変化。ハルシネーション検知が必要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推論過程: どのステップで判断を間違えたかの特定が不可欠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ドリフト: CLAUDE.mdの指示忘れ、コンテキスト溢れ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11480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Codeのターミナルログだけでは「どこで判断を間違えたか」が分からない → LLM Observabilityが必要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○ ○ ●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LLM Observability ― 何が必要か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Codeの振る舞いを「残す」ために、どんな仕組みが要るのか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606040" cy="1188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4630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トレース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1783080"/>
            <a:ext cx="233172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8745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全ステップの入出力・コスト・レイテンシを階層的に記録する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72384" y="1828800"/>
            <a:ext cx="11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00400" y="1371600"/>
            <a:ext cx="2606040" cy="1188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37560" y="14630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評価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37560" y="1783080"/>
            <a:ext cx="233172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37560" y="18745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出力品質を定量スコア化し、品質の変化をデータで検知する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815584" y="1828800"/>
            <a:ext cx="11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943600" y="1371600"/>
            <a:ext cx="2606040" cy="118872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080760" y="14630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プロンプト管理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080760" y="1783080"/>
            <a:ext cx="233172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80760" y="18745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プロンプトをバージョン管理し、安全にデプロイ・ロールバックする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主要LLMOpsプラットフォーム比較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63240"/>
          <a:ext cx="8229600" cy="146304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731520"/>
                <a:gridCol w="731520"/>
                <a:gridCol w="1005840"/>
                <a:gridCol w="30175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ツール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OSS / セルフホスト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トレース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評価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プロンプト管理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特徴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96167"/>
                          </a:solidFill>
                        </a:rPr>
                        <a:t>Langfuse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✅ OSS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✅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✅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✅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3機能統合 + OTelネイティブ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LangSmith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❌ SaaS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✅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✅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△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LangChain特化。オーバーヘッド≒0%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Braintrust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❌ SaaS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✅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✅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△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CI/CD連携に強い。評価スコアでデプロイブロック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Helicone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△ プロキシ型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✅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△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❌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導入最速（1行変更）。キャッシュ機能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94360" y="466344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この3要件を全て満たし、かつセルフホストできるのはLangfuseだけ → 次スライドで詳しく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○ ○ ●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だから Langfuse を選んだ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OSS × セルフホスト × 3機能統合 × OpenTelemetryネイティブ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606040" cy="100584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371600"/>
            <a:ext cx="2606040" cy="640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15087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セルフホスト可能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94360" y="18745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金融機関のセキュリティ要件をクリア。データを外部に出さずVPC内に構築できる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200400" y="1371600"/>
            <a:ext cx="2606040" cy="100584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00400" y="1371600"/>
            <a:ext cx="2606040" cy="640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0128" y="1536192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39312" y="15087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3機能が1つに統合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337560" y="18745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トレース・評価・プロンプト管理がバラバラではなく、1つのサイクルとして回る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5943600" y="1371600"/>
            <a:ext cx="2606040" cy="100584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943600" y="1371600"/>
            <a:ext cx="2606040" cy="640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3328" y="1536192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82512" y="15087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OpenTelemetryネイティブ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6080760" y="18745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既存のDatadog等と連携可能。ベンダーロックインなし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457200" y="2560320"/>
            <a:ext cx="2468880" cy="1874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548640" y="2697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可視化（Trace）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731520" y="3063240"/>
            <a:ext cx="19202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594360" y="3154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Codeの全ステップを階層的に記録。コスト・遅延をリアルタイム追跡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2971800" y="33604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25" name="Shape 20"/>
          <p:cNvSpPr/>
          <p:nvPr/>
        </p:nvSpPr>
        <p:spPr>
          <a:xfrm>
            <a:off x="3429000" y="2560320"/>
            <a:ext cx="2468880" cy="18745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6" name="Text 21"/>
          <p:cNvSpPr/>
          <p:nvPr/>
        </p:nvSpPr>
        <p:spPr>
          <a:xfrm>
            <a:off x="3520440" y="2697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評価（Evaluate）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3703320" y="3063240"/>
            <a:ext cx="19202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3566160" y="3154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LLM-as-a-Judgeで品質を定量スコア化。トレースに紐付けて変化を検知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5943600" y="33604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30" name="Shape 25"/>
          <p:cNvSpPr/>
          <p:nvPr/>
        </p:nvSpPr>
        <p:spPr>
          <a:xfrm>
            <a:off x="6400800" y="2560320"/>
            <a:ext cx="2468880" cy="187452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31" name="Text 26"/>
          <p:cNvSpPr/>
          <p:nvPr/>
        </p:nvSpPr>
        <p:spPr>
          <a:xfrm>
            <a:off x="6492240" y="2697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改善（Prompt CMS）</a:t>
            </a:r>
            <a:endParaRPr lang="en-US" sz="1300" dirty="0"/>
          </a:p>
        </p:txBody>
      </p:sp>
      <p:sp>
        <p:nvSpPr>
          <p:cNvPr id="32" name="Shape 27"/>
          <p:cNvSpPr/>
          <p:nvPr/>
        </p:nvSpPr>
        <p:spPr>
          <a:xfrm>
            <a:off x="6675120" y="3063240"/>
            <a:ext cx="19202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537960" y="3154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プロンプトをコードから分離。UI上でバージョン管理・即座にロールバック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594360" y="46177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このTrace→Evaluate→Improveサイクルが「残す」の実装。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以降のスライドで各機能を詳しく見る</a:t>
            </a:r>
            <a:endParaRPr lang="en-US" sz="1100" dirty="0"/>
          </a:p>
        </p:txBody>
      </p:sp>
      <p:sp>
        <p:nvSpPr>
          <p:cNvPr id="36" name="Text 31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○ ○ ●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機能①: トレースと監視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AIエージェントの推論過程を階層的に記録し、コストとデータを管理する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572000" cy="1645920"/>
          </a:xfrm>
          <a:prstGeom prst="rect">
            <a:avLst/>
          </a:prstGeom>
          <a:solidFill>
            <a:srgbClr val="0F1434"/>
          </a:solidFill>
          <a:ln w="9525">
            <a:solidFill>
              <a:srgbClr val="2A2F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490472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Execution（マルチステップ推論のツリー構造）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73736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Planning Step        1.2s  $0.02   740 tokens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└─ Reasoning ...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Tool Call (RAG)      0.5s  $0.01   250 tokens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└─ Vector Search → 3 docs retrieved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Generation Step      2.1s  $0.05  1400 tokens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 Total               3.8s  $0.08  2390 tokens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212080" y="1417320"/>
            <a:ext cx="3474720" cy="8686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212080" y="1417320"/>
            <a:ext cx="73152" cy="8686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1490472"/>
            <a:ext cx="201168" cy="20116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623560" y="14630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コスト管理 &amp; レイテンシ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349240" y="17373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モデル別トークン・コストをリアルタイム集計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user_id/session_idで監査証跡として利用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212080" y="2377440"/>
            <a:ext cx="3474720" cy="8686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212080" y="2377440"/>
            <a:ext cx="73152" cy="8686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450592"/>
            <a:ext cx="201168" cy="2011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623560" y="242316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データ保護 &amp; マスキング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5349240" y="26974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金融要件: PII等をサーバーサイドでマスキング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証跡を残しつつ機密情報漏洩リスクを排除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5212080" y="3337560"/>
            <a:ext cx="3474720" cy="8686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12080" y="3337560"/>
            <a:ext cx="73152" cy="8686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3410712"/>
            <a:ext cx="201168" cy="20116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623560" y="338328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フレームワーク統合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349240" y="36576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LangChain / LlamaIndex / OpenAI SDK対応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OpenTelemetryで既存監視ツールと連携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594360" y="434340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これが一般的なLLMトレース。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次のスライドでClaude Codeに適用するとどうなるかを見る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○ ○ ●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Code のトレースを取る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「コードを書くエージェント」の振る舞いこそ、可視化しないと改善できない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114800" cy="1463040"/>
          </a:xfrm>
          <a:prstGeom prst="rect">
            <a:avLst/>
          </a:prstGeom>
          <a:solidFill>
            <a:srgbClr val="FDECEC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17320"/>
            <a:ext cx="4114800" cy="64008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544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Code特有の課題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828800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ターミナルログだけではどのステップで判断を間違えたか不明</a:t>
            </a:r>
            <a:endParaRPr lang="en-US" sz="9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間違ったファイルを読んで前提を誤った（コンテキスト汚染）</a:t>
            </a:r>
            <a:endParaRPr lang="en-US" sz="9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不要なツールを呼んでトークンを浪費（コスト爆発）</a:t>
            </a:r>
            <a:endParaRPr lang="en-US" sz="9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生成→テスト→修正のループが無限に回った（無限ループ）</a:t>
            </a:r>
            <a:endParaRPr lang="en-US" sz="9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CLAUDE.mdの指示を途中で忘れた（コンテキスト溢れ）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54880" y="1417320"/>
            <a:ext cx="3931920" cy="146304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417320"/>
            <a:ext cx="3931920" cy="640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5544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Langfuseで解決できること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92040" y="182880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全ステップの入力・出力・トークン数・コスト・レイテンシを自動記録</a:t>
            </a:r>
            <a:endParaRPr lang="en-US" sz="9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どのファイルを読み、どのコマンドを実行したかの履歴</a:t>
            </a:r>
            <a:endParaRPr lang="en-US" sz="9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セッション単位の累計コスト把握</a:t>
            </a:r>
            <a:endParaRPr lang="en-US" sz="9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第3回のHooksでブロックしたコマンドもトレースに残る</a:t>
            </a:r>
            <a:endParaRPr lang="en-US" sz="9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00" b="1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「防ぐ（Hooks）」と「残す（Trace）」が連動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8229600" cy="1371600"/>
          </a:xfrm>
          <a:prstGeom prst="rect">
            <a:avLst/>
          </a:prstGeom>
          <a:solidFill>
            <a:srgbClr val="0F1434"/>
          </a:solidFill>
          <a:ln w="9525">
            <a:solidFill>
              <a:srgbClr val="2A2F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072384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Code Session: 「認証機能を実装して」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" y="3291840"/>
            <a:ext cx="7955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"/>
              </a:spcAft>
              <a:buNone/>
            </a:pPr>
            <a:r>
              <a:rPr lang="en-US" sz="7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Read: src/auth/login.ts   0.3s   120 tok       ├─ Planning (retry)        1.2s   800 tok  $0.02</a:t>
            </a:r>
            <a:endParaRPr lang="en-US" sz="750" dirty="0"/>
          </a:p>
          <a:p>
            <a:pPr indent="0" marL="0">
              <a:spcAft>
                <a:spcPts val="50"/>
              </a:spcAft>
              <a:buNone/>
            </a:pPr>
            <a:r>
              <a:rPr lang="en-US" sz="7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Read: CLAUDE.md           0.1s    80 tok       ├─ Edit: src/auth/login.ts  0.6s   450 tok  $0.01</a:t>
            </a:r>
            <a:endParaRPr lang="en-US" sz="750" dirty="0"/>
          </a:p>
          <a:p>
            <a:pPr indent="0" marL="0">
              <a:spcAft>
                <a:spcPts val="50"/>
              </a:spcAft>
              <a:buNone/>
            </a:pPr>
            <a:r>
              <a:rPr lang="en-US" sz="750" dirty="0">
                <a:solidFill>
                  <a:srgbClr val="2E8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Planning                  1.5s   950 tok $0.03 ├─ Bash: npm run test       2.8s   ← PASS ✓</a:t>
            </a:r>
            <a:endParaRPr lang="en-US" sz="750" dirty="0"/>
          </a:p>
          <a:p>
            <a:pPr indent="0" marL="0">
              <a:spcAft>
                <a:spcPts val="50"/>
              </a:spcAft>
              <a:buNone/>
            </a:pPr>
            <a:r>
              <a:rPr lang="en-US" sz="7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Edit: src/auth/login.ts   0.8s   600 tok $0.02 │</a:t>
            </a:r>
            <a:endParaRPr lang="en-US" sz="750" dirty="0"/>
          </a:p>
          <a:p>
            <a:pPr indent="0" marL="0">
              <a:spcAft>
                <a:spcPts val="50"/>
              </a:spcAft>
              <a:buNone/>
            </a:pPr>
            <a:r>
              <a:rPr lang="en-US" sz="750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Bash: npm run test        3.2s   ← FAIL       └─ Total: 10.7s / 3,350 tokens / $0.08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457200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Codeを業務で使うなら、トレースなしの運用は計器なしの飛行と同じ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○ ○ ●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機能②: 評価（LLM-as-a-Judge）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Codeの出力品質を定量的に評価する ― 変化にデータで気づく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606040" cy="24688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2606040" cy="64008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0020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5544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LLM-as-a-Judge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自動スコアリング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94360" y="2103120"/>
            <a:ext cx="2331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高性能LLMを「審査員」として定義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本番トレースに自動スコアリング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指標: 正確性 / 関連性 / ハルシネーション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Codeの生成コードの品質評価にも応用可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200400" y="1417320"/>
            <a:ext cx="2606040" cy="24688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00400" y="1417320"/>
            <a:ext cx="2606040" cy="640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60020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03320" y="15544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多様な評価手法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の統合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337560" y="2103120"/>
            <a:ext cx="2331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AI自動評価（LLM-as-a-Judge）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エンドユーザーフィードバック（👍👎）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ドメイン専門家の手動アノテーション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Codeのレビュー結果を評価データに蓄積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5943600" y="1417320"/>
            <a:ext cx="2606040" cy="24688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943600" y="1417320"/>
            <a:ext cx="2606040" cy="640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60020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46520" y="15544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RAGパイプライン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の診断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6080760" y="2103120"/>
            <a:ext cx="2331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検索精度と回答忠実性を定量化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検索の問題 vs 生成の問題を切り分け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金融クエリ:「古い文書を検索した」のか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「正しい文書から誤回答を生成した」のか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94360" y="411480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品質の変化にデータで気づける。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Codeの出力品質を定量的に評価・追跡できる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○ ○ ●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機能③: プロンプト管理（Prompt CMS）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CLAUDE.mdとは別レイヤーで、LLMアプリのプロンプトをバージョン管理する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606040" cy="24688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2606040" cy="640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0020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5544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コードベースからの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完全な分離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94360" y="2103120"/>
            <a:ext cx="2331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「コード変更・再デプロイ」サイクルを排除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API経由でミリ秒単位の低遅延取得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Code用CLAUDE.mdとは別レイヤーのプロンプト管理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200400" y="1417320"/>
            <a:ext cx="2606040" cy="24688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00400" y="1417320"/>
            <a:ext cx="2606040" cy="640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60020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03320" y="15544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バージョン管理と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ロールバック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337560" y="2103120"/>
            <a:ext cx="2331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全変更が新バージョンとして記録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即座なロールバック（巻き戻し）可能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production / staging ラベルで安全リリース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5943600" y="1417320"/>
            <a:ext cx="2606040" cy="24688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943600" y="1417320"/>
            <a:ext cx="2606040" cy="640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60020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46520" y="15544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ドメイン専門家との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コラボレーション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6080760" y="2103120"/>
            <a:ext cx="2331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金融専門家・コンプライアンス担当者がUIで直接テスト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Playgroundで試行→比較→本番反映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調整サイクルを日→分単位に短縮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94360" y="411480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デプロイサイクルの分離 = アジリティの劇的な向上。</a:t>
            </a:r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SDDのステアリングファイルをシステムレベルに拡張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○ ○ ●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6400800" y="731520"/>
            <a:ext cx="2286000" cy="2286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73152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ここからは実演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457200" y="1463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× Langfuse ― トレース画面でデバッグする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640080" y="2148840"/>
            <a:ext cx="457200" cy="45720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280160" y="2103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トレース一覧を確認（2分）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280160" y="23774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Codeセッションのトレースを時系列で確認。コスト・トークン数をuser_idでフィルタリング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280160" y="3017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トレースを展開してデバッグ（3分）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80160" y="32918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ツリー構造でClaude Codeの推論過程を追う。Read → Planning → Edit → Bash の各ステップを確認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40080" y="3977640"/>
            <a:ext cx="457200" cy="45720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280160" y="3931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評価スコアで品質問題を特定（3分）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280160" y="42062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スコアが低いトレースを開き、検索の問題 vs 生成の問題を切り分ける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○ ○ ●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今日の振り返り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1188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動いた≠OK。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評価指標とバージョン管理なしに本番投入しない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Codeの Trace → Evaluate → Improve を回すのが「残す」の実装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514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従来監視と生成AI監視の違い ― Claude Codeにも同じ課題がある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2834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Langfuseの3コア機能（Trace / Evaluate / Prompt CMS）の役割を知った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31546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Codeのトレースを取る意味を理解した ― 計器なしの飛行をやめる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474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34747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LLM-as-a-Judgeで品質の変化に気づき、定量的な評価ができる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794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37947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Langfuseの3機能でClaude Codeの運用を「残す」仕組みにできる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251960"/>
            <a:ext cx="8229600" cy="50292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42519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3原則が揃った: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第2回「分ける」</a:t>
            </a:r>
            <a:pPr indent="0" marL="0">
              <a:buNone/>
            </a:pPr>
            <a:r>
              <a:rPr lang="en-US" sz="1200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第3回「防ぐ」</a:t>
            </a:r>
            <a:pPr indent="0" marL="0">
              <a:buNone/>
            </a:pPr>
            <a:r>
              <a:rPr lang="en-US" sz="1200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</a:t>
            </a:r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第6回「残す」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後半は活用を広げるフェーズへ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○ ○ ●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6858000" y="914400"/>
            <a:ext cx="1828800" cy="1828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572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57200" y="1005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第 7 回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ユースケース</a:t>
            </a:r>
            <a:endParaRPr lang="en-US" sz="4800" dirty="0"/>
          </a:p>
        </p:txBody>
      </p:sp>
      <p:sp>
        <p:nvSpPr>
          <p:cNvPr id="6" name="Shape 3"/>
          <p:cNvSpPr/>
          <p:nvPr/>
        </p:nvSpPr>
        <p:spPr>
          <a:xfrm>
            <a:off x="457200" y="2651760"/>
            <a:ext cx="731520" cy="54864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2834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Codeはコードを書く道具ではなく、仕事の型を実装する道具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" y="33832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ドキュメント生成 / タスク管理 / PRレビュー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31520" y="3703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SDD設計と実装の分離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40233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Actions連携 / SubAgents活用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spc="20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● ● ● ● ● ● ○ ○ 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勉強会 第6回 ログ/トレース</dc:title>
  <dc:subject>PptxGenJS Presentation</dc:subject>
  <dc:creator>Koji</dc:creator>
  <cp:lastModifiedBy>Koji</cp:lastModifiedBy>
  <cp:revision>1</cp:revision>
  <dcterms:created xsi:type="dcterms:W3CDTF">2026-04-17T07:31:15Z</dcterms:created>
  <dcterms:modified xsi:type="dcterms:W3CDTF">2026-04-17T07:31:15Z</dcterms:modified>
</cp:coreProperties>
</file>