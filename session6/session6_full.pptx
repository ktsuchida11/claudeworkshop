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69" r:id="rId20"/>
    <p:sldId id="259" r:id="rId5"/>
    <p:sldId id="260" r:id="rId6"/>
    <p:sldId id="261" r:id="rId7"/>
    <p:sldId id="262" r:id="rId8"/>
    <p:sldId id="270" r:id="rId21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Relationship Id="rId20" Type="http://schemas.openxmlformats.org/officeDocument/2006/relationships/slide" Target="slides/slide5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勉強会  /  全10回シリーズ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6 回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ログ/トレース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動いた≠OK ― 「残す」をシステムで実装する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今日のテーマ:  3原則の【03 残す】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● ● ● ○ ○ ○ 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Koji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4280000"/>
            <a:ext cx="82296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C800"/>
                </a:solidFill>
              </a:rPr>
              <a:t>★ 覚えて帰る一言: 「計器なしで本番に飛ばさない」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今日の用語ミニ辞典 ― 迷ったらここに戻る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今日のスライドで初めて出てくるカタカナ語を1行で説明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</a:rPr>
              <a:t>●  LLM Observability</a:t>
            </a:r>
            <a:r>
              <a:rPr sz="1400" b="0">
                <a:solidFill>
                  <a:srgbClr val="2D3748"/>
                </a:solidFill>
              </a:rPr>
              <a:t>　＝　AIの中で何が起きているかを観測する仕組み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Trace</a:t>
            </a:r>
            <a:r>
              <a:rPr sz="1400" b="0">
                <a:solidFill>
                  <a:srgbClr val="2D3748"/>
                </a:solidFill>
              </a:rPr>
              <a:t>　＝　1回の処理を「誰が何をしたか」の連なりで残す記録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LLM-as-a-Judge</a:t>
            </a:r>
            <a:r>
              <a:rPr sz="1400" b="0">
                <a:solidFill>
                  <a:srgbClr val="2D3748"/>
                </a:solidFill>
              </a:rPr>
              <a:t>　＝　LLMに採点役をやらせる手法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Prompt CMS</a:t>
            </a:r>
            <a:r>
              <a:rPr sz="1400" b="0">
                <a:solidFill>
                  <a:srgbClr val="2D3748"/>
                </a:solidFill>
              </a:rPr>
              <a:t>　＝　プロンプトをコードと分けて管理する仕組み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ハルシネーション</a:t>
            </a:r>
            <a:r>
              <a:rPr sz="1400" b="0">
                <a:solidFill>
                  <a:srgbClr val="2D3748"/>
                </a:solidFill>
              </a:rPr>
              <a:t>　＝　AIがもっともらしい嘘を返す現象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</a:rPr>
              <a:t>★ 用語が分からなくなったらここへ戻ってください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前回までの地図と、今日の位置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3原則「分ける・防ぐ・残す」の最後のピースを埋める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8288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1828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第5回の要約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AIとの仕事の型 ― バイブコーディングから、型を育てる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バイブ→SDD（スペック駆動開発）への成熟度を意識する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計画→実装→記録のループを崩さない = 型の基本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今日の位置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「システムが自動で記録を残す」話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Codeの振る舞いをLangfuseで可視化・評価・改善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3原則の【残す】を技術で実装 ― 前半6回の集大成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今日のゴール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Codeのトレースがなぜ重要かを理解し、Trace→Evaluate→Improveのサイクルを知る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従来のシステム監視 vs 生成AI監視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「毎回異なる出力」と「見えない処理過程」― Claude Codeも例外ではない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4688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従来のシステム監視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予測可能・定型的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入力 → 処理 → 出力 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焦点: インフラ稼働状況、レイテンシ、エラーレート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前提: 「決まった入力に決まった出力が返る」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手法: ログ、APM、セキュリティ監査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246888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/ 生成AI監視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予測困難・複雑で不透明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指示 → 読み → 計画 → 編集 → テスト → 反復 → 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560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出力品質: 同じ指示でも結果が変化。ハルシネーション検知が必要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推論過程: どのステップで判断を間違えたかの特定が不可欠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ドリフト: CLAUDE.mdの指示忘れ、コンテキスト溢れ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Codeのターミナルログだけでは「どこで判断を間違えたか」が分からない → LLM Observabilityが必要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あれ、なんで？  ―  Claude Code『あるある』困った経験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LLM Observability の話に行く前に ― 誰もが経験する「見えない」問題を整理する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0000"/>
            <a:ext cx="4011552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❓ なんでこのファイルを読んだ？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0000"/>
            <a:ext cx="4011552" cy="9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D3748"/>
                </a:solidFill>
              </a:rPr>
              <a:t>意図しないファイルを参照して結果が崩れた経験。
コンテキスト汚染。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248" y="1500000"/>
            <a:ext cx="4011552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💸 なんでこんなにトークン消費？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248" y="1880000"/>
            <a:ext cx="4011552" cy="9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D3748"/>
                </a:solidFill>
              </a:rPr>
              <a:t>気づいたら$5消えてた。
どのステップで何に使ったか不明。コスト爆発。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0000"/>
            <a:ext cx="4011552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🔁 同じ修正を3回繰り返した…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80000"/>
            <a:ext cx="4011552" cy="9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D3748"/>
                </a:solidFill>
              </a:rPr>
              <a:t>テスト失敗→直す→失敗→直す…。
似た失敗のループに気づけない。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5248" y="2900000"/>
            <a:ext cx="4011552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📝 前のCLAUDE.mdの指示、どこいった？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248" y="3280000"/>
            <a:ext cx="4011552" cy="9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D3748"/>
                </a:solidFill>
              </a:rPr>
              <a:t>途中から指示が無視された。
長いセッションで起きるコンテキスト溢れ。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0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→ ターミナルのログだけでは追えない。 だから次の『LLM Observability』が要る。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○ ○ ○ ○ ○ ● ○ ○ ○ 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Observability ― 何が必要か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Codeの振る舞いを「残す」ために、どんな仕組みが要るのか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トレース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23317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全ステップの入出力・コスト・レイテンシを階層的に記録する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72384" y="182880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0604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3756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評価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3317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出力品質を定量スコア化し、品質の変化をデータで検知する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15584" y="182880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2606040" cy="11887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080760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プロンプト管理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783080"/>
            <a:ext cx="23317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1874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プロンプトをバージョン管理し、安全にデプロイ・ロールバックする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主要LLMOpsプラットフォーム比較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146304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731520"/>
                <a:gridCol w="731520"/>
                <a:gridCol w="1005840"/>
                <a:gridCol w="3017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ツール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OSS / セルフホスト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トレース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評価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プロンプト管理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特徴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96167"/>
                          </a:solidFill>
                        </a:rPr>
                        <a:t>Langfuse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 OSS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3機能統合 + OTelネイティブ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LangSmith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SaaS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△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LangChain特化。オーバーヘッド≒0%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Braintrust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 SaaS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△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CI/CD連携に強い。評価スコアでデプロイブロック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Helicone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△ プロキシ型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△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導入最速（1行変更）。キャッシュ機能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94360" y="4663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4ツールの選び方は FAQ Q2-6 / セルフホストの利点は FAQ Q1-2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だから Langfuse を選んだ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OSS × セルフホスト × 3機能統合 × OpenTelemetryネイティブ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セルフホスト可能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金融機関のセキュリティ要件をクリア。データを外部に出さずVPC内に構築できる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1371600"/>
            <a:ext cx="260604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00400" y="137160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53619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3機能が1つに統合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トレース・評価・プロンプト管理がバラバラではなく、1つのサイクルとして回る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43600" y="1371600"/>
            <a:ext cx="2606040" cy="100584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943600" y="137160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53619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OpenTelemetryネイティブ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0807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既存のDatadog等と連携可能。ベンダーロックインなし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2560320"/>
            <a:ext cx="246888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5486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可視化（Trace）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" y="3063240"/>
            <a:ext cx="19202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59436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Codeの全ステップを階層的に記録。コスト・遅延をリアルタイム追跡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971800" y="33604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3429000" y="2560320"/>
            <a:ext cx="2468880" cy="1874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35204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評価（Evaluate）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3703320" y="3063240"/>
            <a:ext cx="19202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356616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LLM-as-a-Judgeで品質を定量スコア化。トレースに紐付けて変化を検知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943600" y="33604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6400800" y="2560320"/>
            <a:ext cx="2468880" cy="1874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64922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改善（Prompt CMS）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675120" y="3063240"/>
            <a:ext cx="19202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28"/>
          <p:cNvSpPr/>
          <p:nvPr/>
        </p:nvSpPr>
        <p:spPr>
          <a:xfrm>
            <a:off x="6537960" y="3154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プロンプトをコードから分離。UI上でバージョン管理・即座にロールバック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35" name="Text 30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このTrace→Evaluate→Improveサイクルが「残す」の実装。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以降のスライドで各機能を詳しく見る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機能①: トレースと監視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AIエージェントの推論過程を階層的に記録し、コストとデータを管理する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1645920"/>
          </a:xfrm>
          <a:prstGeom prst="rect">
            <a:avLst/>
          </a:prstGeom>
          <a:solidFill>
            <a:srgbClr val="0F1434"/>
          </a:solidFill>
          <a:ln w="9525">
            <a:solidFill>
              <a:srgbClr val="2A2F5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490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Execution（マルチステップ推論のツリー構造）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Planning Step        1.2s  $0.02   740 tokens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 Reasoning ...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Tool Call (RAG)      0.5s  $0.01   250 tokens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 Vector Search → 3 docs retrieved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Generation Step      2.1s  $0.05  1400 tokens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Total               3.8s  $0.08  2390 tokens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212080" y="1417320"/>
            <a:ext cx="347472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212080" y="1417320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49047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23560" y="1463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コスト管理 &amp; レイテンシ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4924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モデル別トークン・コストをリアルタイム集計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user_id/session_idで監査証跡として利用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212080" y="2377440"/>
            <a:ext cx="347472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212080" y="2377440"/>
            <a:ext cx="73152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45059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データ保護 &amp; マスキング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349240" y="2697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金融要件: PII等をサーバーサイドでマスキング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証跡を残しつつ機密情報漏洩リスクを排除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212080" y="3337560"/>
            <a:ext cx="347472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5212080" y="3337560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410712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23560" y="3383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フレームワーク統合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34924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LangChain / LlamaIndex / OpenAI SDK対応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OpenTelemetryで既存監視ツールと連携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トレースの送信方法は FAQ Q2-1 / オーバーヘッドは FAQ Q2-2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Claude Code のトレースを取る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ターミナルログだけでは追えない『見えない』3つの問題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000" y="145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</a:rPr>
              <a:t>🌀  無限ループ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000" y="1850000"/>
            <a:ext cx="27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D3748"/>
                </a:solidFill>
              </a:rPr>
              <a:t>生成 → テスト失敗 → 修正 → テスト失敗 …
似た失敗を繰り返してることに気づけない。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2000" y="145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</a:rPr>
              <a:t>💰  コスト爆発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2000" y="1850000"/>
            <a:ext cx="27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D3748"/>
                </a:solidFill>
              </a:rPr>
              <a:t>気づいたら$5消えてた。
どのステップで何に使ったかが追えない。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2000" y="145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E2761"/>
                </a:solidFill>
              </a:rPr>
              <a:t>🧹  コンテキスト汚染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2000" y="1850000"/>
            <a:ext cx="27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2D3748"/>
                </a:solidFill>
              </a:rPr>
              <a:t>間違ったファイルを読んで前提を誤った。
CLAUDE.md の指示も途中で忘れがち。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00000"/>
            <a:ext cx="82296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→ 全ステップを記録すれば、上の3つに後から気づける。それが Trace（記録）。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0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C800"/>
                </a:solidFill>
              </a:rPr>
              <a:t>⚠️ Claude Code を業務で使うなら、トレースなしの運用は計器なしの飛行と同じ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○ ○ ○ ○ ○ ● ○ ○ ○ 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Claude Code × Langfuse のトレース例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1セッションの全ステップが、所要時間・トークン・コスト込みで自動的に残る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</a:rPr>
              <a:t>Claude Code Session:「認証機能を実装して」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00000"/>
            <a:ext cx="8229600" cy="2200000"/>
          </a:xfrm>
          <a:prstGeom prst="rect">
            <a:avLst/>
          </a:prstGeom>
          <a:noFill/>
        </p:spPr>
        <p:txBody>
          <a:bodyPr wrap="none" lIns="20000" rIns="20000" tIns="20000" bIns="20000">
            <a:spAutoFit/>
          </a:bodyPr>
          <a:lstStyle/>
          <a:p>
            <a:r>
              <a:rPr sz="1100">
                <a:solidFill>
                  <a:srgbClr val="2D3748"/>
                </a:solidFill>
                <a:latin typeface="Menlo"/>
              </a:rPr>
              <a:t>├─ Read: src/auth/login.ts          0.3s     120 tok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├─ Read: CLAUDE.md                  0.1s      80 tok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├─ Planning                         1.5s     950 tok   $0.03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├─ Edit: src/auth/login.ts          0.8s     600 tok   $0.02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├─ Bash: npm run test               3.2s             ← FAIL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├─ Planning (retry)                 1.2s     800 tok   $0.02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├─ Edit: src/auth/login.ts          0.6s     450 tok   $0.01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├─ Bash: npm run test               2.8s             ← PASS ✓</a:t>
            </a:r>
          </a:p>
          <a:p>
            <a:r>
              <a:rPr sz="1100">
                <a:solidFill>
                  <a:srgbClr val="2D3748"/>
                </a:solidFill>
                <a:latin typeface="Menlo"/>
              </a:rPr>
              <a:t>└─ Total                           10.7s   3,350 tok   $0.08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5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</a:rPr>
              <a:t>★ 防ぐ（Hooks）と 残す（Trace）が連動 ― 第3回のHooksブロックもこのトレースに残る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0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64748B"/>
                </a:solidFill>
              </a:rPr>
              <a:t>→ 失敗の手前で何が起きたかが、後から階層的に追える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○ ○ ○ ○ ○ ● ○ ○ ○ 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機能②: 評価（LLM-as-a-Judge）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Codeの出力品質を定量的に評価する ― 変化にデータで気づく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24688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LLM-as-a-Judge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自動スコアリング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高性能LLMを「審査員」として定義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本番トレースに自動スコアリング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指標: 正確性 / 関連性 / ハルシネーション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Codeの生成コードの品質評価にも応用可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606040" cy="24688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00400" y="141732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多様な評価手法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の統合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2103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AI自動評価（LLM-as-a-Judge）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エンドユーザーフィードバック（👍👎）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ドメイン専門家の手動アノテーション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Codeのレビュー結果を評価データに蓄積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43600" y="1417320"/>
            <a:ext cx="2606040" cy="24688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943600" y="141732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00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RAGパイプライン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の診断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080760" y="2103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検索精度と回答忠実性を定量化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検索の問題 vs 生成の問題を切り分け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金融クエリ:「古い文書を検索した」のか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「正しい文書から誤回答を生成した」のか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品質の変化にデータで気づける。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Codeの出力品質を定量的に評価・追跡できる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機能③: プロンプト管理（Prompt CMS）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CLAUDE.mdとは別レイヤーで、LLMアプリのプロンプトをバージョン管理する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24688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コードベースからの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完全な分離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「コード変更・再デプロイ」サイクルを排除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API経由でミリ秒単位の低遅延取得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Code用CLAUDE.mdとは別レイヤーのプロンプト管理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606040" cy="24688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200400" y="141732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002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バージョン管理と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ロールバック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2103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全変更が新バージョンとして記録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即座なロールバック（巻き戻し）可能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production / staging ラベルで安全リリース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43600" y="1417320"/>
            <a:ext cx="2606040" cy="24688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943600" y="141732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002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ドメイン専門家との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コラボレーション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080760" y="210312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金融専門家・コンプライアンス担当者がUIで直接テスト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Playgroundで試行→比較→本番反映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調整サイクルを日→分単位に短縮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Prompt CMS と CLAUDE.md の違いは FAQ Q2-4 / 本番運用は FAQ Q3-3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6400800" y="73152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ここからは実演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× Langfuse ― トレース画面でデバッグする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8016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トレース一覧を確認（2分）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377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Codeセッションのトレースを時系列で確認。コスト・トークン数をuser_idでフィルタリング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8016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トレースを展開してデバッグ（3分）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8016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ツリー構造でClaude Codeの推論過程を追う。Read → Planning → Edit → Bash の各ステップを確認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28016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評価スコアで品質問題を特定（3分）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4206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スコアが低いトレースを開き、検索の問題 vs 生成の問題を切り分ける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今日の振り返り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ja-JP" sz="2200" b="1">
                <a:solidFill>
                  <a:srgbClr val="FFC800"/>
                </a:solidFill>
                <a:latin typeface="+mj-lt"/>
              </a:rPr>
              <a:t>★ 「計器なしで本番に飛ばさない」</a:t>
            </a:r>
          </a:p>
          <a:p>
            <a:endParaRPr lang="ja-JP" sz="80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動いた≠OK。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評価指標とバージョン管理なしに本番投入しない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 Trace → Evaluate → Improve を回すのが「残す」の実装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従来監視と生成AI監視の違い ― Claude Codeにも同じ課題がある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Langfuseの3コア機能（Trace / Evaluate / Prompt CMS）の役割を知った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Codeのトレースを取る意味を理解した ― 計器なしの飛行をやめる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LLM-as-a-Judgeで品質の変化に気づき、定量的な評価ができる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Langfuseの3機能でClaude Codeの運用を「残す」仕組みにできる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3原則が揃った: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第2回「分ける」</a:t>
            </a:r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第3回「防ぐ」</a:t>
            </a:r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→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第6回「残す」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後半は活用を広げるフェーズへ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○ ●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858000" y="9144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7 回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ユースケース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457200" y="265176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Codeはコードを書く道具ではなく、仕事の型を実装する道具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ドキュメント生成 / タスク管理 / PRレビュー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SDD設計と実装の分離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Actions連携 / SubAgents活用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● ● ● ● ○ ○ 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第6回 ログ/トレース</dc:title>
  <dc:subject>PptxGenJS Presentation</dc:subject>
  <dc:creator>Koji</dc:creator>
  <cp:lastModifiedBy>Koji</cp:lastModifiedBy>
  <cp:revision>1</cp:revision>
  <dcterms:created xsi:type="dcterms:W3CDTF">2026-04-17T07:31:15Z</dcterms:created>
  <dcterms:modified xsi:type="dcterms:W3CDTF">2026-04-17T07:31:15Z</dcterms:modified>
</cp:coreProperties>
</file>