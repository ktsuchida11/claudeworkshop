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1" r:id="rId2"/>
  </p:sldMasterIdLst>
  <p:notesMasterIdLst>
    <p:notesMasterId r:id="rId45"/>
  </p:notesMasterIdLst>
  <p:sldIdLst>
    <p:sldId id="257" r:id="rId3"/>
    <p:sldId id="331" r:id="rId26"/>
    <p:sldId id="306" r:id="rId4"/>
    <p:sldId id="291" r:id="rId28"/>
    <p:sldId id="260" r:id="rId29"/>
    <p:sldId id="293" r:id="rId30"/>
    <p:sldId id="323" r:id="rId31"/>
    <p:sldId id="295" r:id="rId32"/>
    <p:sldId id="296" r:id="rId33"/>
    <p:sldId id="309" r:id="rId34"/>
    <p:sldId id="310" r:id="rId36"/>
    <p:sldId id="330" r:id="rId27"/>
    <p:sldId id="311" r:id="rId37"/>
    <p:sldId id="318" r:id="rId39"/>
    <p:sldId id="316" r:id="rId40"/>
    <p:sldId id="324" r:id="rId42"/>
    <p:sldId id="333" r:id="rId24"/>
    <p:sldId id="334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ED8"/>
    <a:srgbClr val="F0E8DB"/>
    <a:srgbClr val="EFE8D8"/>
    <a:srgbClr val="EDEDED"/>
    <a:srgbClr val="F2F1DD"/>
    <a:srgbClr val="F9FDE6"/>
    <a:srgbClr val="F1FDE4"/>
    <a:srgbClr val="93F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73"/>
    <p:restoredTop sz="94610"/>
  </p:normalViewPr>
  <p:slideViewPr>
    <p:cSldViewPr snapToGrid="0" snapToObjects="1">
      <p:cViewPr varScale="1">
        <p:scale>
          <a:sx n="183" d="100"/>
          <a:sy n="183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23" Type="http://schemas.openxmlformats.org/officeDocument/2006/relationships/slide" Target="slides/slide22.xml"/><Relationship Id="rId24" Type="http://schemas.openxmlformats.org/officeDocument/2006/relationships/slide" Target="slides/slide21.xml"/><Relationship Id="rId26" Type="http://schemas.openxmlformats.org/officeDocument/2006/relationships/slide" Target="slides/slide2.xml"/><Relationship Id="rId27" Type="http://schemas.openxmlformats.org/officeDocument/2006/relationships/slide" Target="slides/slide1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6" Type="http://schemas.openxmlformats.org/officeDocument/2006/relationships/slide" Target="slides/slide12.xml"/><Relationship Id="rId37" Type="http://schemas.openxmlformats.org/officeDocument/2006/relationships/slide" Target="slides/slide14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2" Type="http://schemas.openxmlformats.org/officeDocument/2006/relationships/slide" Target="slides/slide19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253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TL"/>
          <p:cNvSpPr/>
          <p:nvPr/>
        </p:nvSpPr>
        <p:spPr>
          <a:xfrm>
            <a:off x="317500" y="317500"/>
            <a:ext cx="50800" cy="5461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BracketBRv"/>
          <p:cNvSpPr/>
          <p:nvPr/>
        </p:nvSpPr>
        <p:spPr>
          <a:xfrm>
            <a:off x="8699500" y="3835400"/>
            <a:ext cx="76200" cy="10033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BracketBRh"/>
          <p:cNvSpPr/>
          <p:nvPr/>
        </p:nvSpPr>
        <p:spPr>
          <a:xfrm>
            <a:off x="7912100" y="4775200"/>
            <a:ext cx="863600" cy="508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TL"/>
          <p:cNvSpPr/>
          <p:nvPr/>
        </p:nvSpPr>
        <p:spPr>
          <a:xfrm>
            <a:off x="317500" y="317500"/>
            <a:ext cx="50800" cy="5461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BracketBRv"/>
          <p:cNvSpPr/>
          <p:nvPr/>
        </p:nvSpPr>
        <p:spPr>
          <a:xfrm>
            <a:off x="8699500" y="3835400"/>
            <a:ext cx="76200" cy="10033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BracketBRh"/>
          <p:cNvSpPr/>
          <p:nvPr/>
        </p:nvSpPr>
        <p:spPr>
          <a:xfrm>
            <a:off x="7912100" y="4775200"/>
            <a:ext cx="863600" cy="508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>
        <a:defRPr sz="4400">
          <a:solidFill>
            <a:srgbClr val="191B0E"/>
          </a:solidFill>
        </a:defRPr>
      </a:lvl1pPr>
    </p:titleStyle>
    <p:bodyStyle>
      <a:lvl1pPr>
        <a:defRPr sz="1800">
          <a:solidFill>
            <a:srgbClr val="191B0E"/>
          </a:solidFill>
        </a:defRPr>
      </a:lvl1pPr>
    </p:bodyStyle>
    <p:otherStyle>
      <a:lvl1pPr>
        <a:defRPr sz="1800"/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Arial"/>
              </a:rPr>
              <a:t>CLAUDE CODE 勉強会  /  全10回シリーズ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Arial Black"/>
              </a:rPr>
              <a:t>第 9 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eiryo"/>
              </a:rPr>
              <a:t>ループ応用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80360"/>
            <a:ext cx="731520" cy="5486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Meiryo"/>
              </a:rPr>
              <a:t>ハーネスの型を、開発工程のループへ移し替える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"/>
              </a:rPr>
              <a:t>今日のテーマ:  ループ設計の4原則と、実装×検証を ISSUE で繋ぐ開発ループ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61104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C800"/>
                </a:solidFill>
                <a:latin typeface="Meiryo"/>
              </a:rPr>
              <a:t>★ 覚えて帰る一言: 「実装と検証をISSUEで繋ぐ」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Meiryo"/>
              </a:rPr>
              <a:t>土田　晃司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6634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CADCFC"/>
                </a:solidFill>
                <a:latin typeface="Arial"/>
              </a:rPr>
              <a:t>● ● ● ● ● ● ● ● ● ○</a:t>
            </a:r>
          </a:p>
        </p:txBody>
      </p:sp>
    </p:spTree>
    <p:extLst>
      <p:ext uri="{BB962C8B-B14F-4D97-AF65-F5344CB8AC3E}">
        <p14:creationId xmlns:p14="http://schemas.microsoft.com/office/powerpoint/2010/main" val="27363186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46888"/>
            <a:ext cx="64008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Meiryo"/>
              </a:rPr>
              <a:t>用語ミニ辞典 ― 迷ったらここに戻る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eiryo"/>
              </a:rPr>
              <a:t>この回で初めて出てくる用語を1行で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8229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ループ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生成→検証→学習を回し続ける仕組み（止め方込み）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PGE（Planner-Generator-Evaluator）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計画・生成・評価を別役割に分けて回す構成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worktree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git で並列作業を衝突させないための作業コピー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gold_standard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開発では「テスト・受け入れ条件」が正解の役割を果たす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ルーブリック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0–5 等で段階定義した、誰が測っても近い再現可能な評価基準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ISSUE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課題チケット（テキスト）。実装役と検証役をつなぐ唯一の接点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eiryo"/>
              </a:rPr>
              <a:t>★ 用語が分からなくなったらここへ戻ってください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46888"/>
            <a:ext cx="64008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Meiryo"/>
              </a:rPr>
              <a:t>今日の位置と、本日の流れ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eiryo"/>
              </a:rPr>
              <a:t>前回の続き ― 今日の到達点とアジェンダ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572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eiryo"/>
              </a:rPr>
              <a:t>シリーズの中の位置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291840" cy="566928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46504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eiryo"/>
              </a:rPr>
              <a:t>前回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47672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  <a:latin typeface="Meiryo"/>
              </a:rPr>
              <a:t>第8回  自己改善エージェント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691640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96167"/>
                </a:solidFill>
                <a:latin typeface="Meiry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291840" cy="56692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746504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Meiryo"/>
              </a:rPr>
              <a:t>今回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947672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第9回  開発へのループ応用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eiryo"/>
              </a:rPr>
              <a:t>本日の流れ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8183879" cy="402336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" y="310896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063240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eiryo"/>
              </a:rPr>
              <a:t>プロンプトから「ループ」へ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063240"/>
            <a:ext cx="3520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eiryo"/>
              </a:rPr>
              <a:t>AI活用の段階と位置づけ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38728"/>
            <a:ext cx="8183879" cy="402336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" y="3584448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538728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eiryo"/>
              </a:rPr>
              <a:t>ループ設計の 4 原則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538728"/>
            <a:ext cx="3520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eiryo"/>
              </a:rPr>
              <a:t>評価基準・止め方・役割分担・判断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6"/>
            <a:ext cx="8183879" cy="402336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6656" y="405993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014216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eiryo"/>
              </a:rPr>
              <a:t>実装×検証の分担と ISSUE 連携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014216"/>
            <a:ext cx="3520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eiryo"/>
              </a:rPr>
              <a:t>役割を分け ISSUE で往復する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89704"/>
            <a:ext cx="8183879" cy="402336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6656" y="45354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489704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eiryo"/>
              </a:rPr>
              <a:t>Q &amp;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489704"/>
            <a:ext cx="3520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eiryo"/>
              </a:rPr>
              <a:t>質疑応答・参照ファイル</a:t>
            </a:r>
          </a:p>
        </p:txBody>
      </p:sp>
    </p:spTree>
    <p:extLst>
      <p:ext uri="{BB962C8B-B14F-4D97-AF65-F5344CB8AC3E}">
        <p14:creationId xmlns:p14="http://schemas.microsoft.com/office/powerpoint/2010/main" val="119103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A6489B-4896-A547-A0A0-AE65F89D2215}"/>
              </a:ext>
            </a:extLst>
          </p:cNvPr>
          <p:cNvSpPr txBox="1"/>
          <p:nvPr/>
        </p:nvSpPr>
        <p:spPr>
          <a:xfrm>
            <a:off x="762000" y="13716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b="1">
                <a:solidFill>
                  <a:srgbClr val="CADCFC"/>
                </a:solidFill>
              </a:rPr>
              <a:t>GENERALIZE</a:t>
            </a:r>
            <a:endParaRPr lang="ja-JP" altLang="en-US" b="1">
              <a:solidFill>
                <a:srgbClr val="64748B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BE2242-0C71-DB41-B0D2-FA01A5F98C7A}"/>
              </a:ext>
            </a:extLst>
          </p:cNvPr>
          <p:cNvSpPr txBox="1"/>
          <p:nvPr/>
        </p:nvSpPr>
        <p:spPr>
          <a:xfrm>
            <a:off x="761999" y="1778000"/>
            <a:ext cx="8013865" cy="66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3800" b="1">
                <a:solidFill>
                  <a:srgbClr val="FFFFFF"/>
                </a:solidFill>
              </a:rPr>
              <a:t>ループ設計の原則から開発への応用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9B5648-FD5E-3E4B-9ED5-005C890EFE7F}"/>
              </a:ext>
            </a:extLst>
          </p:cNvPr>
          <p:cNvSpPr txBox="1"/>
          <p:nvPr/>
        </p:nvSpPr>
        <p:spPr>
          <a:xfrm>
            <a:off x="762000" y="2489200"/>
            <a:ext cx="7620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000" b="1">
                <a:solidFill>
                  <a:srgbClr val="CADCFC"/>
                </a:solidFill>
              </a:rPr>
              <a:t>ハーネスからループへ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DDD8EE2-52BE-FF41-AEED-EE2F1C3CB2BB}"/>
              </a:ext>
            </a:extLst>
          </p:cNvPr>
          <p:cNvSpPr/>
          <p:nvPr/>
        </p:nvSpPr>
        <p:spPr>
          <a:xfrm>
            <a:off x="4191000" y="2971800"/>
            <a:ext cx="762000" cy="38100"/>
          </a:xfrm>
          <a:prstGeom prst="rect">
            <a:avLst/>
          </a:prstGeom>
          <a:solidFill>
            <a:srgbClr val="F9616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512E2F7-F763-A641-9560-EED612BD4442}"/>
              </a:ext>
            </a:extLst>
          </p:cNvPr>
          <p:cNvSpPr txBox="1"/>
          <p:nvPr/>
        </p:nvSpPr>
        <p:spPr>
          <a:xfrm>
            <a:off x="1016000" y="3251200"/>
            <a:ext cx="7112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ja-JP" altLang="en-US" sz="1600" i="1">
                <a:solidFill>
                  <a:srgbClr val="CADCFC"/>
                </a:solidFill>
              </a:rPr>
              <a:t>ここまでの</a:t>
            </a:r>
            <a:r>
              <a:rPr lang="en-US" altLang="ja-JP" sz="1600" i="1" dirty="0">
                <a:solidFill>
                  <a:srgbClr val="CADCFC"/>
                </a:solidFill>
              </a:rPr>
              <a:t> </a:t>
            </a:r>
            <a:r>
              <a:rPr lang="ja-JP" altLang="en-US" sz="1600" b="1">
                <a:solidFill>
                  <a:srgbClr val="CADCFC"/>
                </a:solidFill>
                <a:cs typeface="Meiryo"/>
              </a:rPr>
              <a:t>harness_agent</a:t>
            </a:r>
            <a:r>
              <a:rPr lang="en" altLang="ja-JP" sz="1600" i="1" dirty="0">
                <a:solidFill>
                  <a:srgbClr val="CADCFC"/>
                </a:solidFill>
              </a:rPr>
              <a:t> </a:t>
            </a:r>
            <a:r>
              <a:rPr lang="ja-JP" altLang="en-US" sz="1600" i="1">
                <a:solidFill>
                  <a:srgbClr val="CADCFC"/>
                </a:solidFill>
              </a:rPr>
              <a:t>を一般化する。「自分でループを組むなら何を設計するか」を ４つの観点で整理する。</a:t>
            </a:r>
          </a:p>
        </p:txBody>
      </p:sp>
    </p:spTree>
    <p:extLst>
      <p:ext uri="{BB962C8B-B14F-4D97-AF65-F5344CB8AC3E}">
        <p14:creationId xmlns:p14="http://schemas.microsoft.com/office/powerpoint/2010/main" val="186031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6145037-5AEC-2244-8293-E05EC0B4153A}"/>
              </a:ext>
            </a:extLst>
          </p:cNvPr>
          <p:cNvSpPr txBox="1"/>
          <p:nvPr/>
        </p:nvSpPr>
        <p:spPr>
          <a:xfrm>
            <a:off x="546100" y="254000"/>
            <a:ext cx="8001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まず位置づけ </a:t>
            </a:r>
            <a:r>
              <a:rPr lang="en-US" altLang="ja-JP" sz="2800" b="1">
                <a:solidFill>
                  <a:srgbClr val="1E2761"/>
                </a:solidFill>
              </a:rPr>
              <a:t>― </a:t>
            </a:r>
            <a:r>
              <a:rPr lang="ja-JP" altLang="en-US" sz="2800" b="1">
                <a:solidFill>
                  <a:srgbClr val="1E2761"/>
                </a:solidFill>
              </a:rPr>
              <a:t>プロンプトの次は「ループ」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36D73E-8854-334E-8750-22C285A06E7E}"/>
              </a:ext>
            </a:extLst>
          </p:cNvPr>
          <p:cNvSpPr txBox="1"/>
          <p:nvPr/>
        </p:nvSpPr>
        <p:spPr>
          <a:xfrm>
            <a:off x="546100" y="7620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500">
                <a:solidFill>
                  <a:srgbClr val="64748B"/>
                </a:solidFill>
              </a:rPr>
              <a:t>AI </a:t>
            </a:r>
            <a:r>
              <a:rPr lang="ja-JP" altLang="en-US" sz="1500">
                <a:solidFill>
                  <a:srgbClr val="64748B"/>
                </a:solidFill>
              </a:rPr>
              <a:t>の使い方は </a:t>
            </a:r>
            <a:r>
              <a:rPr lang="en-US" altLang="ja-JP" sz="1500">
                <a:solidFill>
                  <a:srgbClr val="64748B"/>
                </a:solidFill>
              </a:rPr>
              <a:t>1 </a:t>
            </a:r>
            <a:r>
              <a:rPr lang="ja-JP" altLang="en-US" sz="1500">
                <a:solidFill>
                  <a:srgbClr val="64748B"/>
                </a:solidFill>
              </a:rPr>
              <a:t>段ずつ上がってきた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DCC62DAE-19C9-B543-8C32-75BB9EEBAED6}"/>
              </a:ext>
            </a:extLst>
          </p:cNvPr>
          <p:cNvSpPr/>
          <p:nvPr/>
        </p:nvSpPr>
        <p:spPr>
          <a:xfrm>
            <a:off x="571500" y="1219200"/>
            <a:ext cx="1905000" cy="660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1E2761"/>
                </a:solidFill>
              </a:rPr>
              <a:t>プロンプト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CAEF83-8CF8-8045-8727-C4BE4C910319}"/>
              </a:ext>
            </a:extLst>
          </p:cNvPr>
          <p:cNvSpPr txBox="1"/>
          <p:nvPr/>
        </p:nvSpPr>
        <p:spPr>
          <a:xfrm>
            <a:off x="571500" y="19304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300">
                <a:solidFill>
                  <a:srgbClr val="64748B"/>
                </a:solidFill>
              </a:rPr>
              <a:t>1</a:t>
            </a:r>
            <a:r>
              <a:rPr lang="ja-JP" altLang="en-US" sz="1300">
                <a:solidFill>
                  <a:srgbClr val="64748B"/>
                </a:solidFill>
              </a:rPr>
              <a:t>回の問い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E09FE4-A661-F547-A1F6-ED2E5E325506}"/>
              </a:ext>
            </a:extLst>
          </p:cNvPr>
          <p:cNvSpPr txBox="1"/>
          <p:nvPr/>
        </p:nvSpPr>
        <p:spPr>
          <a:xfrm>
            <a:off x="2476500" y="1371600"/>
            <a:ext cx="1905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0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EAE75349-073C-1C47-A5BB-29B8DB83ED98}"/>
              </a:ext>
            </a:extLst>
          </p:cNvPr>
          <p:cNvSpPr/>
          <p:nvPr/>
        </p:nvSpPr>
        <p:spPr>
          <a:xfrm>
            <a:off x="2667000" y="1219200"/>
            <a:ext cx="1905000" cy="660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1E2761"/>
                </a:solidFill>
              </a:rPr>
              <a:t>コンテキスト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6EB0511-8442-2748-B73F-B2632D137D36}"/>
              </a:ext>
            </a:extLst>
          </p:cNvPr>
          <p:cNvSpPr txBox="1"/>
          <p:nvPr/>
        </p:nvSpPr>
        <p:spPr>
          <a:xfrm>
            <a:off x="2667000" y="19304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64748B"/>
                </a:solidFill>
              </a:rPr>
              <a:t>渡す素材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8713533-E5C5-C34E-A608-D68D88546C35}"/>
              </a:ext>
            </a:extLst>
          </p:cNvPr>
          <p:cNvSpPr txBox="1"/>
          <p:nvPr/>
        </p:nvSpPr>
        <p:spPr>
          <a:xfrm>
            <a:off x="4572000" y="1371600"/>
            <a:ext cx="1905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0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E5B5F8EB-B4DE-FC4C-A02A-3D05E0F8E448}"/>
              </a:ext>
            </a:extLst>
          </p:cNvPr>
          <p:cNvSpPr/>
          <p:nvPr/>
        </p:nvSpPr>
        <p:spPr>
          <a:xfrm>
            <a:off x="4762500" y="1219200"/>
            <a:ext cx="1905000" cy="660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1E2761"/>
                </a:solidFill>
              </a:rPr>
              <a:t>ハーネス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A16B679-E55B-B747-B858-DC65312484B4}"/>
              </a:ext>
            </a:extLst>
          </p:cNvPr>
          <p:cNvSpPr txBox="1"/>
          <p:nvPr/>
        </p:nvSpPr>
        <p:spPr>
          <a:xfrm>
            <a:off x="4762500" y="19304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64748B"/>
                </a:solidFill>
              </a:rPr>
              <a:t>道具・検証・完了定義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D458CAE-DE7D-234D-95B4-FAEB73CDB8E7}"/>
              </a:ext>
            </a:extLst>
          </p:cNvPr>
          <p:cNvSpPr txBox="1"/>
          <p:nvPr/>
        </p:nvSpPr>
        <p:spPr>
          <a:xfrm>
            <a:off x="6667500" y="1371600"/>
            <a:ext cx="1905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0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126DE0A4-0F7A-C146-A2F7-CCB42CAF740E}"/>
              </a:ext>
            </a:extLst>
          </p:cNvPr>
          <p:cNvSpPr/>
          <p:nvPr/>
        </p:nvSpPr>
        <p:spPr>
          <a:xfrm>
            <a:off x="6858000" y="1219200"/>
            <a:ext cx="1905000" cy="6604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700" b="1">
                <a:solidFill>
                  <a:srgbClr val="FFFFFF"/>
                </a:solidFill>
              </a:rPr>
              <a:t>ループ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5000264-26FD-744B-A7F9-B230973A824E}"/>
              </a:ext>
            </a:extLst>
          </p:cNvPr>
          <p:cNvSpPr txBox="1"/>
          <p:nvPr/>
        </p:nvSpPr>
        <p:spPr>
          <a:xfrm>
            <a:off x="6858000" y="1930400"/>
            <a:ext cx="1905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64748B"/>
                </a:solidFill>
              </a:rPr>
              <a:t>自走の仕組み・止め方込み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3EF75D6-6AA4-2C4C-BB4C-9695E23F8B2B}"/>
              </a:ext>
            </a:extLst>
          </p:cNvPr>
          <p:cNvSpPr txBox="1"/>
          <p:nvPr/>
        </p:nvSpPr>
        <p:spPr>
          <a:xfrm>
            <a:off x="546100" y="2667000"/>
            <a:ext cx="7874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600" dirty="0">
                <a:solidFill>
                  <a:srgbClr val="1E2761"/>
                </a:solidFill>
              </a:rPr>
              <a:t>•  ④</a:t>
            </a:r>
            <a:r>
              <a:rPr lang="ja-JP" altLang="en-US" sz="1600">
                <a:solidFill>
                  <a:srgbClr val="1E2761"/>
                </a:solidFill>
              </a:rPr>
              <a:t>ループの実例 </a:t>
            </a:r>
            <a:r>
              <a:rPr lang="en-US" altLang="ja-JP" sz="1600" dirty="0">
                <a:solidFill>
                  <a:srgbClr val="1E2761"/>
                </a:solidFill>
              </a:rPr>
              <a:t>― </a:t>
            </a:r>
            <a:r>
              <a:rPr lang="ja-JP" altLang="en-US" sz="1600">
                <a:solidFill>
                  <a:srgbClr val="1E2761"/>
                </a:solidFill>
              </a:rPr>
              <a:t>毎日 </a:t>
            </a:r>
            <a:r>
              <a:rPr lang="en" altLang="ja-JP" sz="1600" dirty="0">
                <a:solidFill>
                  <a:srgbClr val="1E2761"/>
                </a:solidFill>
              </a:rPr>
              <a:t>AI </a:t>
            </a:r>
            <a:r>
              <a:rPr lang="ja-JP" altLang="en-US" sz="1600">
                <a:solidFill>
                  <a:srgbClr val="1E2761"/>
                </a:solidFill>
              </a:rPr>
              <a:t>が自動で書き、採点され、学習する。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20CA2F4-774C-4B4F-BD19-41405E0FBB8A}"/>
              </a:ext>
            </a:extLst>
          </p:cNvPr>
          <p:cNvSpPr txBox="1"/>
          <p:nvPr/>
        </p:nvSpPr>
        <p:spPr>
          <a:xfrm>
            <a:off x="546100" y="3098800"/>
            <a:ext cx="7874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600" dirty="0">
                <a:solidFill>
                  <a:srgbClr val="1E2761"/>
                </a:solidFill>
              </a:rPr>
              <a:t>•  </a:t>
            </a:r>
            <a:r>
              <a:rPr lang="ja-JP" altLang="en-US" sz="1600">
                <a:solidFill>
                  <a:srgbClr val="1E2761"/>
                </a:solidFill>
              </a:rPr>
              <a:t>持ち帰るキーワードは </a:t>
            </a:r>
            <a:r>
              <a:rPr lang="en-US" altLang="ja-JP" sz="1600" dirty="0">
                <a:solidFill>
                  <a:srgbClr val="1E2761"/>
                </a:solidFill>
              </a:rPr>
              <a:t>2 </a:t>
            </a:r>
            <a:r>
              <a:rPr lang="ja-JP" altLang="en-US" sz="1600">
                <a:solidFill>
                  <a:srgbClr val="1E2761"/>
                </a:solidFill>
              </a:rPr>
              <a:t>つだけ：「評価基準」と「止め方」。この </a:t>
            </a:r>
            <a:r>
              <a:rPr lang="en-US" altLang="ja-JP" sz="1600" dirty="0">
                <a:solidFill>
                  <a:srgbClr val="1E2761"/>
                </a:solidFill>
              </a:rPr>
              <a:t>2 </a:t>
            </a:r>
            <a:r>
              <a:rPr lang="ja-JP" altLang="en-US" sz="1600">
                <a:solidFill>
                  <a:srgbClr val="1E2761"/>
                </a:solidFill>
              </a:rPr>
              <a:t>つが無いとループは回らない。</a:t>
            </a:r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D1021638-703E-F64C-9232-49AF7F28AC1D}"/>
              </a:ext>
            </a:extLst>
          </p:cNvPr>
          <p:cNvSpPr/>
          <p:nvPr/>
        </p:nvSpPr>
        <p:spPr>
          <a:xfrm>
            <a:off x="546100" y="3810000"/>
            <a:ext cx="7874000" cy="914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ja-JP" altLang="en-US" sz="1100" i="1">
                <a:solidFill>
                  <a:srgbClr val="2D3748"/>
                </a:solidFill>
              </a:rPr>
              <a:t>ハーネス＝「1回を賢く」/ループ＝「回し続ける（止め方込み）」。harness_agent は名前は harness だが、Cron＋自己反省で実体は loop。否定派「cron に帽子を被せただけ」への答え＝止め方と評価を設計しているか。後半「ループ設計の原則」で深掘りする。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22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647848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C25019-B03E-0E4E-9FF3-966803545FD1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ループの設計</a:t>
            </a:r>
            <a:r>
              <a:rPr lang="en-US" altLang="ja-JP" sz="2800" b="1">
                <a:solidFill>
                  <a:srgbClr val="1E2761"/>
                </a:solidFill>
              </a:rPr>
              <a:t>① ― 6 </a:t>
            </a:r>
            <a:r>
              <a:rPr lang="ja-JP" altLang="en-US" sz="2800" b="1">
                <a:solidFill>
                  <a:srgbClr val="1E2761"/>
                </a:solidFill>
              </a:rPr>
              <a:t>つの部品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1508B7-9D10-EC44-91DA-86AAC505CFD1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ja-JP" altLang="en-US" sz="1500">
                <a:solidFill>
                  <a:srgbClr val="64748B"/>
                </a:solidFill>
              </a:rPr>
              <a:t>はすでに全部持っている ＝ 開発にも流用できる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DF15E8B-1E02-944A-9403-C913A7B90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200769"/>
              </p:ext>
            </p:extLst>
          </p:nvPr>
        </p:nvGraphicFramePr>
        <p:xfrm>
          <a:off x="546100" y="1117600"/>
          <a:ext cx="81153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4386689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29242787"/>
                    </a:ext>
                  </a:extLst>
                </a:gridCol>
                <a:gridCol w="3289300">
                  <a:extLst>
                    <a:ext uri="{9D8B030D-6E8A-4147-A177-3AD203B41FA5}">
                      <a16:colId xmlns:a16="http://schemas.microsoft.com/office/drawing/2014/main" val="3379275139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FFFFFF"/>
                          </a:solidFill>
                        </a:rPr>
                        <a:t>部品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FFFFFF"/>
                          </a:solidFill>
                        </a:rPr>
                        <a:t>役割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FFFFFF"/>
                          </a:solidFill>
                        </a:rPr>
                        <a:t>harness_agent では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34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トリガー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人以外に起動させる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Cron 06:</a:t>
                      </a:r>
                      <a:r>
                        <a:rPr lang="en-US" altLang="ja-JP" sz="1250" b="0" dirty="0">
                          <a:solidFill>
                            <a:srgbClr val="1E2761"/>
                          </a:solidFill>
                        </a:rPr>
                        <a:t>27</a:t>
                      </a:r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 / 1</a:t>
                      </a:r>
                      <a:r>
                        <a:rPr lang="en-US" altLang="ja-JP" sz="1250" b="0" dirty="0">
                          <a:solidFill>
                            <a:srgbClr val="1E2761"/>
                          </a:solidFill>
                        </a:rPr>
                        <a:t>2</a:t>
                      </a:r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:0</a:t>
                      </a:r>
                      <a:r>
                        <a:rPr lang="en-US" altLang="ja-JP" sz="1250" b="0" dirty="0">
                          <a:solidFill>
                            <a:srgbClr val="1E2761"/>
                          </a:solidFill>
                        </a:rPr>
                        <a:t>7</a:t>
                      </a:r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（火-土）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79638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隔離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並列でも衝突しない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Runtime 分離（開発なら git worktree）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29495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Skills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やり方を残す（短く宣言的に）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style_guide / Skill コマンド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26792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役割分担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作る係 ≠ チェック係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Generator と Evaluator を別スキル・別セッション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22613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コネクター（MCP）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外の世界と繋ぐ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Gmail / WebSearch 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6465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メモリ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始めに読み終わりに書く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MEMORY.md ＋ feedback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665363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BA64C4A-0585-214C-543A-F0164BC0481C}"/>
              </a:ext>
            </a:extLst>
          </p:cNvPr>
          <p:cNvSpPr txBox="1"/>
          <p:nvPr/>
        </p:nvSpPr>
        <p:spPr>
          <a:xfrm>
            <a:off x="546100" y="3837940"/>
            <a:ext cx="81153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1">
                <a:solidFill>
                  <a:srgbClr val="2D3748"/>
                </a:solidFill>
                <a:latin typeface="Meiryo"/>
              </a:rPr>
              <a:t>開いたループ（探索向き）</a:t>
            </a:r>
            <a:r>
              <a:rPr lang="en" altLang="ja-JP" sz="1400" b="1" dirty="0">
                <a:solidFill>
                  <a:srgbClr val="2D3748"/>
                </a:solidFill>
                <a:latin typeface="Meiryo"/>
              </a:rPr>
              <a:t>vs </a:t>
            </a:r>
            <a:r>
              <a:rPr lang="ja-JP" altLang="en-US" sz="1400" b="1">
                <a:solidFill>
                  <a:srgbClr val="2D3748"/>
                </a:solidFill>
                <a:latin typeface="Meiryo"/>
              </a:rPr>
              <a:t>閉じたループ（各ステップで検証して進む＝本番向き）</a:t>
            </a:r>
            <a:r>
              <a:rPr lang="ja-JP" altLang="en-US" sz="1400" b="0">
                <a:solidFill>
                  <a:srgbClr val="2D3748"/>
                </a:solidFill>
                <a:latin typeface="Meiryo"/>
              </a:rPr>
              <a:t>。</a:t>
            </a:r>
            <a:r>
              <a:rPr lang="en" altLang="ja-JP" sz="1400" b="0" dirty="0" err="1">
                <a:solidFill>
                  <a:srgbClr val="2D3748"/>
                </a:solidFill>
                <a:latin typeface="Meiryo"/>
              </a:rPr>
              <a:t>harness_agent</a:t>
            </a:r>
            <a:r>
              <a:rPr lang="en" altLang="ja-JP" sz="1400" b="0" dirty="0">
                <a:solidFill>
                  <a:srgbClr val="2D3748"/>
                </a:solidFill>
                <a:latin typeface="Meiryo"/>
              </a:rPr>
              <a:t> </a:t>
            </a:r>
            <a:r>
              <a:rPr lang="ja-JP" altLang="en-US" sz="1400" b="0">
                <a:solidFill>
                  <a:srgbClr val="2D3748"/>
                </a:solidFill>
                <a:latin typeface="Meiryo"/>
              </a:rPr>
              <a:t>は閉じたループ。</a:t>
            </a:r>
          </a:p>
          <a:p>
            <a:r>
              <a:rPr lang="en-US" altLang="ja-JP" sz="1400" dirty="0">
                <a:solidFill>
                  <a:srgbClr val="1E2761"/>
                </a:solidFill>
                <a:latin typeface="Meiryo"/>
              </a:rPr>
              <a:t>• </a:t>
            </a:r>
            <a:r>
              <a:rPr lang="ja-JP" altLang="en-US" sz="1400" b="0">
                <a:solidFill>
                  <a:srgbClr val="2D3748"/>
                </a:solidFill>
                <a:latin typeface="Meiryo"/>
              </a:rPr>
              <a:t>いきなり全部要らない。</a:t>
            </a:r>
            <a:r>
              <a:rPr lang="ja-JP" altLang="en-US" sz="1400" b="1">
                <a:solidFill>
                  <a:srgbClr val="2D3748"/>
                </a:solidFill>
                <a:latin typeface="Meiryo"/>
              </a:rPr>
              <a:t>「テストが落ちる→直す→再テスト」の往復</a:t>
            </a:r>
            <a:r>
              <a:rPr lang="ja-JP" altLang="en-US" sz="1400" b="0">
                <a:solidFill>
                  <a:srgbClr val="2D3748"/>
                </a:solidFill>
                <a:latin typeface="Meiryo"/>
              </a:rPr>
              <a:t>から始めるのが定石。</a:t>
            </a:r>
            <a:endParaRPr lang="ja-JP" altLang="en-US" sz="1400" b="0" dirty="0">
              <a:solidFill>
                <a:srgbClr val="2D3748"/>
              </a:solidFill>
              <a:latin typeface="Meiry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61917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02A8B9-473E-3342-8116-AE6C3B78DC3B}"/>
              </a:ext>
            </a:extLst>
          </p:cNvPr>
          <p:cNvSpPr txBox="1"/>
          <p:nvPr/>
        </p:nvSpPr>
        <p:spPr>
          <a:xfrm>
            <a:off x="546100" y="228600"/>
            <a:ext cx="8399492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ループの設計</a:t>
            </a:r>
            <a:r>
              <a:rPr lang="en-US" altLang="ja-JP" sz="2800" b="1" dirty="0">
                <a:solidFill>
                  <a:srgbClr val="1E2761"/>
                </a:solidFill>
              </a:rPr>
              <a:t>② ― </a:t>
            </a:r>
            <a:r>
              <a:rPr lang="ja-JP" altLang="en-US" sz="2800" b="1">
                <a:solidFill>
                  <a:srgbClr val="1E2761"/>
                </a:solidFill>
              </a:rPr>
              <a:t>心臓は「評価基準を先に作る」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44C8A24-3C79-BF4F-8537-BF54F1E61201}"/>
              </a:ext>
            </a:extLst>
          </p:cNvPr>
          <p:cNvSpPr/>
          <p:nvPr/>
        </p:nvSpPr>
        <p:spPr>
          <a:xfrm>
            <a:off x="546100" y="965200"/>
            <a:ext cx="88900" cy="660400"/>
          </a:xfrm>
          <a:prstGeom prst="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8C430671-4BA8-E048-BC2A-CBD435CFD0D1}"/>
              </a:ext>
            </a:extLst>
          </p:cNvPr>
          <p:cNvSpPr/>
          <p:nvPr/>
        </p:nvSpPr>
        <p:spPr>
          <a:xfrm>
            <a:off x="635000" y="965200"/>
            <a:ext cx="8026400" cy="660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500" b="1" i="1">
                <a:solidFill>
                  <a:srgbClr val="1E2761"/>
                </a:solidFill>
              </a:rPr>
              <a:t>「いい評価基準があってこそ、いいループが成り立つ。判断の物差しが雑だと、ループは間違いを爆速で量産する。」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FB9062-13B8-F741-877B-920CC8E5BE74}"/>
              </a:ext>
            </a:extLst>
          </p:cNvPr>
          <p:cNvSpPr txBox="1"/>
          <p:nvPr/>
        </p:nvSpPr>
        <p:spPr>
          <a:xfrm>
            <a:off x="514350" y="1769852"/>
            <a:ext cx="8115300" cy="559279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ja-JP" altLang="en-US" sz="1400">
                <a:solidFill>
                  <a:srgbClr val="1E2761"/>
                </a:solidFill>
              </a:rPr>
              <a:t>● 評価基準は再現可能に </a:t>
            </a:r>
            <a:r>
              <a:rPr lang="en-US" altLang="ja-JP" sz="1400" dirty="0">
                <a:solidFill>
                  <a:srgbClr val="1E2761"/>
                </a:solidFill>
              </a:rPr>
              <a:t>― </a:t>
            </a:r>
            <a:r>
              <a:rPr lang="ja-JP" altLang="en-US" sz="1400">
                <a:solidFill>
                  <a:srgbClr val="1E2761"/>
                </a:solidFill>
              </a:rPr>
              <a:t>誰が測っても近い点（</a:t>
            </a:r>
            <a:r>
              <a:rPr lang="en-US" altLang="ja-JP" sz="1400" dirty="0">
                <a:solidFill>
                  <a:srgbClr val="1E2761"/>
                </a:solidFill>
              </a:rPr>
              <a:t>0–5 </a:t>
            </a:r>
            <a:r>
              <a:rPr lang="ja-JP" altLang="en-US" sz="1400">
                <a:solidFill>
                  <a:srgbClr val="1E2761"/>
                </a:solidFill>
              </a:rPr>
              <a:t>のアンカー段階定義）。</a:t>
            </a:r>
            <a:r>
              <a:rPr lang="ja-JP" altLang="en-US" sz="1400" b="1">
                <a:solidFill>
                  <a:srgbClr val="1E2761"/>
                </a:solidFill>
                <a:cs typeface="Meiryo"/>
              </a:rPr>
              <a:t>harness_agent</a:t>
            </a:r>
            <a:r>
              <a:rPr lang="ja-JP" altLang="en-US" sz="1400">
                <a:solidFill>
                  <a:srgbClr val="1E2761"/>
                </a:solidFill>
              </a:rPr>
              <a:t>は過去レポートから逆算して作成。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E0EBB318-7BFB-B546-A6D5-2DA98FC30714}"/>
              </a:ext>
            </a:extLst>
          </p:cNvPr>
          <p:cNvSpPr/>
          <p:nvPr/>
        </p:nvSpPr>
        <p:spPr>
          <a:xfrm>
            <a:off x="546100" y="2481532"/>
            <a:ext cx="8115300" cy="12446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50070EE-7247-4F42-B279-2F850B9A9641}"/>
              </a:ext>
            </a:extLst>
          </p:cNvPr>
          <p:cNvSpPr txBox="1"/>
          <p:nvPr/>
        </p:nvSpPr>
        <p:spPr>
          <a:xfrm>
            <a:off x="647700" y="2557732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1E2761"/>
                </a:solidFill>
              </a:rPr>
              <a:t>自動最適化の研究（</a:t>
            </a:r>
            <a:r>
              <a:rPr lang="en" altLang="ja-JP" sz="1500" b="1" dirty="0">
                <a:solidFill>
                  <a:srgbClr val="1E2761"/>
                </a:solidFill>
              </a:rPr>
              <a:t>JEPPA / </a:t>
            </a:r>
            <a:r>
              <a:rPr lang="en" altLang="ja-JP" sz="1500" b="1" dirty="0" err="1">
                <a:solidFill>
                  <a:srgbClr val="1E2761"/>
                </a:solidFill>
              </a:rPr>
              <a:t>SkillOpt</a:t>
            </a:r>
            <a:r>
              <a:rPr lang="ja-JP" altLang="en" sz="1500" b="1">
                <a:solidFill>
                  <a:srgbClr val="1E2761"/>
                </a:solidFill>
              </a:rPr>
              <a:t>）</a:t>
            </a:r>
            <a:r>
              <a:rPr lang="ja-JP" altLang="en-US" sz="1500" b="1">
                <a:solidFill>
                  <a:srgbClr val="1E2761"/>
                </a:solidFill>
              </a:rPr>
              <a:t>も同じ結論を実証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5BB1738-95FF-934F-B863-598E820BABEB}"/>
              </a:ext>
            </a:extLst>
          </p:cNvPr>
          <p:cNvSpPr txBox="1"/>
          <p:nvPr/>
        </p:nvSpPr>
        <p:spPr>
          <a:xfrm>
            <a:off x="774700" y="2913332"/>
            <a:ext cx="77470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50">
                <a:solidFill>
                  <a:srgbClr val="2D3748"/>
                </a:solidFill>
              </a:rPr>
              <a:t>●　ルーブリック（評価基準）の設計こそが鍵 </a:t>
            </a:r>
            <a:r>
              <a:rPr lang="en-US" altLang="ja-JP" sz="1350">
                <a:solidFill>
                  <a:srgbClr val="2D3748"/>
                </a:solidFill>
              </a:rPr>
              <a:t>― </a:t>
            </a:r>
            <a:r>
              <a:rPr lang="ja-JP" altLang="en-US" sz="1350">
                <a:solidFill>
                  <a:srgbClr val="2D3748"/>
                </a:solidFill>
              </a:rPr>
              <a:t>出力そのものを教師にするより効く
●　検証セットは必須 </a:t>
            </a:r>
            <a:r>
              <a:rPr lang="en-US" altLang="ja-JP" sz="1350">
                <a:solidFill>
                  <a:srgbClr val="2D3748"/>
                </a:solidFill>
              </a:rPr>
              <a:t>― </a:t>
            </a:r>
            <a:r>
              <a:rPr lang="ja-JP" altLang="en-US" sz="1350">
                <a:solidFill>
                  <a:srgbClr val="2D3748"/>
                </a:solidFill>
              </a:rPr>
              <a:t>学習データだけで回すと過剰適合して使い物にならない
●　サブエージェント単位の方が評価基準を作りやすく最適化しやすい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FBC320EC-DCC7-994D-B8BF-37868D05F3E0}"/>
              </a:ext>
            </a:extLst>
          </p:cNvPr>
          <p:cNvSpPr/>
          <p:nvPr/>
        </p:nvSpPr>
        <p:spPr>
          <a:xfrm>
            <a:off x="514350" y="3987800"/>
            <a:ext cx="8115300" cy="6096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i="1">
                <a:solidFill>
                  <a:srgbClr val="2D3748"/>
                </a:solidFill>
              </a:rPr>
              <a:t>ルール暴走を防ぐ仕掛けも一致 </a:t>
            </a:r>
            <a:r>
              <a:rPr lang="en-US" altLang="ja-JP" sz="1200" i="1">
                <a:solidFill>
                  <a:srgbClr val="2D3748"/>
                </a:solidFill>
              </a:rPr>
              <a:t>― </a:t>
            </a:r>
            <a:r>
              <a:rPr lang="ja-JP" altLang="en-US" sz="1200" i="1">
                <a:solidFill>
                  <a:srgbClr val="2D3748"/>
                </a:solidFill>
              </a:rPr>
              <a:t>学習率（</a:t>
            </a:r>
            <a:r>
              <a:rPr lang="en-US" altLang="ja-JP" sz="1200" i="1">
                <a:solidFill>
                  <a:srgbClr val="2D3748"/>
                </a:solidFill>
              </a:rPr>
              <a:t>1</a:t>
            </a:r>
            <a:r>
              <a:rPr lang="ja-JP" altLang="en-US" sz="1200" i="1">
                <a:solidFill>
                  <a:srgbClr val="2D3748"/>
                </a:solidFill>
              </a:rPr>
              <a:t>ステップの編集数に上限）/棄却バッファー ＝ </a:t>
            </a:r>
            <a:r>
              <a:rPr lang="en" altLang="ja-JP" sz="1200" i="1">
                <a:solidFill>
                  <a:srgbClr val="2D3748"/>
                </a:solidFill>
              </a:rPr>
              <a:t>harness_agent </a:t>
            </a:r>
            <a:r>
              <a:rPr lang="ja-JP" altLang="en-US" sz="1200" i="1">
                <a:solidFill>
                  <a:srgbClr val="2D3748"/>
                </a:solidFill>
              </a:rPr>
              <a:t>の </a:t>
            </a:r>
            <a:r>
              <a:rPr lang="en" altLang="ja-JP" sz="1200" i="1">
                <a:solidFill>
                  <a:srgbClr val="2D3748"/>
                </a:solidFill>
              </a:rPr>
              <a:t>Overfitting </a:t>
            </a:r>
            <a:r>
              <a:rPr lang="ja-JP" altLang="en-US" sz="1200" i="1">
                <a:solidFill>
                  <a:srgbClr val="2D3748"/>
                </a:solidFill>
              </a:rPr>
              <a:t>自問・</a:t>
            </a:r>
            <a:r>
              <a:rPr lang="en-US" altLang="ja-JP" sz="1200" i="1">
                <a:solidFill>
                  <a:srgbClr val="2D3748"/>
                </a:solidFill>
              </a:rPr>
              <a:t>20 </a:t>
            </a:r>
            <a:r>
              <a:rPr lang="ja-JP" altLang="en-US" sz="1200" i="1">
                <a:solidFill>
                  <a:srgbClr val="2D3748"/>
                </a:solidFill>
              </a:rPr>
              <a:t>項目上限・</a:t>
            </a:r>
            <a:r>
              <a:rPr lang="en" altLang="ja-JP" sz="1200" i="1">
                <a:solidFill>
                  <a:srgbClr val="2D3748"/>
                </a:solidFill>
              </a:rPr>
              <a:t>hit_count </a:t>
            </a:r>
            <a:r>
              <a:rPr lang="ja-JP" altLang="en-US" sz="1200" i="1">
                <a:solidFill>
                  <a:srgbClr val="2D3748"/>
                </a:solidFill>
              </a:rPr>
              <a:t>と同型。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661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E2EDD7-C24B-C94F-8DF0-E301C9E18BE8}"/>
              </a:ext>
            </a:extLst>
          </p:cNvPr>
          <p:cNvSpPr txBox="1"/>
          <p:nvPr/>
        </p:nvSpPr>
        <p:spPr>
          <a:xfrm>
            <a:off x="546100" y="357577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ループの設計</a:t>
            </a:r>
            <a:r>
              <a:rPr lang="en-US" altLang="ja-JP" sz="2800" b="1" dirty="0">
                <a:solidFill>
                  <a:srgbClr val="1E2761"/>
                </a:solidFill>
              </a:rPr>
              <a:t>③ ― </a:t>
            </a:r>
            <a:r>
              <a:rPr lang="ja-JP" altLang="en-US" sz="2800" b="1">
                <a:solidFill>
                  <a:srgbClr val="1E2761"/>
                </a:solidFill>
              </a:rPr>
              <a:t>判断は手放してはいけない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6738DF-A2ED-3C49-B68C-48879EB0C3D9}"/>
              </a:ext>
            </a:extLst>
          </p:cNvPr>
          <p:cNvSpPr txBox="1"/>
          <p:nvPr/>
        </p:nvSpPr>
        <p:spPr>
          <a:xfrm>
            <a:off x="520700" y="1411138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>
                <a:solidFill>
                  <a:srgbClr val="64748B"/>
                </a:solidFill>
              </a:rPr>
              <a:t>自動化しても人間が握り続ける </a:t>
            </a:r>
            <a:r>
              <a:rPr lang="en-US" altLang="ja-JP" sz="1500" dirty="0">
                <a:solidFill>
                  <a:srgbClr val="64748B"/>
                </a:solidFill>
              </a:rPr>
              <a:t>3 </a:t>
            </a:r>
            <a:r>
              <a:rPr lang="ja-JP" altLang="en-US" sz="1500">
                <a:solidFill>
                  <a:srgbClr val="64748B"/>
                </a:solidFill>
              </a:rPr>
              <a:t>つ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0EF6FB3A-C3AC-B043-8DD9-A29BCC1A210F}"/>
              </a:ext>
            </a:extLst>
          </p:cNvPr>
          <p:cNvSpPr/>
          <p:nvPr/>
        </p:nvSpPr>
        <p:spPr>
          <a:xfrm>
            <a:off x="521718" y="1911350"/>
            <a:ext cx="2603500" cy="1320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A042190A-17D1-5B4E-90EB-DE3AFB61463F}"/>
              </a:ext>
            </a:extLst>
          </p:cNvPr>
          <p:cNvSpPr/>
          <p:nvPr/>
        </p:nvSpPr>
        <p:spPr>
          <a:xfrm>
            <a:off x="1593849" y="1976108"/>
            <a:ext cx="459237" cy="5080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b="1" dirty="0">
                <a:solidFill>
                  <a:srgbClr val="FFFFFF"/>
                </a:solidFill>
              </a:rPr>
              <a:t>1</a:t>
            </a:r>
            <a:endParaRPr lang="ja-JP" altLang="en-US" b="1">
              <a:solidFill>
                <a:srgbClr val="FFFFFF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16C23EA-4B3B-7249-992A-3C0EF707DD63}"/>
              </a:ext>
            </a:extLst>
          </p:cNvPr>
          <p:cNvSpPr txBox="1"/>
          <p:nvPr/>
        </p:nvSpPr>
        <p:spPr>
          <a:xfrm>
            <a:off x="647700" y="2171700"/>
            <a:ext cx="24003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1E2761"/>
                </a:solidFill>
              </a:rPr>
              <a:t>検証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53112D-11B5-4B43-BC36-BB51E11D9407}"/>
              </a:ext>
            </a:extLst>
          </p:cNvPr>
          <p:cNvSpPr txBox="1"/>
          <p:nvPr/>
        </p:nvSpPr>
        <p:spPr>
          <a:xfrm>
            <a:off x="647700" y="2659392"/>
            <a:ext cx="22987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「自動で出た」≠「正しい」。出てきたものを必ず確認する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B095DF19-3866-7646-8386-C9113F4F6F3F}"/>
              </a:ext>
            </a:extLst>
          </p:cNvPr>
          <p:cNvSpPr/>
          <p:nvPr/>
        </p:nvSpPr>
        <p:spPr>
          <a:xfrm>
            <a:off x="3289809" y="1911350"/>
            <a:ext cx="2603500" cy="1320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D0335A27-FD85-144A-9F1C-15AA9C25B4F1}"/>
              </a:ext>
            </a:extLst>
          </p:cNvPr>
          <p:cNvSpPr/>
          <p:nvPr/>
        </p:nvSpPr>
        <p:spPr>
          <a:xfrm>
            <a:off x="4356100" y="1976108"/>
            <a:ext cx="508000" cy="5080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b="1">
                <a:solidFill>
                  <a:srgbClr val="FFFFFF"/>
                </a:solidFill>
              </a:rPr>
              <a:t>2</a:t>
            </a:r>
            <a:endParaRPr lang="ja-JP" altLang="en-US" b="1">
              <a:solidFill>
                <a:srgbClr val="FFFFFF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EAA147-17D4-C843-8AB6-BBABAD006DAF}"/>
              </a:ext>
            </a:extLst>
          </p:cNvPr>
          <p:cNvSpPr txBox="1"/>
          <p:nvPr/>
        </p:nvSpPr>
        <p:spPr>
          <a:xfrm>
            <a:off x="3409950" y="2171700"/>
            <a:ext cx="24003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1E2761"/>
                </a:solidFill>
              </a:rPr>
              <a:t>理解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8B6E3A-D6B2-754A-B154-1E7CE4077230}"/>
              </a:ext>
            </a:extLst>
          </p:cNvPr>
          <p:cNvSpPr txBox="1"/>
          <p:nvPr/>
        </p:nvSpPr>
        <p:spPr>
          <a:xfrm>
            <a:off x="3409950" y="2659392"/>
            <a:ext cx="22987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中身を把握し続ける（差分を毎回読む）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C0D42F25-73E7-4146-830E-404589789AC3}"/>
              </a:ext>
            </a:extLst>
          </p:cNvPr>
          <p:cNvSpPr/>
          <p:nvPr/>
        </p:nvSpPr>
        <p:spPr>
          <a:xfrm>
            <a:off x="6057900" y="1879600"/>
            <a:ext cx="2603500" cy="1320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2CC56B33-C9CF-9A45-8516-C293BBD842C2}"/>
              </a:ext>
            </a:extLst>
          </p:cNvPr>
          <p:cNvSpPr/>
          <p:nvPr/>
        </p:nvSpPr>
        <p:spPr>
          <a:xfrm>
            <a:off x="7105650" y="1943100"/>
            <a:ext cx="508000" cy="5080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b="1">
                <a:solidFill>
                  <a:srgbClr val="FFFFFF"/>
                </a:solidFill>
              </a:rPr>
              <a:t>3</a:t>
            </a:r>
            <a:endParaRPr lang="ja-JP" altLang="en-US" b="1">
              <a:solidFill>
                <a:srgbClr val="FFFFFF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94E14D8-9A75-AD4F-BB48-D4E00F9E2E9B}"/>
              </a:ext>
            </a:extLst>
          </p:cNvPr>
          <p:cNvSpPr txBox="1"/>
          <p:nvPr/>
        </p:nvSpPr>
        <p:spPr>
          <a:xfrm>
            <a:off x="6146800" y="2171700"/>
            <a:ext cx="24003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1E2761"/>
                </a:solidFill>
              </a:rPr>
              <a:t>判断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9986EB6-9CBA-2A4F-BBA6-E93FAD33CD0F}"/>
              </a:ext>
            </a:extLst>
          </p:cNvPr>
          <p:cNvSpPr txBox="1"/>
          <p:nvPr/>
        </p:nvSpPr>
        <p:spPr>
          <a:xfrm>
            <a:off x="6197600" y="2669456"/>
            <a:ext cx="22987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最後の </a:t>
            </a:r>
            <a:r>
              <a:rPr lang="en" altLang="ja-JP" sz="1250" dirty="0">
                <a:solidFill>
                  <a:srgbClr val="2D3748"/>
                </a:solidFill>
              </a:rPr>
              <a:t>OK </a:t>
            </a:r>
            <a:r>
              <a:rPr lang="ja-JP" altLang="en-US" sz="1250">
                <a:solidFill>
                  <a:srgbClr val="2D3748"/>
                </a:solidFill>
              </a:rPr>
              <a:t>は人間が出す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08D8D84-2AAE-BD41-8907-D9B1201645B0}"/>
              </a:ext>
            </a:extLst>
          </p:cNvPr>
          <p:cNvSpPr txBox="1"/>
          <p:nvPr/>
        </p:nvSpPr>
        <p:spPr>
          <a:xfrm>
            <a:off x="476250" y="3492500"/>
            <a:ext cx="8115300" cy="121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ja-JP" sz="1350" dirty="0">
                <a:solidFill>
                  <a:srgbClr val="1E2761"/>
                </a:solidFill>
              </a:rPr>
              <a:t>•  </a:t>
            </a:r>
            <a:r>
              <a:rPr lang="ja-JP" altLang="en-US" sz="1350">
                <a:solidFill>
                  <a:srgbClr val="1E2761"/>
                </a:solidFill>
              </a:rPr>
              <a:t>人間の最後の仕事は「尋問」</a:t>
            </a:r>
            <a:r>
              <a:rPr lang="en-US" altLang="ja-JP" sz="1350" dirty="0">
                <a:solidFill>
                  <a:srgbClr val="1E2761"/>
                </a:solidFill>
              </a:rPr>
              <a:t>――</a:t>
            </a:r>
            <a:r>
              <a:rPr lang="ja-JP" altLang="en-US" sz="1350">
                <a:solidFill>
                  <a:srgbClr val="1E2761"/>
                </a:solidFill>
              </a:rPr>
              <a:t>「本当に必要？」「どっちが上位概念？」。質問は実装を深く理解せずにできるから強い 。
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5865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608191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4EEE8CF-6DCF-1048-9E42-F56B6A4E3EEC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ループの設計</a:t>
            </a:r>
            <a:r>
              <a:rPr lang="en-US" altLang="ja-JP" sz="2800" b="1" dirty="0">
                <a:solidFill>
                  <a:srgbClr val="1E2761"/>
                </a:solidFill>
              </a:rPr>
              <a:t>④</a:t>
            </a:r>
            <a:r>
              <a:rPr lang="ja-JP" altLang="en-US" sz="2800" b="1">
                <a:solidFill>
                  <a:srgbClr val="1E2761"/>
                </a:solidFill>
              </a:rPr>
              <a:t>：暴走を防ぐ＝「止め方」を設計する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3C7B755-5C86-6344-9C3C-17E2D84D4582}"/>
              </a:ext>
            </a:extLst>
          </p:cNvPr>
          <p:cNvSpPr/>
          <p:nvPr/>
        </p:nvSpPr>
        <p:spPr>
          <a:xfrm>
            <a:off x="546100" y="1477506"/>
            <a:ext cx="8115300" cy="381000"/>
          </a:xfrm>
          <a:prstGeom prst="rect">
            <a:avLst/>
          </a:prstGeom>
          <a:solidFill>
            <a:srgbClr val="F9616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50" b="1">
                <a:solidFill>
                  <a:srgbClr val="FFFFFF"/>
                </a:solidFill>
              </a:rPr>
              <a:t>「止め方を決めていないループは、ただの請求書だ。」</a:t>
            </a:r>
            <a:r>
              <a:rPr lang="en-US" altLang="ja-JP" sz="1450" b="1" dirty="0">
                <a:solidFill>
                  <a:srgbClr val="FFFFFF"/>
                </a:solidFill>
              </a:rPr>
              <a:t>― </a:t>
            </a:r>
            <a:r>
              <a:rPr lang="ja-JP" altLang="en-US" sz="1450" b="1">
                <a:solidFill>
                  <a:srgbClr val="FFFFFF"/>
                </a:solidFill>
              </a:rPr>
              <a:t>寝ている間ずっとお金を燃やす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B1DF8A-E520-6341-9B30-7D9E00053A3E}"/>
              </a:ext>
            </a:extLst>
          </p:cNvPr>
          <p:cNvSpPr txBox="1"/>
          <p:nvPr/>
        </p:nvSpPr>
        <p:spPr>
          <a:xfrm>
            <a:off x="546100" y="1909306"/>
            <a:ext cx="81153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00">
                <a:solidFill>
                  <a:srgbClr val="64748B"/>
                </a:solidFill>
              </a:rPr>
              <a:t>while  </a:t>
            </a:r>
            <a:r>
              <a:rPr lang="ja-JP" altLang="en-US" sz="1300">
                <a:solidFill>
                  <a:srgbClr val="64748B"/>
                </a:solidFill>
              </a:rPr>
              <a:t>回数</a:t>
            </a:r>
            <a:r>
              <a:rPr lang="en-US" altLang="ja-JP" sz="1300">
                <a:solidFill>
                  <a:srgbClr val="64748B"/>
                </a:solidFill>
              </a:rPr>
              <a:t>&lt;</a:t>
            </a:r>
            <a:r>
              <a:rPr lang="ja-JP" altLang="en-US" sz="1300">
                <a:solidFill>
                  <a:srgbClr val="64748B"/>
                </a:solidFill>
              </a:rPr>
              <a:t>上限  </a:t>
            </a:r>
            <a:r>
              <a:rPr lang="en" altLang="ja-JP" sz="1300">
                <a:solidFill>
                  <a:srgbClr val="64748B"/>
                </a:solidFill>
              </a:rPr>
              <a:t>and  </a:t>
            </a:r>
            <a:r>
              <a:rPr lang="ja-JP" altLang="en-US" sz="1300">
                <a:solidFill>
                  <a:srgbClr val="64748B"/>
                </a:solidFill>
              </a:rPr>
              <a:t>まだ進んでいる  </a:t>
            </a:r>
            <a:r>
              <a:rPr lang="en" altLang="ja-JP" sz="1300">
                <a:solidFill>
                  <a:srgbClr val="64748B"/>
                </a:solidFill>
              </a:rPr>
              <a:t>and  </a:t>
            </a:r>
            <a:r>
              <a:rPr lang="ja-JP" altLang="en-US" sz="1300">
                <a:solidFill>
                  <a:srgbClr val="64748B"/>
                </a:solidFill>
              </a:rPr>
              <a:t>予算が残っている </a:t>
            </a:r>
            <a:r>
              <a:rPr lang="en-US" altLang="ja-JP" sz="1300">
                <a:solidFill>
                  <a:srgbClr val="64748B"/>
                </a:solidFill>
              </a:rPr>
              <a:t>:  </a:t>
            </a:r>
            <a:r>
              <a:rPr lang="ja-JP" altLang="en-US" sz="1300">
                <a:solidFill>
                  <a:srgbClr val="64748B"/>
                </a:solidFill>
              </a:rPr>
              <a:t>実行 → 観察 → 判断</a:t>
            </a: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DBB74160-CCBD-5449-8D95-B4521F6EAE47}"/>
              </a:ext>
            </a:extLst>
          </p:cNvPr>
          <p:cNvSpPr/>
          <p:nvPr/>
        </p:nvSpPr>
        <p:spPr>
          <a:xfrm>
            <a:off x="546100" y="2214106"/>
            <a:ext cx="2603500" cy="914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9AA9B04-A66E-CC4F-826C-6B49E8B654C3}"/>
              </a:ext>
            </a:extLst>
          </p:cNvPr>
          <p:cNvSpPr/>
          <p:nvPr/>
        </p:nvSpPr>
        <p:spPr>
          <a:xfrm>
            <a:off x="546100" y="2214106"/>
            <a:ext cx="2603500" cy="63500"/>
          </a:xfrm>
          <a:prstGeom prst="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D4C70B2-36DA-114E-885D-79C84930E582}"/>
              </a:ext>
            </a:extLst>
          </p:cNvPr>
          <p:cNvSpPr txBox="1"/>
          <p:nvPr/>
        </p:nvSpPr>
        <p:spPr>
          <a:xfrm>
            <a:off x="698500" y="2341106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500" b="1">
                <a:solidFill>
                  <a:srgbClr val="1E2761"/>
                </a:solidFill>
              </a:rPr>
              <a:t>① </a:t>
            </a:r>
            <a:r>
              <a:rPr lang="ja-JP" altLang="en-US" sz="1500" b="1">
                <a:solidFill>
                  <a:srgbClr val="1E2761"/>
                </a:solidFill>
              </a:rPr>
              <a:t>回数上限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5132720-748B-F449-9563-8A202ABBE76C}"/>
              </a:ext>
            </a:extLst>
          </p:cNvPr>
          <p:cNvSpPr txBox="1"/>
          <p:nvPr/>
        </p:nvSpPr>
        <p:spPr>
          <a:xfrm>
            <a:off x="698500" y="2645906"/>
            <a:ext cx="22987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最大 </a:t>
            </a:r>
            <a:r>
              <a:rPr lang="en" altLang="ja-JP" sz="1250">
                <a:solidFill>
                  <a:srgbClr val="2D3748"/>
                </a:solidFill>
              </a:rPr>
              <a:t>N </a:t>
            </a:r>
            <a:r>
              <a:rPr lang="ja-JP" altLang="en-US" sz="1250">
                <a:solidFill>
                  <a:srgbClr val="2D3748"/>
                </a:solidFill>
              </a:rPr>
              <a:t>回で止める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779C2224-72C3-0147-A0A9-D06665855C28}"/>
              </a:ext>
            </a:extLst>
          </p:cNvPr>
          <p:cNvSpPr/>
          <p:nvPr/>
        </p:nvSpPr>
        <p:spPr>
          <a:xfrm>
            <a:off x="3302000" y="2214106"/>
            <a:ext cx="2603500" cy="914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773D015-59F4-3B46-871E-7A04AAF65307}"/>
              </a:ext>
            </a:extLst>
          </p:cNvPr>
          <p:cNvSpPr/>
          <p:nvPr/>
        </p:nvSpPr>
        <p:spPr>
          <a:xfrm>
            <a:off x="3302000" y="2214106"/>
            <a:ext cx="2603500" cy="63500"/>
          </a:xfrm>
          <a:prstGeom prst="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E287184-0E2C-054E-9D34-39265C1AB27F}"/>
              </a:ext>
            </a:extLst>
          </p:cNvPr>
          <p:cNvSpPr txBox="1"/>
          <p:nvPr/>
        </p:nvSpPr>
        <p:spPr>
          <a:xfrm>
            <a:off x="3454400" y="2341106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500" b="1" dirty="0">
                <a:solidFill>
                  <a:srgbClr val="1E2761"/>
                </a:solidFill>
              </a:rPr>
              <a:t>② </a:t>
            </a:r>
            <a:r>
              <a:rPr lang="ja-JP" altLang="en-US" sz="1500" b="1">
                <a:solidFill>
                  <a:srgbClr val="1E2761"/>
                </a:solidFill>
              </a:rPr>
              <a:t>進捗チェック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4D13FCE-A811-8D46-9E2C-FFBC5130833A}"/>
              </a:ext>
            </a:extLst>
          </p:cNvPr>
          <p:cNvSpPr txBox="1"/>
          <p:nvPr/>
        </p:nvSpPr>
        <p:spPr>
          <a:xfrm>
            <a:off x="3454400" y="2645906"/>
            <a:ext cx="22987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数回変化なし＝行き詰まりなら潔く止める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5D3C15FF-440C-2143-B97F-7D1C1E2712B8}"/>
              </a:ext>
            </a:extLst>
          </p:cNvPr>
          <p:cNvSpPr/>
          <p:nvPr/>
        </p:nvSpPr>
        <p:spPr>
          <a:xfrm>
            <a:off x="6057900" y="2214106"/>
            <a:ext cx="2603500" cy="914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EE235AE-325B-154A-A1EA-BA60CE73EFA3}"/>
              </a:ext>
            </a:extLst>
          </p:cNvPr>
          <p:cNvSpPr/>
          <p:nvPr/>
        </p:nvSpPr>
        <p:spPr>
          <a:xfrm>
            <a:off x="6057900" y="2214106"/>
            <a:ext cx="2603500" cy="63500"/>
          </a:xfrm>
          <a:prstGeom prst="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AC660DF-0729-1D4D-A867-F58D6A6BDD24}"/>
              </a:ext>
            </a:extLst>
          </p:cNvPr>
          <p:cNvSpPr txBox="1"/>
          <p:nvPr/>
        </p:nvSpPr>
        <p:spPr>
          <a:xfrm>
            <a:off x="6210300" y="2341106"/>
            <a:ext cx="22987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500" b="1">
                <a:solidFill>
                  <a:srgbClr val="1E2761"/>
                </a:solidFill>
              </a:rPr>
              <a:t>③ </a:t>
            </a:r>
            <a:r>
              <a:rPr lang="ja-JP" altLang="en-US" sz="1500" b="1">
                <a:solidFill>
                  <a:srgbClr val="1E2761"/>
                </a:solidFill>
              </a:rPr>
              <a:t>予算上限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C32BBAE-115B-2141-BD9F-22CD98DDD3AE}"/>
              </a:ext>
            </a:extLst>
          </p:cNvPr>
          <p:cNvSpPr txBox="1"/>
          <p:nvPr/>
        </p:nvSpPr>
        <p:spPr>
          <a:xfrm>
            <a:off x="6210300" y="2645906"/>
            <a:ext cx="22987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トークン</a:t>
            </a:r>
            <a:r>
              <a:rPr lang="en-US" altLang="ja-JP" sz="1250">
                <a:solidFill>
                  <a:srgbClr val="2D3748"/>
                </a:solidFill>
              </a:rPr>
              <a:t>/</a:t>
            </a:r>
            <a:r>
              <a:rPr lang="ja-JP" altLang="en-US" sz="1250">
                <a:solidFill>
                  <a:srgbClr val="2D3748"/>
                </a:solidFill>
              </a:rPr>
              <a:t>金額で強制終了（</a:t>
            </a:r>
            <a:r>
              <a:rPr lang="en" altLang="ja-JP" sz="1250">
                <a:solidFill>
                  <a:srgbClr val="2D3748"/>
                </a:solidFill>
              </a:rPr>
              <a:t>Uber </a:t>
            </a:r>
            <a:r>
              <a:rPr lang="ja-JP" altLang="en-US" sz="1250">
                <a:solidFill>
                  <a:srgbClr val="2D3748"/>
                </a:solidFill>
              </a:rPr>
              <a:t>は </a:t>
            </a:r>
            <a:r>
              <a:rPr lang="en-US" altLang="ja-JP" sz="1250">
                <a:solidFill>
                  <a:srgbClr val="2D3748"/>
                </a:solidFill>
              </a:rPr>
              <a:t>1 </a:t>
            </a:r>
            <a:r>
              <a:rPr lang="ja-JP" altLang="en-US" sz="1250">
                <a:solidFill>
                  <a:srgbClr val="2D3748"/>
                </a:solidFill>
              </a:rPr>
              <a:t>人月 </a:t>
            </a:r>
            <a:r>
              <a:rPr lang="en-US" altLang="ja-JP" sz="1250">
                <a:solidFill>
                  <a:srgbClr val="2D3748"/>
                </a:solidFill>
              </a:rPr>
              <a:t>$1,500</a:t>
            </a:r>
            <a:r>
              <a:rPr lang="ja-JP" altLang="en-US" sz="1250">
                <a:solidFill>
                  <a:srgbClr val="2D3748"/>
                </a:solidFill>
              </a:rPr>
              <a:t>）</a:t>
            </a:r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7F590E02-3A95-9F48-892E-F099C5FADBF5}"/>
              </a:ext>
            </a:extLst>
          </p:cNvPr>
          <p:cNvSpPr/>
          <p:nvPr/>
        </p:nvSpPr>
        <p:spPr>
          <a:xfrm>
            <a:off x="546100" y="3302000"/>
            <a:ext cx="8115300" cy="711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D92D6F1-4F2C-C64F-9499-FADB15FDBAE5}"/>
              </a:ext>
            </a:extLst>
          </p:cNvPr>
          <p:cNvSpPr txBox="1"/>
          <p:nvPr/>
        </p:nvSpPr>
        <p:spPr>
          <a:xfrm>
            <a:off x="538192" y="32893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50" b="1">
                <a:solidFill>
                  <a:srgbClr val="64748B"/>
                </a:solidFill>
              </a:rPr>
              <a:t>harness_agent </a:t>
            </a:r>
            <a:r>
              <a:rPr lang="ja-JP" altLang="en-US" sz="1350" b="1">
                <a:solidFill>
                  <a:srgbClr val="64748B"/>
                </a:solidFill>
              </a:rPr>
              <a:t>の対応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C3C38CE-DCF8-FE40-A6D1-89E8585E5EA6}"/>
              </a:ext>
            </a:extLst>
          </p:cNvPr>
          <p:cNvSpPr txBox="1"/>
          <p:nvPr/>
        </p:nvSpPr>
        <p:spPr>
          <a:xfrm>
            <a:off x="546100" y="3515025"/>
            <a:ext cx="7772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250" dirty="0">
                <a:solidFill>
                  <a:srgbClr val="2D3748"/>
                </a:solidFill>
              </a:rPr>
              <a:t>Fact-Check </a:t>
            </a:r>
            <a:r>
              <a:rPr lang="ja-JP" altLang="en-US" sz="1250">
                <a:solidFill>
                  <a:srgbClr val="2D3748"/>
                </a:solidFill>
              </a:rPr>
              <a:t>最大</a:t>
            </a:r>
            <a:r>
              <a:rPr lang="en-US" altLang="ja-JP" sz="1250" dirty="0">
                <a:solidFill>
                  <a:srgbClr val="2D3748"/>
                </a:solidFill>
              </a:rPr>
              <a:t>2</a:t>
            </a:r>
            <a:r>
              <a:rPr lang="ja-JP" altLang="en-US" sz="1250">
                <a:solidFill>
                  <a:srgbClr val="2D3748"/>
                </a:solidFill>
              </a:rPr>
              <a:t>巡/字数ハードゲート/メールは下書き止まり/</a:t>
            </a:r>
            <a:r>
              <a:rPr lang="en" altLang="ja-JP" sz="1250" dirty="0">
                <a:solidFill>
                  <a:srgbClr val="2D3748"/>
                </a:solidFill>
              </a:rPr>
              <a:t>Generator </a:t>
            </a:r>
            <a:r>
              <a:rPr lang="ja-JP" altLang="en-US" sz="1250">
                <a:solidFill>
                  <a:srgbClr val="2D3748"/>
                </a:solidFill>
              </a:rPr>
              <a:t>は </a:t>
            </a:r>
            <a:r>
              <a:rPr lang="en" altLang="ja-JP" sz="1250" dirty="0">
                <a:solidFill>
                  <a:srgbClr val="2D3748"/>
                </a:solidFill>
              </a:rPr>
              <a:t>gold </a:t>
            </a:r>
            <a:r>
              <a:rPr lang="ja-JP" altLang="en-US" sz="1250">
                <a:solidFill>
                  <a:srgbClr val="2D3748"/>
                </a:solidFill>
              </a:rPr>
              <a:t>不可/サンドボックス＋</a:t>
            </a:r>
            <a:r>
              <a:rPr lang="en" altLang="ja-JP" sz="1250" dirty="0">
                <a:solidFill>
                  <a:srgbClr val="2D3748"/>
                </a:solidFill>
              </a:rPr>
              <a:t>Hooks</a:t>
            </a:r>
            <a:r>
              <a:rPr lang="ja-JP" altLang="en" sz="1250">
                <a:solidFill>
                  <a:srgbClr val="2D3748"/>
                </a:solidFill>
              </a:rPr>
              <a:t>＋</a:t>
            </a:r>
            <a:r>
              <a:rPr lang="ja-JP" altLang="en-US" sz="1250">
                <a:solidFill>
                  <a:srgbClr val="2D3748"/>
                </a:solidFill>
              </a:rPr>
              <a:t>最小権限/</a:t>
            </a:r>
            <a:r>
              <a:rPr lang="en" altLang="ja-JP" sz="1250" dirty="0">
                <a:solidFill>
                  <a:srgbClr val="2D3748"/>
                </a:solidFill>
              </a:rPr>
              <a:t>Cron </a:t>
            </a:r>
            <a:r>
              <a:rPr lang="ja-JP" altLang="en-US" sz="1250">
                <a:solidFill>
                  <a:srgbClr val="2D3748"/>
                </a:solidFill>
              </a:rPr>
              <a:t>失効を冪等に再登録</a:t>
            </a:r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DB92AEF1-9271-FA44-8DFA-1F7713690925}"/>
              </a:ext>
            </a:extLst>
          </p:cNvPr>
          <p:cNvSpPr/>
          <p:nvPr/>
        </p:nvSpPr>
        <p:spPr>
          <a:xfrm>
            <a:off x="606485" y="4127500"/>
            <a:ext cx="8115300" cy="584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i="1">
                <a:solidFill>
                  <a:srgbClr val="2D3748"/>
                </a:solidFill>
              </a:rPr>
              <a:t>もう一つの落とし穴＝意図の負債（</a:t>
            </a:r>
            <a:r>
              <a:rPr lang="en" altLang="ja-JP" sz="1400" i="1" dirty="0">
                <a:solidFill>
                  <a:srgbClr val="2D3748"/>
                </a:solidFill>
              </a:rPr>
              <a:t>Intention Debt</a:t>
            </a:r>
            <a:r>
              <a:rPr lang="ja-JP" altLang="en" sz="1400" i="1">
                <a:solidFill>
                  <a:srgbClr val="2D3748"/>
                </a:solidFill>
              </a:rPr>
              <a:t>）：</a:t>
            </a:r>
            <a:r>
              <a:rPr lang="ja-JP" altLang="en-US" sz="1400" i="1">
                <a:solidFill>
                  <a:srgbClr val="2D3748"/>
                </a:solidFill>
              </a:rPr>
              <a:t>差分を読まずにマージし続けると、誰も中身を知らないコードが積み上がる。「差分を毎回読む」ことだけは手放さない。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378329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20013D-FA1C-F440-A8C5-23237CDD4C77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ja-JP" altLang="en-US" sz="2400" b="1">
                <a:solidFill>
                  <a:srgbClr val="1E2761"/>
                </a:solidFill>
                <a:latin typeface="Meiryo"/>
              </a:rPr>
              <a:t>二重ループの移し替え </a:t>
            </a:r>
            <a:r>
              <a:rPr lang="en-US" altLang="ja-JP" sz="2400" b="1" dirty="0">
                <a:solidFill>
                  <a:srgbClr val="1E2761"/>
                </a:solidFill>
                <a:latin typeface="Meiryo"/>
              </a:rPr>
              <a:t>― </a:t>
            </a:r>
            <a:r>
              <a:rPr lang="ja-JP" altLang="en-US" sz="2400" b="1">
                <a:solidFill>
                  <a:srgbClr val="1E2761"/>
                </a:solidFill>
                <a:latin typeface="Meiryo"/>
              </a:rPr>
              <a:t>レポート生成ループ → 開発工程ループ</a:t>
            </a:r>
          </a:p>
          <a:p>
            <a:pPr algn="l"/>
            <a:endParaRPr lang="ja-JP" altLang="en-US" sz="2400" b="1">
              <a:solidFill>
                <a:srgbClr val="1E2761"/>
              </a:solidFill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2C05674F-3A6B-1F9E-2366-1FF8C44E25AE}"/>
              </a:ext>
            </a:extLst>
          </p:cNvPr>
          <p:cNvSpPr txBox="1"/>
          <p:nvPr/>
        </p:nvSpPr>
        <p:spPr>
          <a:xfrm>
            <a:off x="502921" y="1188720"/>
            <a:ext cx="8069580" cy="40626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00" b="0" dirty="0" err="1">
                <a:solidFill>
                  <a:srgbClr val="2D3748"/>
                </a:solidFill>
                <a:latin typeface="Meiryo"/>
              </a:rPr>
              <a:t>どちらのループも</a:t>
            </a:r>
            <a:r>
              <a:rPr sz="1200" b="0" dirty="0">
                <a:solidFill>
                  <a:srgbClr val="2D3748"/>
                </a:solidFill>
                <a:latin typeface="Meiryo"/>
              </a:rPr>
              <a:t> </a:t>
            </a:r>
            <a:r>
              <a:rPr sz="1200" b="1" dirty="0" err="1">
                <a:solidFill>
                  <a:srgbClr val="2D3748"/>
                </a:solidFill>
                <a:latin typeface="Meiryo"/>
              </a:rPr>
              <a:t>実装ループ（速く作る</a:t>
            </a:r>
            <a:r>
              <a:rPr sz="1200" b="1" dirty="0">
                <a:solidFill>
                  <a:srgbClr val="2D3748"/>
                </a:solidFill>
                <a:latin typeface="Meiryo"/>
              </a:rPr>
              <a:t>）＋</a:t>
            </a:r>
            <a:r>
              <a:rPr sz="1200" b="1" dirty="0" err="1">
                <a:solidFill>
                  <a:srgbClr val="2D3748"/>
                </a:solidFill>
                <a:latin typeface="Meiryo"/>
              </a:rPr>
              <a:t>学習ループ（介在を減らす</a:t>
            </a:r>
            <a:r>
              <a:rPr sz="1200" b="1" dirty="0">
                <a:solidFill>
                  <a:srgbClr val="2D3748"/>
                </a:solidFill>
                <a:latin typeface="Meiryo"/>
              </a:rPr>
              <a:t>）</a:t>
            </a:r>
            <a:r>
              <a:rPr sz="1200" b="0" dirty="0">
                <a:solidFill>
                  <a:srgbClr val="2D3748"/>
                </a:solidFill>
                <a:latin typeface="Meiryo"/>
              </a:rPr>
              <a:t> </a:t>
            </a:r>
            <a:r>
              <a:rPr sz="1200" b="0" dirty="0" err="1">
                <a:solidFill>
                  <a:srgbClr val="2D3748"/>
                </a:solidFill>
                <a:latin typeface="Meiryo"/>
              </a:rPr>
              <a:t>の二重構造。harness</a:t>
            </a:r>
            <a:r>
              <a:rPr sz="1200" b="0" dirty="0">
                <a:solidFill>
                  <a:srgbClr val="2D3748"/>
                </a:solidFill>
                <a:latin typeface="Meiryo"/>
              </a:rPr>
              <a:t> </a:t>
            </a:r>
            <a:r>
              <a:rPr sz="1200" b="0" dirty="0" err="1">
                <a:solidFill>
                  <a:srgbClr val="2D3748"/>
                </a:solidFill>
                <a:latin typeface="Meiryo"/>
              </a:rPr>
              <a:t>で確立した型を</a:t>
            </a:r>
            <a:r>
              <a:rPr sz="1200" b="0" dirty="0">
                <a:solidFill>
                  <a:srgbClr val="2D3748"/>
                </a:solidFill>
                <a:latin typeface="Meiryo"/>
              </a:rPr>
              <a:t>、</a:t>
            </a:r>
            <a:endParaRPr lang="en-US" sz="1200" b="0" dirty="0">
              <a:solidFill>
                <a:srgbClr val="2D3748"/>
              </a:solidFill>
              <a:latin typeface="Meiryo"/>
            </a:endParaRPr>
          </a:p>
          <a:p>
            <a:r>
              <a:rPr sz="1200" b="1" dirty="0" err="1">
                <a:solidFill>
                  <a:srgbClr val="2D3748"/>
                </a:solidFill>
                <a:latin typeface="Meiryo"/>
              </a:rPr>
              <a:t>列ごと開発工程に移し替える</a:t>
            </a:r>
            <a:r>
              <a:rPr sz="1200" b="0" dirty="0" err="1">
                <a:solidFill>
                  <a:srgbClr val="2D3748"/>
                </a:solidFill>
                <a:latin typeface="Meiryo"/>
              </a:rPr>
              <a:t>（対比＝レポート生成</a:t>
            </a:r>
            <a:r>
              <a:rPr sz="1200" b="0" dirty="0">
                <a:solidFill>
                  <a:srgbClr val="2D3748"/>
                </a:solidFill>
                <a:latin typeface="Meiryo"/>
              </a:rPr>
              <a:t> vs </a:t>
            </a:r>
            <a:r>
              <a:rPr sz="1200" b="0" dirty="0" err="1">
                <a:solidFill>
                  <a:srgbClr val="2D3748"/>
                </a:solidFill>
                <a:latin typeface="Meiryo"/>
              </a:rPr>
              <a:t>開発、harness</a:t>
            </a:r>
            <a:r>
              <a:rPr sz="1200" b="0" dirty="0">
                <a:solidFill>
                  <a:srgbClr val="2D3748"/>
                </a:solidFill>
                <a:latin typeface="Meiryo"/>
              </a:rPr>
              <a:t> </a:t>
            </a:r>
            <a:r>
              <a:rPr sz="1200" b="0" dirty="0" err="1">
                <a:solidFill>
                  <a:srgbClr val="2D3748"/>
                </a:solidFill>
                <a:latin typeface="Meiryo"/>
              </a:rPr>
              <a:t>内部の</a:t>
            </a:r>
            <a:r>
              <a:rPr sz="1200" b="0" dirty="0">
                <a:solidFill>
                  <a:srgbClr val="2D3748"/>
                </a:solidFill>
                <a:latin typeface="Meiryo"/>
              </a:rPr>
              <a:t> Task </a:t>
            </a:r>
            <a:r>
              <a:rPr sz="1200" b="0" dirty="0" err="1">
                <a:solidFill>
                  <a:srgbClr val="2D3748"/>
                </a:solidFill>
                <a:latin typeface="Meiryo"/>
              </a:rPr>
              <a:t>層</a:t>
            </a:r>
            <a:r>
              <a:rPr sz="1200" b="0" dirty="0">
                <a:solidFill>
                  <a:srgbClr val="2D3748"/>
                </a:solidFill>
                <a:latin typeface="Meiryo"/>
              </a:rPr>
              <a:t>/</a:t>
            </a:r>
            <a:r>
              <a:rPr sz="1200" b="0" dirty="0" err="1">
                <a:solidFill>
                  <a:srgbClr val="2D3748"/>
                </a:solidFill>
                <a:latin typeface="Meiryo"/>
              </a:rPr>
              <a:t>改善層の対比ではない</a:t>
            </a:r>
            <a:r>
              <a:rPr sz="1200" b="0" dirty="0">
                <a:solidFill>
                  <a:srgbClr val="2D3748"/>
                </a:solidFill>
                <a:latin typeface="Meiryo"/>
              </a:rPr>
              <a:t>）。</a:t>
            </a: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79AD94EE-C9AD-6A95-3A3E-48E07D5E5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720108"/>
              </p:ext>
            </p:extLst>
          </p:nvPr>
        </p:nvGraphicFramePr>
        <p:xfrm>
          <a:off x="268275" y="1772598"/>
          <a:ext cx="8304224" cy="2048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4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3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359">
                <a:tc>
                  <a:txBody>
                    <a:bodyPr/>
                    <a:lstStyle/>
                    <a:p>
                      <a:r>
                        <a:rPr sz="1150" b="1" dirty="0" err="1">
                          <a:solidFill>
                            <a:srgbClr val="FFFFFF"/>
                          </a:solidFill>
                          <a:latin typeface="Meiryo"/>
                        </a:rPr>
                        <a:t>観点</a:t>
                      </a:r>
                      <a:endParaRPr sz="1150" b="1" dirty="0">
                        <a:solidFill>
                          <a:srgbClr val="FFFFFF"/>
                        </a:solidFill>
                        <a:latin typeface="Meiryo"/>
                      </a:endParaRP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dirty="0" err="1">
                          <a:solidFill>
                            <a:srgbClr val="FFFFFF"/>
                          </a:solidFill>
                          <a:latin typeface="Meiryo"/>
                        </a:rPr>
                        <a:t>レポート生成ループ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Meiryo"/>
                        </a:rPr>
                        <a:t>（</a:t>
                      </a:r>
                      <a:r>
                        <a:rPr lang="ja-JP" altLang="en-US" sz="1150" b="1">
                          <a:solidFill>
                            <a:srgbClr val="FFFFFF"/>
                          </a:solidFill>
                          <a:latin typeface="Meiryo"/>
                        </a:rPr>
                        <a:t>自立エージェント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Meiryo"/>
                        </a:rPr>
                        <a:t>）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dirty="0" err="1">
                          <a:solidFill>
                            <a:srgbClr val="FFFFFF"/>
                          </a:solidFill>
                          <a:latin typeface="Meiryo"/>
                        </a:rPr>
                        <a:t>開発工程ループ（移し替え先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Meiryo"/>
                        </a:rPr>
                        <a:t>）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35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D3748"/>
                          </a:solidFill>
                          <a:latin typeface="Meiryo"/>
                        </a:rPr>
                        <a:t>実装ループ＝何を回す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D3748"/>
                          </a:solidFill>
                          <a:latin typeface="Meiryo"/>
                        </a:rPr>
                        <a:t>朝: 収集→ドラフト→Fact-Check→下書き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D3748"/>
                          </a:solidFill>
                          <a:latin typeface="Meiryo"/>
                        </a:rPr>
                        <a:t>生成→検証(build/型/test/e2e)→PR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35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D3748"/>
                          </a:solidFill>
                          <a:latin typeface="Meiryo"/>
                        </a:rPr>
                        <a:t>学習ループ＝何を回す</a:t>
                      </a:r>
                    </a:p>
                  </a:txBody>
                  <a:tcPr marL="45720" marR="45720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 err="1">
                          <a:solidFill>
                            <a:srgbClr val="2D3748"/>
                          </a:solidFill>
                          <a:latin typeface="Meiryo"/>
                        </a:rPr>
                        <a:t>昼</a:t>
                      </a:r>
                      <a:r>
                        <a:rPr sz="1150" b="0" dirty="0">
                          <a:solidFill>
                            <a:srgbClr val="2D3748"/>
                          </a:solidFill>
                          <a:latin typeface="Meiryo"/>
                        </a:rPr>
                        <a:t>: gold </a:t>
                      </a:r>
                      <a:r>
                        <a:rPr sz="1150" b="0" dirty="0" err="1">
                          <a:solidFill>
                            <a:srgbClr val="2D3748"/>
                          </a:solidFill>
                          <a:latin typeface="Meiryo"/>
                        </a:rPr>
                        <a:t>比較→feedback</a:t>
                      </a:r>
                      <a:r>
                        <a:rPr sz="1150" b="0" dirty="0">
                          <a:solidFill>
                            <a:srgbClr val="2D3748"/>
                          </a:solidFill>
                          <a:latin typeface="Meiryo"/>
                        </a:rPr>
                        <a:t>→</a:t>
                      </a:r>
                      <a:r>
                        <a:rPr lang="ja-JP" altLang="en-US" sz="1150" b="0">
                          <a:solidFill>
                            <a:srgbClr val="2D3748"/>
                          </a:solidFill>
                          <a:latin typeface="Meiryo"/>
                        </a:rPr>
                        <a:t>書き方ルール</a:t>
                      </a:r>
                      <a:r>
                        <a:rPr sz="1150" b="0" dirty="0">
                          <a:solidFill>
                            <a:srgbClr val="2D3748"/>
                          </a:solidFill>
                          <a:latin typeface="Meiryo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D3748"/>
                          </a:solidFill>
                          <a:latin typeface="Meiryo"/>
                        </a:rPr>
                        <a:t>育成</a:t>
                      </a:r>
                      <a:endParaRPr sz="1150" b="0" dirty="0">
                        <a:solidFill>
                          <a:srgbClr val="2D3748"/>
                        </a:solidFill>
                        <a:latin typeface="Meiryo"/>
                      </a:endParaRPr>
                    </a:p>
                  </a:txBody>
                  <a:tcPr marL="45720" marR="45720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 err="1">
                          <a:solidFill>
                            <a:srgbClr val="2D3748"/>
                          </a:solidFill>
                          <a:latin typeface="Meiryo"/>
                        </a:rPr>
                        <a:t>レビュー指摘→規約・教訓を蓄積</a:t>
                      </a:r>
                      <a:endParaRPr sz="1150" b="0" dirty="0">
                        <a:solidFill>
                          <a:srgbClr val="2D3748"/>
                        </a:solidFill>
                        <a:latin typeface="Meiryo"/>
                      </a:endParaRPr>
                    </a:p>
                  </a:txBody>
                  <a:tcPr marL="45720" marR="45720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35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D3748"/>
                          </a:solidFill>
                          <a:latin typeface="Meiryo"/>
                        </a:rPr>
                        <a:t>トリガー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D3748"/>
                          </a:solidFill>
                          <a:latin typeface="Meiryo"/>
                        </a:rPr>
                        <a:t>Cron 定時 / 筆者 FB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2D3748"/>
                          </a:solidFill>
                          <a:latin typeface="Meiryo"/>
                        </a:rPr>
                        <a:t>CI </a:t>
                      </a:r>
                      <a:r>
                        <a:rPr sz="1150" b="0" dirty="0" err="1">
                          <a:solidFill>
                            <a:srgbClr val="2D3748"/>
                          </a:solidFill>
                          <a:latin typeface="Meiryo"/>
                        </a:rPr>
                        <a:t>失敗・PR</a:t>
                      </a:r>
                      <a:r>
                        <a:rPr sz="1150" b="0" dirty="0">
                          <a:solidFill>
                            <a:srgbClr val="2D3748"/>
                          </a:solidFill>
                          <a:latin typeface="Meiryo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2D3748"/>
                          </a:solidFill>
                          <a:latin typeface="Meiryo"/>
                        </a:rPr>
                        <a:t>イベント</a:t>
                      </a:r>
                      <a:r>
                        <a:rPr sz="1150" b="0" dirty="0">
                          <a:solidFill>
                            <a:srgbClr val="2D3748"/>
                          </a:solidFill>
                          <a:latin typeface="Meiryo"/>
                        </a:rPr>
                        <a:t> / </a:t>
                      </a:r>
                      <a:r>
                        <a:rPr sz="1150" b="0" dirty="0" err="1">
                          <a:solidFill>
                            <a:srgbClr val="2D3748"/>
                          </a:solidFill>
                          <a:latin typeface="Meiryo"/>
                        </a:rPr>
                        <a:t>レビュー指摘</a:t>
                      </a:r>
                      <a:endParaRPr sz="1150" b="0" dirty="0">
                        <a:solidFill>
                          <a:srgbClr val="2D3748"/>
                        </a:solidFill>
                        <a:latin typeface="Meiryo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35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D3748"/>
                          </a:solidFill>
                          <a:latin typeface="Meiryo"/>
                        </a:rPr>
                        <a:t>評価の正解</a:t>
                      </a:r>
                    </a:p>
                  </a:txBody>
                  <a:tcPr marL="45720" marR="45720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D3748"/>
                          </a:solidFill>
                          <a:latin typeface="Meiryo"/>
                        </a:rPr>
                        <a:t>筆者の実レポート（gold）</a:t>
                      </a:r>
                    </a:p>
                  </a:txBody>
                  <a:tcPr marL="45720" marR="45720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D3748"/>
                          </a:solidFill>
                          <a:latin typeface="Meiryo"/>
                        </a:rPr>
                        <a:t>テスト・ビルド・e2e の合否</a:t>
                      </a:r>
                    </a:p>
                  </a:txBody>
                  <a:tcPr marL="45720" marR="45720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359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D3748"/>
                          </a:solidFill>
                          <a:latin typeface="Meiryo"/>
                        </a:rPr>
                        <a:t>狙い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D3748"/>
                          </a:solidFill>
                          <a:latin typeface="Meiryo"/>
                        </a:rPr>
                        <a:t>速く書く＋筆者へ寄せる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 err="1">
                          <a:solidFill>
                            <a:srgbClr val="2D3748"/>
                          </a:solidFill>
                          <a:latin typeface="Meiryo"/>
                        </a:rPr>
                        <a:t>速く作る＋人の介在を減らす</a:t>
                      </a:r>
                      <a:endParaRPr sz="1150" b="0" dirty="0">
                        <a:solidFill>
                          <a:srgbClr val="2D3748"/>
                        </a:solidFill>
                        <a:latin typeface="Meiryo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5">
            <a:extLst>
              <a:ext uri="{FF2B5EF4-FFF2-40B4-BE49-F238E27FC236}">
                <a16:creationId xmlns:a16="http://schemas.microsoft.com/office/drawing/2014/main" id="{0720E997-34DD-C53C-286C-05B28866246C}"/>
              </a:ext>
            </a:extLst>
          </p:cNvPr>
          <p:cNvSpPr/>
          <p:nvPr/>
        </p:nvSpPr>
        <p:spPr>
          <a:xfrm>
            <a:off x="268275" y="4053840"/>
            <a:ext cx="8304225" cy="644652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/>
            <a:r>
              <a:rPr sz="1200" b="0" i="1" dirty="0" err="1">
                <a:solidFill>
                  <a:srgbClr val="64748B"/>
                </a:solidFill>
                <a:latin typeface="Meiryo"/>
              </a:rPr>
              <a:t>列を</a:t>
            </a:r>
            <a:r>
              <a:rPr sz="1200" b="0" i="1" dirty="0">
                <a:solidFill>
                  <a:srgbClr val="64748B"/>
                </a:solidFill>
                <a:latin typeface="Meiryo"/>
              </a:rPr>
              <a:t> </a:t>
            </a:r>
            <a:r>
              <a:rPr sz="1200" b="1" i="1" dirty="0" err="1">
                <a:solidFill>
                  <a:srgbClr val="64748B"/>
                </a:solidFill>
                <a:latin typeface="Meiryo"/>
              </a:rPr>
              <a:t>レポート生成</a:t>
            </a:r>
            <a:r>
              <a:rPr sz="1200" b="1" i="1" dirty="0">
                <a:solidFill>
                  <a:srgbClr val="64748B"/>
                </a:solidFill>
                <a:latin typeface="Meiryo"/>
              </a:rPr>
              <a:t> → </a:t>
            </a:r>
            <a:r>
              <a:rPr sz="1200" b="1" i="1" dirty="0" err="1">
                <a:solidFill>
                  <a:srgbClr val="64748B"/>
                </a:solidFill>
                <a:latin typeface="Meiryo"/>
              </a:rPr>
              <a:t>開発工程</a:t>
            </a:r>
            <a:r>
              <a:rPr sz="1200" b="0" i="1" dirty="0">
                <a:solidFill>
                  <a:srgbClr val="64748B"/>
                </a:solidFill>
                <a:latin typeface="Meiryo"/>
              </a:rPr>
              <a:t> </a:t>
            </a:r>
            <a:r>
              <a:rPr sz="1200" b="0" i="1" dirty="0" err="1">
                <a:solidFill>
                  <a:srgbClr val="64748B"/>
                </a:solidFill>
                <a:latin typeface="Meiryo"/>
              </a:rPr>
              <a:t>に読み替えるだけ。正解＝テスト、接点＝PR</a:t>
            </a:r>
            <a:r>
              <a:rPr sz="1200" b="0" i="1" dirty="0">
                <a:solidFill>
                  <a:srgbClr val="64748B"/>
                </a:solidFill>
                <a:latin typeface="Meiryo"/>
              </a:rPr>
              <a:t> </a:t>
            </a:r>
            <a:r>
              <a:rPr sz="1200" b="0" i="1" dirty="0" err="1">
                <a:solidFill>
                  <a:srgbClr val="64748B"/>
                </a:solidFill>
                <a:latin typeface="Meiryo"/>
              </a:rPr>
              <a:t>に差し替えれば同じ二重ループが回る</a:t>
            </a:r>
            <a:r>
              <a:rPr sz="1200" b="0" i="1" dirty="0">
                <a:solidFill>
                  <a:srgbClr val="64748B"/>
                </a:solidFill>
                <a:latin typeface="Meiryo"/>
              </a:rPr>
              <a:t>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C25019-B03E-0E4E-9FF3-966803545FD1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400" b="1">
                <a:solidFill>
                  <a:srgbClr val="1E2761"/>
                </a:solidFill>
              </a:rPr>
              <a:t>PGE ＋ フィードバックループ ― 並列生成と客観評価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1508B7-9D10-EC44-91DA-86AAC505CFD1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ja-JP" altLang="en-US" sz="1400" b="1">
                <a:solidFill>
                  <a:srgbClr val="1E2761"/>
                </a:solidFill>
                <a:cs typeface="Meiryo"/>
              </a:rPr>
              <a:t>Planner-Generator-Evaluator を分け、基準を満たすまで2-3周（生成≠評価の"開発版・並列版"）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DF15E8B-1E02-944A-9403-C913A7B90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200769"/>
              </p:ext>
            </p:extLst>
          </p:nvPr>
        </p:nvGraphicFramePr>
        <p:xfrm>
          <a:off x="546100" y="1117600"/>
          <a:ext cx="81153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4386689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29242787"/>
                    </a:ext>
                  </a:extLst>
                </a:gridCol>
                <a:gridCol w="3289300">
                  <a:extLst>
                    <a:ext uri="{9D8B030D-6E8A-4147-A177-3AD203B41FA5}">
                      <a16:colId xmlns:a16="http://schemas.microsoft.com/office/drawing/2014/main" val="3379275139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FFFFFF"/>
                          </a:solidFill>
                        </a:rPr>
                        <a:t>段階</a:t>
                      </a:r>
                    </a:p>
                  </a:txBody>
                  <a:tcPr marL="54864" marR="36576" marT="18288" marB="18288"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FFFFFF"/>
                          </a:solidFill>
                        </a:rPr>
                        <a:t>役割（別コンテキスト）</a:t>
                      </a:r>
                    </a:p>
                  </a:txBody>
                  <a:tcPr marL="54864" marR="36576" marT="18288" marB="18288"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FFFFFF"/>
                          </a:solidFill>
                        </a:rPr>
                        <a:t>開発での実装</a:t>
                      </a:r>
                    </a:p>
                  </a:txBody>
                  <a:tcPr marL="54864" marR="36576" marT="18288" marB="18288" anchor="ctr"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34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Planner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ゴールを分解し計画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受け入れ条件・タスク分割（Issue 化）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79638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Generator ×N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並列で独立に生成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worktree で分担しコンフリクト回避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29495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Evaluator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別セッションでレビュー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テスト / 静的解析 / レビュー観点で採点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26792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フィードバックループ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基準まで2-3周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品質 50-60% → 70-80% に底上げ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22613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司令スキル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管理のみ（ファサード）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user_invocable:false で内部を隠す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26465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1">
                          <a:solidFill>
                            <a:srgbClr val="1E2761"/>
                          </a:solidFill>
                        </a:rPr>
                        <a:t>モデル使い分け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Opus設計 / Sonnet実装 / Haiku検査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50" b="0">
                          <a:solidFill>
                            <a:srgbClr val="1E2761"/>
                          </a:solidFill>
                        </a:rPr>
                        <a:t>基準を言語化するほど安いモデルへ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66536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46888"/>
            <a:ext cx="64008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Meiryo"/>
              </a:rPr>
              <a:t>実装と検証を分け、ISSUE テキストで往復する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eiryo"/>
              </a:rPr>
              <a:t>役割を物理的に分離し、やりとりは必ず「文章（ISSUE）」に残すのが要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2697480" cy="251460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269748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27048"/>
            <a:ext cx="23682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Meiryo"/>
              </a:rPr>
              <a:t>実装役 ( Generator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236829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コードを書くことに専念。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受け入れ条件・gold は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ISSUE から読む。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検証結果や採点は見ない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＝採点者に最適化しない。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4136" y="1325880"/>
            <a:ext cx="2697480" cy="251460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4136" y="1325880"/>
            <a:ext cx="2697480" cy="73152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27048"/>
            <a:ext cx="23682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96167"/>
                </a:solidFill>
                <a:latin typeface="Meiryo"/>
              </a:rPr>
              <a:t>ISSUE テキスト ＝ 唯一の接点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103120"/>
            <a:ext cx="236829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受け入れ条件・再現手順・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期待結果＝gold_standard を記述。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検証結果・指摘も ISSUE に追記。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口頭で渡さない＝記録が残る。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25880"/>
            <a:ext cx="2697480" cy="251460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325880"/>
            <a:ext cx="2697480" cy="731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527048"/>
            <a:ext cx="23682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Meiryo"/>
              </a:rPr>
              <a:t>検証役 ( Evaluator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03120"/>
            <a:ext cx="2368296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別セッション / 別エージェントで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テスト・静的解析・レビュー。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合否と理由を ISSUE に書き戻す。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実装そのものは直さない</a:t>
            </a:r>
          </a:p>
          <a:p>
            <a:pPr algn="l"/>
            <a:r>
              <a:rPr sz="1150" b="0">
                <a:solidFill>
                  <a:srgbClr val="2D3748"/>
                </a:solidFill>
                <a:latin typeface="Meiryo"/>
              </a:rPr>
              <a:t>＝責務分離。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3317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6167"/>
                </a:solidFill>
                <a:latin typeface="Meiryo"/>
              </a:rPr>
              <a:t>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4" y="23317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6167"/>
                </a:solidFill>
                <a:latin typeface="Meiryo"/>
              </a:rPr>
              <a:t>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05072"/>
            <a:ext cx="8275320" cy="566928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78224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Meiryo"/>
              </a:rPr>
              <a:t>テキスト（ISSUE）を介すから、非同期・記録・責務分離が成立する ―― 「差分を毎回読む」起点にもなり、意図の負債を防ぐ。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E2EDD7-C24B-C94F-8DF0-E301C9E18BE8}"/>
              </a:ext>
            </a:extLst>
          </p:cNvPr>
          <p:cNvSpPr txBox="1"/>
          <p:nvPr/>
        </p:nvSpPr>
        <p:spPr>
          <a:xfrm>
            <a:off x="546100" y="357577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検証ゲートと /goal ― 「動作」を合格条件にする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6738DF-A2ED-3C49-B68C-48879EB0C3D9}"/>
              </a:ext>
            </a:extLst>
          </p:cNvPr>
          <p:cNvSpPr txBox="1"/>
          <p:nvPr/>
        </p:nvSpPr>
        <p:spPr>
          <a:xfrm>
            <a:off x="539647" y="9906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>
                <a:solidFill>
                  <a:srgbClr val="64748B"/>
                </a:solidFill>
              </a:rPr>
              <a:t>丸投げとループの分水嶺は"検証"。動かして、合格まで走らせる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0EF6FB3A-C3AC-B043-8DD9-A29BCC1A210F}"/>
              </a:ext>
            </a:extLst>
          </p:cNvPr>
          <p:cNvSpPr/>
          <p:nvPr/>
        </p:nvSpPr>
        <p:spPr>
          <a:xfrm>
            <a:off x="547968" y="1500772"/>
            <a:ext cx="3617354" cy="1134852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A042190A-17D1-5B4E-90EB-DE3AFB61463F}"/>
              </a:ext>
            </a:extLst>
          </p:cNvPr>
          <p:cNvSpPr/>
          <p:nvPr/>
        </p:nvSpPr>
        <p:spPr>
          <a:xfrm>
            <a:off x="647700" y="1534601"/>
            <a:ext cx="459237" cy="5080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b="1" dirty="0">
                <a:solidFill>
                  <a:srgbClr val="FFFFFF"/>
                </a:solidFill>
              </a:rPr>
              <a:t>1</a:t>
            </a:r>
            <a:endParaRPr lang="ja-JP" altLang="en-US" b="1">
              <a:solidFill>
                <a:srgbClr val="FFFFFF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16C23EA-4B3B-7249-992A-3C0EF707DD63}"/>
              </a:ext>
            </a:extLst>
          </p:cNvPr>
          <p:cNvSpPr txBox="1"/>
          <p:nvPr/>
        </p:nvSpPr>
        <p:spPr>
          <a:xfrm>
            <a:off x="1206669" y="1640473"/>
            <a:ext cx="24003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1E2761"/>
                </a:solidFill>
              </a:rPr>
              <a:t>動作確認をゲート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53112D-11B5-4B43-BC36-BB51E11D9407}"/>
              </a:ext>
            </a:extLst>
          </p:cNvPr>
          <p:cNvSpPr txBox="1"/>
          <p:nvPr/>
        </p:nvSpPr>
        <p:spPr>
          <a:xfrm>
            <a:off x="647700" y="2090614"/>
            <a:ext cx="3460376" cy="54501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build→型→lint→test→e2e で"実際に動かして"確認。生成の見た目で通さない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B095DF19-3866-7646-8386-C9113F4F6F3F}"/>
              </a:ext>
            </a:extLst>
          </p:cNvPr>
          <p:cNvSpPr/>
          <p:nvPr/>
        </p:nvSpPr>
        <p:spPr>
          <a:xfrm>
            <a:off x="4312430" y="1500772"/>
            <a:ext cx="3617354" cy="1134852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D0335A27-FD85-144A-9F1C-15AA9C25B4F1}"/>
              </a:ext>
            </a:extLst>
          </p:cNvPr>
          <p:cNvSpPr/>
          <p:nvPr/>
        </p:nvSpPr>
        <p:spPr>
          <a:xfrm>
            <a:off x="4382980" y="1560198"/>
            <a:ext cx="508000" cy="5080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b="1">
                <a:solidFill>
                  <a:srgbClr val="FFFFFF"/>
                </a:solidFill>
              </a:rPr>
              <a:t>2</a:t>
            </a:r>
            <a:endParaRPr lang="ja-JP" altLang="en-US" b="1">
              <a:solidFill>
                <a:srgbClr val="FFFFFF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EAA147-17D4-C843-8AB6-BBABAD006DAF}"/>
              </a:ext>
            </a:extLst>
          </p:cNvPr>
          <p:cNvSpPr txBox="1"/>
          <p:nvPr/>
        </p:nvSpPr>
        <p:spPr>
          <a:xfrm>
            <a:off x="5038088" y="1627890"/>
            <a:ext cx="24003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1E2761"/>
                </a:solidFill>
              </a:rPr>
              <a:t>/goal で自走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8B6E3A-D6B2-754A-B154-1E7CE4077230}"/>
              </a:ext>
            </a:extLst>
          </p:cNvPr>
          <p:cNvSpPr txBox="1"/>
          <p:nvPr/>
        </p:nvSpPr>
        <p:spPr>
          <a:xfrm>
            <a:off x="4382980" y="2085857"/>
            <a:ext cx="3224026" cy="74392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「テスト100個全部」「速度50%改善」など合格まで AI が回り続ける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BD534C5B-D206-EE86-F720-CF22D47AD7A1}"/>
              </a:ext>
            </a:extLst>
          </p:cNvPr>
          <p:cNvSpPr txBox="1"/>
          <p:nvPr/>
        </p:nvSpPr>
        <p:spPr>
          <a:xfrm>
            <a:off x="402067" y="2845006"/>
            <a:ext cx="11185855" cy="38290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700" b="1" dirty="0" err="1">
                <a:solidFill>
                  <a:srgbClr val="1E2761"/>
                </a:solidFill>
                <a:latin typeface="Meiryo"/>
              </a:rPr>
              <a:t>実務チェック（要点</a:t>
            </a:r>
            <a:r>
              <a:rPr sz="1700" b="1" dirty="0">
                <a:solidFill>
                  <a:srgbClr val="1E2761"/>
                </a:solidFill>
                <a:latin typeface="Meiryo"/>
              </a:rPr>
              <a:t>）</a:t>
            </a: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ED179A8-A48C-B05C-DD38-4AEBB0659CC0}"/>
              </a:ext>
            </a:extLst>
          </p:cNvPr>
          <p:cNvSpPr txBox="1"/>
          <p:nvPr/>
        </p:nvSpPr>
        <p:spPr>
          <a:xfrm>
            <a:off x="402066" y="3192045"/>
            <a:ext cx="11185855" cy="151790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00" dirty="0">
                <a:solidFill>
                  <a:srgbClr val="1E2761"/>
                </a:solidFill>
                <a:latin typeface="Meiryo"/>
              </a:rPr>
              <a:t>1. </a:t>
            </a:r>
            <a:r>
              <a:rPr sz="1600" b="1" dirty="0" err="1">
                <a:solidFill>
                  <a:srgbClr val="2D3748"/>
                </a:solidFill>
                <a:latin typeface="Meiryo"/>
              </a:rPr>
              <a:t>評価基準を先に作る</a:t>
            </a:r>
            <a:r>
              <a:rPr sz="1600" b="0" dirty="0">
                <a:solidFill>
                  <a:srgbClr val="2D3748"/>
                </a:solidFill>
                <a:latin typeface="Meiryo"/>
              </a:rPr>
              <a:t> ― </a:t>
            </a:r>
            <a:r>
              <a:rPr sz="1600" b="0" dirty="0" err="1">
                <a:solidFill>
                  <a:srgbClr val="2D3748"/>
                </a:solidFill>
                <a:latin typeface="Meiryo"/>
              </a:rPr>
              <a:t>テスト・受け入れ条件が最大の投資（曖昧ならループは回らない</a:t>
            </a:r>
            <a:r>
              <a:rPr sz="1600" b="0" dirty="0">
                <a:solidFill>
                  <a:srgbClr val="2D3748"/>
                </a:solidFill>
                <a:latin typeface="Meiryo"/>
              </a:rPr>
              <a:t>）</a:t>
            </a:r>
          </a:p>
          <a:p>
            <a:r>
              <a:rPr sz="1600" dirty="0">
                <a:solidFill>
                  <a:srgbClr val="1E2761"/>
                </a:solidFill>
                <a:latin typeface="Meiryo"/>
              </a:rPr>
              <a:t>2. </a:t>
            </a:r>
            <a:r>
              <a:rPr sz="1600" b="1" dirty="0" err="1">
                <a:solidFill>
                  <a:srgbClr val="2D3748"/>
                </a:solidFill>
                <a:latin typeface="Meiryo"/>
              </a:rPr>
              <a:t>自動化・定期化</a:t>
            </a:r>
            <a:r>
              <a:rPr sz="1600" b="0" dirty="0">
                <a:solidFill>
                  <a:srgbClr val="2D3748"/>
                </a:solidFill>
                <a:latin typeface="Meiryo"/>
              </a:rPr>
              <a:t> ― </a:t>
            </a:r>
            <a:r>
              <a:rPr sz="1600" b="0" dirty="0" err="1">
                <a:solidFill>
                  <a:srgbClr val="2D3748"/>
                </a:solidFill>
                <a:latin typeface="Meiryo"/>
              </a:rPr>
              <a:t>CI＋テストで毎回シグナルが届く状態に（可読性は</a:t>
            </a:r>
            <a:r>
              <a:rPr sz="1600" b="0" dirty="0">
                <a:solidFill>
                  <a:srgbClr val="2D3748"/>
                </a:solidFill>
                <a:latin typeface="Meiryo"/>
              </a:rPr>
              <a:t> LLM-as-judge </a:t>
            </a:r>
            <a:r>
              <a:rPr sz="1600" b="0" dirty="0" err="1">
                <a:solidFill>
                  <a:srgbClr val="2D3748"/>
                </a:solidFill>
                <a:latin typeface="Meiryo"/>
              </a:rPr>
              <a:t>も</a:t>
            </a:r>
            <a:r>
              <a:rPr sz="1600" b="0" dirty="0">
                <a:solidFill>
                  <a:srgbClr val="2D3748"/>
                </a:solidFill>
                <a:latin typeface="Meiryo"/>
              </a:rPr>
              <a:t>）</a:t>
            </a:r>
          </a:p>
          <a:p>
            <a:r>
              <a:rPr sz="1600" dirty="0">
                <a:solidFill>
                  <a:srgbClr val="1E2761"/>
                </a:solidFill>
                <a:latin typeface="Meiryo"/>
              </a:rPr>
              <a:t>3. </a:t>
            </a:r>
            <a:r>
              <a:rPr sz="1600" b="1" dirty="0" err="1">
                <a:solidFill>
                  <a:srgbClr val="2D3748"/>
                </a:solidFill>
                <a:latin typeface="Meiryo"/>
              </a:rPr>
              <a:t>過学習を防ぐ</a:t>
            </a:r>
            <a:r>
              <a:rPr sz="1600" b="0" dirty="0">
                <a:solidFill>
                  <a:srgbClr val="2D3748"/>
                </a:solidFill>
                <a:latin typeface="Meiryo"/>
              </a:rPr>
              <a:t> ― 1 </a:t>
            </a:r>
            <a:r>
              <a:rPr sz="1600" b="0" dirty="0" err="1">
                <a:solidFill>
                  <a:srgbClr val="2D3748"/>
                </a:solidFill>
                <a:latin typeface="Meiryo"/>
              </a:rPr>
              <a:t>テストだけ通す“決め打ち”を弾く／教訓は汎化できる時だけ規約化</a:t>
            </a:r>
            <a:endParaRPr sz="1600" b="0" dirty="0">
              <a:solidFill>
                <a:srgbClr val="2D3748"/>
              </a:solidFill>
              <a:latin typeface="Meiryo"/>
            </a:endParaRPr>
          </a:p>
          <a:p>
            <a:r>
              <a:rPr sz="1600" dirty="0">
                <a:solidFill>
                  <a:srgbClr val="1E2761"/>
                </a:solidFill>
                <a:latin typeface="Meiryo"/>
              </a:rPr>
              <a:t>4. </a:t>
            </a:r>
            <a:r>
              <a:rPr sz="1600" b="1" dirty="0" err="1">
                <a:solidFill>
                  <a:srgbClr val="2D3748"/>
                </a:solidFill>
                <a:latin typeface="Meiryo"/>
              </a:rPr>
              <a:t>人間は</a:t>
            </a:r>
            <a:r>
              <a:rPr sz="1600" b="1" dirty="0">
                <a:solidFill>
                  <a:srgbClr val="2D3748"/>
                </a:solidFill>
                <a:latin typeface="Meiryo"/>
              </a:rPr>
              <a:t> PR </a:t>
            </a:r>
            <a:r>
              <a:rPr sz="1600" b="1" dirty="0" err="1">
                <a:solidFill>
                  <a:srgbClr val="2D3748"/>
                </a:solidFill>
                <a:latin typeface="Meiryo"/>
              </a:rPr>
              <a:t>で最終マージ・分離と安全</a:t>
            </a:r>
            <a:r>
              <a:rPr sz="1600" b="0" dirty="0">
                <a:solidFill>
                  <a:srgbClr val="2D3748"/>
                </a:solidFill>
                <a:latin typeface="Meiryo"/>
              </a:rPr>
              <a:t> ― </a:t>
            </a:r>
            <a:r>
              <a:rPr sz="1600" b="0" dirty="0" err="1">
                <a:solidFill>
                  <a:srgbClr val="2D3748"/>
                </a:solidFill>
                <a:latin typeface="Meiryo"/>
              </a:rPr>
              <a:t>worktree</a:t>
            </a:r>
            <a:r>
              <a:rPr sz="1600" b="0" dirty="0">
                <a:solidFill>
                  <a:srgbClr val="2D3748"/>
                </a:solidFill>
                <a:latin typeface="Meiryo"/>
              </a:rPr>
              <a:t> </a:t>
            </a:r>
            <a:r>
              <a:rPr sz="1600" b="0" dirty="0" err="1">
                <a:solidFill>
                  <a:srgbClr val="2D3748"/>
                </a:solidFill>
                <a:latin typeface="Meiryo"/>
              </a:rPr>
              <a:t>隔離、自動マージ</a:t>
            </a:r>
            <a:r>
              <a:rPr sz="1600" b="0" dirty="0">
                <a:solidFill>
                  <a:srgbClr val="2D3748"/>
                </a:solidFill>
                <a:latin typeface="Meiryo"/>
              </a:rPr>
              <a:t>/</a:t>
            </a:r>
            <a:r>
              <a:rPr sz="1600" b="0" dirty="0" err="1">
                <a:solidFill>
                  <a:srgbClr val="2D3748"/>
                </a:solidFill>
                <a:latin typeface="Meiryo"/>
              </a:rPr>
              <a:t>デプロイ禁止</a:t>
            </a:r>
            <a:endParaRPr sz="1600" b="0" dirty="0">
              <a:solidFill>
                <a:srgbClr val="2D3748"/>
              </a:solidFill>
              <a:latin typeface="Meiryo"/>
            </a:endParaRP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E888873F-8FD4-0379-A3D1-FA250591FEE9}"/>
              </a:ext>
            </a:extLst>
          </p:cNvPr>
          <p:cNvSpPr/>
          <p:nvPr/>
        </p:nvSpPr>
        <p:spPr>
          <a:xfrm>
            <a:off x="221876" y="4305327"/>
            <a:ext cx="7910151" cy="404622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/>
            <a:r>
              <a:rPr sz="1400" b="0" i="1" dirty="0" err="1">
                <a:solidFill>
                  <a:srgbClr val="64748B"/>
                </a:solidFill>
                <a:latin typeface="Meiryo"/>
              </a:rPr>
              <a:t>一言</a:t>
            </a:r>
            <a:r>
              <a:rPr sz="1400" b="0" i="1" dirty="0">
                <a:solidFill>
                  <a:srgbClr val="64748B"/>
                </a:solidFill>
                <a:latin typeface="Meiryo"/>
              </a:rPr>
              <a:t>: </a:t>
            </a:r>
            <a:r>
              <a:rPr sz="1400" b="1" i="1" dirty="0">
                <a:solidFill>
                  <a:srgbClr val="64748B"/>
                </a:solidFill>
                <a:latin typeface="Meiryo"/>
              </a:rPr>
              <a:t>「</a:t>
            </a:r>
            <a:r>
              <a:rPr sz="1400" b="1" i="1" dirty="0" err="1">
                <a:solidFill>
                  <a:srgbClr val="64748B"/>
                </a:solidFill>
                <a:latin typeface="Meiryo"/>
              </a:rPr>
              <a:t>テストが</a:t>
            </a:r>
            <a:r>
              <a:rPr sz="1400" b="1" i="1" dirty="0">
                <a:solidFill>
                  <a:srgbClr val="64748B"/>
                </a:solidFill>
                <a:latin typeface="Meiryo"/>
              </a:rPr>
              <a:t> </a:t>
            </a:r>
            <a:r>
              <a:rPr sz="1400" b="1" i="1" dirty="0" err="1">
                <a:solidFill>
                  <a:srgbClr val="64748B"/>
                </a:solidFill>
                <a:latin typeface="Meiryo"/>
              </a:rPr>
              <a:t>gold_standard、CI</a:t>
            </a:r>
            <a:r>
              <a:rPr sz="1400" b="1" i="1" dirty="0">
                <a:solidFill>
                  <a:srgbClr val="64748B"/>
                </a:solidFill>
                <a:latin typeface="Meiryo"/>
              </a:rPr>
              <a:t> </a:t>
            </a:r>
            <a:r>
              <a:rPr sz="1400" b="1" i="1" dirty="0" err="1">
                <a:solidFill>
                  <a:srgbClr val="64748B"/>
                </a:solidFill>
                <a:latin typeface="Meiryo"/>
              </a:rPr>
              <a:t>が教師データ配信、PR</a:t>
            </a:r>
            <a:r>
              <a:rPr sz="1400" b="1" i="1" dirty="0">
                <a:solidFill>
                  <a:srgbClr val="64748B"/>
                </a:solidFill>
                <a:latin typeface="Meiryo"/>
              </a:rPr>
              <a:t> </a:t>
            </a:r>
            <a:r>
              <a:rPr sz="1400" b="1" i="1" dirty="0" err="1">
                <a:solidFill>
                  <a:srgbClr val="64748B"/>
                </a:solidFill>
                <a:latin typeface="Meiryo"/>
              </a:rPr>
              <a:t>レビューが</a:t>
            </a:r>
            <a:r>
              <a:rPr lang="ja-JP" altLang="en-US" sz="1400" b="1" i="1">
                <a:solidFill>
                  <a:srgbClr val="64748B"/>
                </a:solidFill>
                <a:latin typeface="Meiryo"/>
              </a:rPr>
              <a:t>フィードバック</a:t>
            </a:r>
            <a:r>
              <a:rPr sz="1400" b="1" i="1" dirty="0">
                <a:solidFill>
                  <a:srgbClr val="64748B"/>
                </a:solidFill>
                <a:latin typeface="Meiryo"/>
              </a:rPr>
              <a:t>」</a:t>
            </a:r>
            <a:r>
              <a:rPr sz="1400" b="0" i="1" dirty="0">
                <a:solidFill>
                  <a:srgbClr val="64748B"/>
                </a:solidFill>
                <a:latin typeface="Meiryo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5865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0310C4-2240-C542-A275-147350A01C80}"/>
              </a:ext>
            </a:extLst>
          </p:cNvPr>
          <p:cNvSpPr txBox="1"/>
          <p:nvPr/>
        </p:nvSpPr>
        <p:spPr>
          <a:xfrm>
            <a:off x="379562" y="266700"/>
            <a:ext cx="9057736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具体例 </a:t>
            </a:r>
            <a:r>
              <a:rPr lang="en-US" altLang="ja-JP" sz="2800" b="1" dirty="0">
                <a:solidFill>
                  <a:srgbClr val="1E2761"/>
                </a:solidFill>
              </a:rPr>
              <a:t>― </a:t>
            </a:r>
            <a:r>
              <a:rPr lang="ja-JP" altLang="en-US" sz="2800" b="1">
                <a:solidFill>
                  <a:srgbClr val="1E2761"/>
                </a:solidFill>
              </a:rPr>
              <a:t>自身のコードで </a:t>
            </a:r>
            <a:r>
              <a:rPr lang="en-US" altLang="ja-JP" sz="2800" b="1" dirty="0">
                <a:solidFill>
                  <a:srgbClr val="1E2761"/>
                </a:solidFill>
              </a:rPr>
              <a:t>1 </a:t>
            </a:r>
            <a:r>
              <a:rPr lang="ja-JP" altLang="en-US" sz="2800" b="1">
                <a:solidFill>
                  <a:srgbClr val="1E2761"/>
                </a:solidFill>
              </a:rPr>
              <a:t>サイクル回す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795617-82A1-274C-8DC6-D19A0412703B}"/>
              </a:ext>
            </a:extLst>
          </p:cNvPr>
          <p:cNvSpPr txBox="1"/>
          <p:nvPr/>
        </p:nvSpPr>
        <p:spPr>
          <a:xfrm>
            <a:off x="546099" y="723900"/>
            <a:ext cx="8494383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>
                <a:solidFill>
                  <a:srgbClr val="64748B"/>
                </a:solidFill>
              </a:rPr>
              <a:t>題材：</a:t>
            </a:r>
            <a:r>
              <a:rPr lang="en" altLang="ja-JP" sz="1500" dirty="0" err="1">
                <a:solidFill>
                  <a:srgbClr val="64748B"/>
                </a:solidFill>
              </a:rPr>
              <a:t>fetch_prices.py</a:t>
            </a:r>
            <a:r>
              <a:rPr lang="en" altLang="ja-JP" sz="1500" dirty="0">
                <a:solidFill>
                  <a:srgbClr val="64748B"/>
                </a:solidFill>
              </a:rPr>
              <a:t> </a:t>
            </a:r>
            <a:r>
              <a:rPr lang="ja-JP" altLang="en-US" sz="1500">
                <a:solidFill>
                  <a:srgbClr val="64748B"/>
                </a:solidFill>
              </a:rPr>
              <a:t>に「</a:t>
            </a:r>
            <a:r>
              <a:rPr lang="en" altLang="ja-JP" sz="1500" dirty="0">
                <a:solidFill>
                  <a:srgbClr val="64748B"/>
                </a:solidFill>
              </a:rPr>
              <a:t>LME </a:t>
            </a:r>
            <a:r>
              <a:rPr lang="ja-JP" altLang="en-US" sz="1500">
                <a:solidFill>
                  <a:srgbClr val="64748B"/>
                </a:solidFill>
              </a:rPr>
              <a:t>銅在庫の取得」を足す（自分の道具を自分のループで育てる）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34F6B346-42BB-374B-8535-E72AEE8C1C36}"/>
              </a:ext>
            </a:extLst>
          </p:cNvPr>
          <p:cNvSpPr/>
          <p:nvPr/>
        </p:nvSpPr>
        <p:spPr>
          <a:xfrm>
            <a:off x="546100" y="1066800"/>
            <a:ext cx="8115300" cy="4699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2A0FB340-1989-D44A-BD20-9BECCFCABD77}"/>
              </a:ext>
            </a:extLst>
          </p:cNvPr>
          <p:cNvSpPr/>
          <p:nvPr/>
        </p:nvSpPr>
        <p:spPr>
          <a:xfrm>
            <a:off x="622300" y="1136650"/>
            <a:ext cx="330200" cy="3302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FFFFFF"/>
                </a:solidFill>
              </a:rPr>
              <a:t>①</a:t>
            </a:r>
            <a:endParaRPr lang="ja-JP" altLang="en-US" sz="1300" b="1">
              <a:solidFill>
                <a:srgbClr val="FFFFFF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A3D568-6DFA-FE40-AA25-C4420A5B0D4B}"/>
              </a:ext>
            </a:extLst>
          </p:cNvPr>
          <p:cNvSpPr txBox="1"/>
          <p:nvPr/>
        </p:nvSpPr>
        <p:spPr>
          <a:xfrm>
            <a:off x="1092200" y="11049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50" b="1">
                <a:solidFill>
                  <a:srgbClr val="1E2761"/>
                </a:solidFill>
              </a:rPr>
              <a:t>gold_standard </a:t>
            </a:r>
            <a:r>
              <a:rPr lang="ja-JP" altLang="en-US" sz="1350" b="1">
                <a:solidFill>
                  <a:srgbClr val="1E2761"/>
                </a:solidFill>
              </a:rPr>
              <a:t>を書く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6AC6BB6-4C1E-1946-848F-2D2F2EB5E128}"/>
              </a:ext>
            </a:extLst>
          </p:cNvPr>
          <p:cNvSpPr txBox="1"/>
          <p:nvPr/>
        </p:nvSpPr>
        <p:spPr>
          <a:xfrm>
            <a:off x="1092200" y="1308100"/>
            <a:ext cx="1905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64748B"/>
                </a:solidFill>
              </a:rPr>
              <a:t>（テスト先行）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25777C9-B7FA-E845-8297-8E85A66D739E}"/>
              </a:ext>
            </a:extLst>
          </p:cNvPr>
          <p:cNvSpPr txBox="1"/>
          <p:nvPr/>
        </p:nvSpPr>
        <p:spPr>
          <a:xfrm>
            <a:off x="3048000" y="1092200"/>
            <a:ext cx="5486400" cy="419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250">
                <a:solidFill>
                  <a:srgbClr val="2D3748"/>
                </a:solidFill>
              </a:rPr>
              <a:t>test_fetch_prices.py </a:t>
            </a:r>
            <a:r>
              <a:rPr lang="ja-JP" altLang="en-US" sz="1250">
                <a:solidFill>
                  <a:srgbClr val="2D3748"/>
                </a:solidFill>
              </a:rPr>
              <a:t>に「</a:t>
            </a:r>
            <a:r>
              <a:rPr lang="en" altLang="ja-JP" sz="1250">
                <a:solidFill>
                  <a:srgbClr val="2D3748"/>
                </a:solidFill>
              </a:rPr>
              <a:t>LME </a:t>
            </a:r>
            <a:r>
              <a:rPr lang="ja-JP" altLang="en-US" sz="1250">
                <a:solidFill>
                  <a:srgbClr val="2D3748"/>
                </a:solidFill>
              </a:rPr>
              <a:t>銅在庫を取得し、欠損時は </a:t>
            </a:r>
            <a:r>
              <a:rPr lang="en" altLang="ja-JP" sz="1250">
                <a:solidFill>
                  <a:srgbClr val="2D3748"/>
                </a:solidFill>
              </a:rPr>
              <a:t>WARN</a:t>
            </a:r>
            <a:r>
              <a:rPr lang="ja-JP" altLang="en" sz="1250">
                <a:solidFill>
                  <a:srgbClr val="2D3748"/>
                </a:solidFill>
              </a:rPr>
              <a:t>」</a:t>
            </a:r>
            <a:r>
              <a:rPr lang="ja-JP" altLang="en-US" sz="1250">
                <a:solidFill>
                  <a:srgbClr val="2D3748"/>
                </a:solidFill>
              </a:rPr>
              <a:t>を </a:t>
            </a:r>
            <a:r>
              <a:rPr lang="en" altLang="ja-JP" sz="1250">
                <a:solidFill>
                  <a:srgbClr val="2D3748"/>
                </a:solidFill>
              </a:rPr>
              <a:t>assert</a:t>
            </a:r>
            <a:endParaRPr lang="ja-JP" altLang="en-US" sz="1250">
              <a:solidFill>
                <a:srgbClr val="2D3748"/>
              </a:solidFill>
            </a:endParaRP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47B853EE-FC60-4A4C-AFDB-4069A07D575C}"/>
              </a:ext>
            </a:extLst>
          </p:cNvPr>
          <p:cNvSpPr/>
          <p:nvPr/>
        </p:nvSpPr>
        <p:spPr>
          <a:xfrm>
            <a:off x="546100" y="1562100"/>
            <a:ext cx="8115300" cy="4699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A4CD5B58-CD84-F048-B6A4-E9112EF082C4}"/>
              </a:ext>
            </a:extLst>
          </p:cNvPr>
          <p:cNvSpPr/>
          <p:nvPr/>
        </p:nvSpPr>
        <p:spPr>
          <a:xfrm>
            <a:off x="622300" y="1631950"/>
            <a:ext cx="330200" cy="3302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FFFFFF"/>
                </a:solidFill>
              </a:rPr>
              <a:t>②</a:t>
            </a:r>
            <a:endParaRPr lang="ja-JP" altLang="en-US" sz="1300" b="1">
              <a:solidFill>
                <a:srgbClr val="FFFFFF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2DBEE96-C022-D742-B2B6-B8D626D152BA}"/>
              </a:ext>
            </a:extLst>
          </p:cNvPr>
          <p:cNvSpPr txBox="1"/>
          <p:nvPr/>
        </p:nvSpPr>
        <p:spPr>
          <a:xfrm>
            <a:off x="1092200" y="16002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50" b="1">
                <a:solidFill>
                  <a:srgbClr val="1E2761"/>
                </a:solidFill>
              </a:rPr>
              <a:t>生成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4EA6BCA-ED2E-0E46-9830-C4C966A68466}"/>
              </a:ext>
            </a:extLst>
          </p:cNvPr>
          <p:cNvSpPr txBox="1"/>
          <p:nvPr/>
        </p:nvSpPr>
        <p:spPr>
          <a:xfrm>
            <a:off x="1092200" y="1803400"/>
            <a:ext cx="1905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" sz="1100">
                <a:solidFill>
                  <a:srgbClr val="64748B"/>
                </a:solidFill>
              </a:rPr>
              <a:t>（</a:t>
            </a:r>
            <a:r>
              <a:rPr lang="en" altLang="ja-JP" sz="1100">
                <a:solidFill>
                  <a:srgbClr val="64748B"/>
                </a:solidFill>
              </a:rPr>
              <a:t>Generator </a:t>
            </a:r>
            <a:r>
              <a:rPr lang="ja-JP" altLang="en-US" sz="1100">
                <a:solidFill>
                  <a:srgbClr val="64748B"/>
                </a:solidFill>
              </a:rPr>
              <a:t>相当）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6837D1C-D1E6-2649-8BB2-CFB46796475A}"/>
              </a:ext>
            </a:extLst>
          </p:cNvPr>
          <p:cNvSpPr txBox="1"/>
          <p:nvPr/>
        </p:nvSpPr>
        <p:spPr>
          <a:xfrm>
            <a:off x="3048000" y="1587500"/>
            <a:ext cx="5486400" cy="419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250">
                <a:solidFill>
                  <a:srgbClr val="2D3748"/>
                </a:solidFill>
              </a:rPr>
              <a:t>Claude Code </a:t>
            </a:r>
            <a:r>
              <a:rPr lang="ja-JP" altLang="en-US" sz="1250">
                <a:solidFill>
                  <a:srgbClr val="2D3748"/>
                </a:solidFill>
              </a:rPr>
              <a:t>が実装を </a:t>
            </a:r>
            <a:r>
              <a:rPr lang="en" altLang="ja-JP" sz="1250">
                <a:solidFill>
                  <a:srgbClr val="2D3748"/>
                </a:solidFill>
              </a:rPr>
              <a:t>Edit / Agent </a:t>
            </a:r>
            <a:r>
              <a:rPr lang="ja-JP" altLang="en-US" sz="1250">
                <a:solidFill>
                  <a:srgbClr val="2D3748"/>
                </a:solidFill>
              </a:rPr>
              <a:t>で追加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FA861FBD-E114-E14E-B1C3-129F9EF2402A}"/>
              </a:ext>
            </a:extLst>
          </p:cNvPr>
          <p:cNvSpPr/>
          <p:nvPr/>
        </p:nvSpPr>
        <p:spPr>
          <a:xfrm>
            <a:off x="546100" y="2057400"/>
            <a:ext cx="8115300" cy="4699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A1F628DB-2F14-B040-835A-2280442E47FF}"/>
              </a:ext>
            </a:extLst>
          </p:cNvPr>
          <p:cNvSpPr/>
          <p:nvPr/>
        </p:nvSpPr>
        <p:spPr>
          <a:xfrm>
            <a:off x="622300" y="2127250"/>
            <a:ext cx="330200" cy="3302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FFFFFF"/>
                </a:solidFill>
              </a:rPr>
              <a:t>③</a:t>
            </a:r>
            <a:endParaRPr lang="ja-JP" altLang="en-US" sz="1300" b="1">
              <a:solidFill>
                <a:srgbClr val="FFFFFF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4C1B569-9F07-C04F-BF03-8616D3084158}"/>
              </a:ext>
            </a:extLst>
          </p:cNvPr>
          <p:cNvSpPr txBox="1"/>
          <p:nvPr/>
        </p:nvSpPr>
        <p:spPr>
          <a:xfrm>
            <a:off x="1092200" y="20955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50" b="1">
                <a:solidFill>
                  <a:srgbClr val="1E2761"/>
                </a:solidFill>
              </a:rPr>
              <a:t>検証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B4D2AB9-45F7-9D4A-B646-A608327E993A}"/>
              </a:ext>
            </a:extLst>
          </p:cNvPr>
          <p:cNvSpPr txBox="1"/>
          <p:nvPr/>
        </p:nvSpPr>
        <p:spPr>
          <a:xfrm>
            <a:off x="1092200" y="2298700"/>
            <a:ext cx="1905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" sz="1100">
                <a:solidFill>
                  <a:srgbClr val="64748B"/>
                </a:solidFill>
              </a:rPr>
              <a:t>（</a:t>
            </a:r>
            <a:r>
              <a:rPr lang="en" altLang="ja-JP" sz="1100">
                <a:solidFill>
                  <a:srgbClr val="64748B"/>
                </a:solidFill>
              </a:rPr>
              <a:t>Fact-Check</a:t>
            </a:r>
            <a:r>
              <a:rPr lang="ja-JP" altLang="en" sz="1100">
                <a:solidFill>
                  <a:srgbClr val="64748B"/>
                </a:solidFill>
              </a:rPr>
              <a:t>・</a:t>
            </a:r>
            <a:r>
              <a:rPr lang="en" altLang="ja-JP" sz="1100">
                <a:solidFill>
                  <a:srgbClr val="64748B"/>
                </a:solidFill>
              </a:rPr>
              <a:t>2</a:t>
            </a:r>
            <a:r>
              <a:rPr lang="ja-JP" altLang="en-US" sz="1100">
                <a:solidFill>
                  <a:srgbClr val="64748B"/>
                </a:solidFill>
              </a:rPr>
              <a:t>層）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3FD7D5F-C436-204B-A3F0-EA05D0FCBBB8}"/>
              </a:ext>
            </a:extLst>
          </p:cNvPr>
          <p:cNvSpPr txBox="1"/>
          <p:nvPr/>
        </p:nvSpPr>
        <p:spPr>
          <a:xfrm>
            <a:off x="3048000" y="2082800"/>
            <a:ext cx="5486400" cy="419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内部 </a:t>
            </a:r>
            <a:r>
              <a:rPr lang="en" altLang="ja-JP" sz="1250">
                <a:solidFill>
                  <a:srgbClr val="2D3748"/>
                </a:solidFill>
              </a:rPr>
              <a:t>ruff</a:t>
            </a:r>
            <a:r>
              <a:rPr lang="ja-JP" altLang="en" sz="1250">
                <a:solidFill>
                  <a:srgbClr val="2D3748"/>
                </a:solidFill>
              </a:rPr>
              <a:t>＋</a:t>
            </a:r>
            <a:r>
              <a:rPr lang="en" altLang="ja-JP" sz="1250">
                <a:solidFill>
                  <a:srgbClr val="2D3748"/>
                </a:solidFill>
              </a:rPr>
              <a:t>mypy</a:t>
            </a:r>
            <a:r>
              <a:rPr lang="ja-JP" altLang="en" sz="1250">
                <a:solidFill>
                  <a:srgbClr val="2D3748"/>
                </a:solidFill>
              </a:rPr>
              <a:t>＋</a:t>
            </a:r>
            <a:r>
              <a:rPr lang="en" altLang="ja-JP" sz="1250">
                <a:solidFill>
                  <a:srgbClr val="2D3748"/>
                </a:solidFill>
              </a:rPr>
              <a:t>pytest </a:t>
            </a:r>
            <a:r>
              <a:rPr lang="ja-JP" altLang="en" sz="1250">
                <a:solidFill>
                  <a:srgbClr val="2D3748"/>
                </a:solidFill>
              </a:rPr>
              <a:t>/ </a:t>
            </a:r>
            <a:r>
              <a:rPr lang="ja-JP" altLang="en-US" sz="1250">
                <a:solidFill>
                  <a:srgbClr val="2D3748"/>
                </a:solidFill>
              </a:rPr>
              <a:t>外部 実際に叩いて </a:t>
            </a:r>
            <a:r>
              <a:rPr lang="en" altLang="ja-JP" sz="1250">
                <a:solidFill>
                  <a:srgbClr val="2D3748"/>
                </a:solidFill>
              </a:rPr>
              <a:t>LME </a:t>
            </a:r>
            <a:r>
              <a:rPr lang="ja-JP" altLang="en-US" sz="1250">
                <a:solidFill>
                  <a:srgbClr val="2D3748"/>
                </a:solidFill>
              </a:rPr>
              <a:t>公表値と突合</a:t>
            </a: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987DFC94-B1AC-F046-8754-C011EC650395}"/>
              </a:ext>
            </a:extLst>
          </p:cNvPr>
          <p:cNvSpPr/>
          <p:nvPr/>
        </p:nvSpPr>
        <p:spPr>
          <a:xfrm>
            <a:off x="546100" y="2552700"/>
            <a:ext cx="8115300" cy="4699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98BC6FDC-E7F8-3949-B73D-98BB971FD190}"/>
              </a:ext>
            </a:extLst>
          </p:cNvPr>
          <p:cNvSpPr/>
          <p:nvPr/>
        </p:nvSpPr>
        <p:spPr>
          <a:xfrm>
            <a:off x="622300" y="2622550"/>
            <a:ext cx="330200" cy="3302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FFFFFF"/>
                </a:solidFill>
              </a:rPr>
              <a:t>④</a:t>
            </a:r>
            <a:endParaRPr lang="ja-JP" altLang="en-US" sz="1300" b="1">
              <a:solidFill>
                <a:srgbClr val="FFFFFF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7AF9C27-7F1C-8842-BA10-2680BFEBF0CE}"/>
              </a:ext>
            </a:extLst>
          </p:cNvPr>
          <p:cNvSpPr txBox="1"/>
          <p:nvPr/>
        </p:nvSpPr>
        <p:spPr>
          <a:xfrm>
            <a:off x="1092200" y="25908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50" b="1">
                <a:solidFill>
                  <a:srgbClr val="1E2761"/>
                </a:solidFill>
              </a:rPr>
              <a:t>PR</a:t>
            </a:r>
            <a:endParaRPr lang="ja-JP" altLang="en-US" sz="1350" b="1">
              <a:solidFill>
                <a:srgbClr val="1E276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C26243B-90F0-ED48-B3CC-0CB25FA04729}"/>
              </a:ext>
            </a:extLst>
          </p:cNvPr>
          <p:cNvSpPr txBox="1"/>
          <p:nvPr/>
        </p:nvSpPr>
        <p:spPr>
          <a:xfrm>
            <a:off x="1092200" y="2794000"/>
            <a:ext cx="1905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64748B"/>
                </a:solidFill>
              </a:rPr>
              <a:t>（メール下書き相当）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14856B5-6AC4-994B-AF74-700DBC323760}"/>
              </a:ext>
            </a:extLst>
          </p:cNvPr>
          <p:cNvSpPr txBox="1"/>
          <p:nvPr/>
        </p:nvSpPr>
        <p:spPr>
          <a:xfrm>
            <a:off x="3048000" y="2578100"/>
            <a:ext cx="5486400" cy="419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250">
                <a:solidFill>
                  <a:srgbClr val="2D3748"/>
                </a:solidFill>
              </a:rPr>
              <a:t>gh pr create → CI </a:t>
            </a:r>
            <a:r>
              <a:rPr lang="ja-JP" altLang="en-US" sz="1250">
                <a:solidFill>
                  <a:srgbClr val="2D3748"/>
                </a:solidFill>
              </a:rPr>
              <a:t>が回る。マージはしない＝人間承認</a:t>
            </a: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A1400CF1-D0C6-FB47-9DDC-4D6D0B4F20E4}"/>
              </a:ext>
            </a:extLst>
          </p:cNvPr>
          <p:cNvSpPr/>
          <p:nvPr/>
        </p:nvSpPr>
        <p:spPr>
          <a:xfrm>
            <a:off x="546100" y="3048000"/>
            <a:ext cx="8115300" cy="4699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5" name="円/楕円 24">
            <a:extLst>
              <a:ext uri="{FF2B5EF4-FFF2-40B4-BE49-F238E27FC236}">
                <a16:creationId xmlns:a16="http://schemas.microsoft.com/office/drawing/2014/main" id="{FD32150E-6BC2-F748-AF6F-6124CCA24762}"/>
              </a:ext>
            </a:extLst>
          </p:cNvPr>
          <p:cNvSpPr/>
          <p:nvPr/>
        </p:nvSpPr>
        <p:spPr>
          <a:xfrm>
            <a:off x="622300" y="3117850"/>
            <a:ext cx="330200" cy="3302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FFFFFF"/>
                </a:solidFill>
              </a:rPr>
              <a:t>⑤</a:t>
            </a:r>
            <a:endParaRPr lang="ja-JP" altLang="en-US" sz="1300" b="1">
              <a:solidFill>
                <a:srgbClr val="FFFFFF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F417A64-AE11-5E43-80AD-5F0BF4FE8635}"/>
              </a:ext>
            </a:extLst>
          </p:cNvPr>
          <p:cNvSpPr txBox="1"/>
          <p:nvPr/>
        </p:nvSpPr>
        <p:spPr>
          <a:xfrm>
            <a:off x="1092200" y="30861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50" b="1">
                <a:solidFill>
                  <a:srgbClr val="1E2761"/>
                </a:solidFill>
              </a:rPr>
              <a:t>レビュー </a:t>
            </a:r>
            <a:r>
              <a:rPr lang="en" altLang="ja-JP" sz="1350" b="1">
                <a:solidFill>
                  <a:srgbClr val="1E2761"/>
                </a:solidFill>
              </a:rPr>
              <a:t>FB</a:t>
            </a:r>
            <a:endParaRPr lang="ja-JP" altLang="en-US" sz="1350" b="1">
              <a:solidFill>
                <a:srgbClr val="1E2761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F9FCB0A-DA3F-A043-8525-13736D6A2867}"/>
              </a:ext>
            </a:extLst>
          </p:cNvPr>
          <p:cNvSpPr txBox="1"/>
          <p:nvPr/>
        </p:nvSpPr>
        <p:spPr>
          <a:xfrm>
            <a:off x="1092200" y="3289300"/>
            <a:ext cx="1905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64748B"/>
                </a:solidFill>
              </a:rPr>
              <a:t>（筆者 </a:t>
            </a:r>
            <a:r>
              <a:rPr lang="en" altLang="ja-JP" sz="1100">
                <a:solidFill>
                  <a:srgbClr val="64748B"/>
                </a:solidFill>
              </a:rPr>
              <a:t>FB </a:t>
            </a:r>
            <a:r>
              <a:rPr lang="ja-JP" altLang="en-US" sz="1100">
                <a:solidFill>
                  <a:srgbClr val="64748B"/>
                </a:solidFill>
              </a:rPr>
              <a:t>相当）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AA6FD4A-BA1E-6248-BE70-3D41606B6DF9}"/>
              </a:ext>
            </a:extLst>
          </p:cNvPr>
          <p:cNvSpPr txBox="1"/>
          <p:nvPr/>
        </p:nvSpPr>
        <p:spPr>
          <a:xfrm>
            <a:off x="3048000" y="3073400"/>
            <a:ext cx="5486400" cy="419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250">
                <a:solidFill>
                  <a:srgbClr val="2D3748"/>
                </a:solidFill>
              </a:rPr>
              <a:t>PR </a:t>
            </a:r>
            <a:r>
              <a:rPr lang="ja-JP" altLang="en-US" sz="1250">
                <a:solidFill>
                  <a:srgbClr val="2D3748"/>
                </a:solidFill>
              </a:rPr>
              <a:t>コメント「欠損判定が在庫</a:t>
            </a:r>
            <a:r>
              <a:rPr lang="en-US" altLang="ja-JP" sz="1250">
                <a:solidFill>
                  <a:srgbClr val="2D3748"/>
                </a:solidFill>
              </a:rPr>
              <a:t>0</a:t>
            </a:r>
            <a:r>
              <a:rPr lang="ja-JP" altLang="en-US" sz="1250">
                <a:solidFill>
                  <a:srgbClr val="2D3748"/>
                </a:solidFill>
              </a:rPr>
              <a:t>と区別できていない」を取り込み</a:t>
            </a:r>
          </a:p>
        </p:txBody>
      </p:sp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03154F01-5158-4443-96CD-CCDC746C7B23}"/>
              </a:ext>
            </a:extLst>
          </p:cNvPr>
          <p:cNvSpPr/>
          <p:nvPr/>
        </p:nvSpPr>
        <p:spPr>
          <a:xfrm>
            <a:off x="546100" y="3543300"/>
            <a:ext cx="8115300" cy="4699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id="{B31A0967-6E22-194C-AE10-7ED65B8A403D}"/>
              </a:ext>
            </a:extLst>
          </p:cNvPr>
          <p:cNvSpPr/>
          <p:nvPr/>
        </p:nvSpPr>
        <p:spPr>
          <a:xfrm>
            <a:off x="622300" y="3613150"/>
            <a:ext cx="330200" cy="3302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FFFFFF"/>
                </a:solidFill>
              </a:rPr>
              <a:t>⑥</a:t>
            </a:r>
            <a:endParaRPr lang="ja-JP" altLang="en-US" sz="1300" b="1">
              <a:solidFill>
                <a:srgbClr val="FFFFFF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92145D4-D5C3-8347-9A0D-F3DEECE0C35D}"/>
              </a:ext>
            </a:extLst>
          </p:cNvPr>
          <p:cNvSpPr txBox="1"/>
          <p:nvPr/>
        </p:nvSpPr>
        <p:spPr>
          <a:xfrm>
            <a:off x="1092200" y="35814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50" b="1">
                <a:solidFill>
                  <a:srgbClr val="1E2761"/>
                </a:solidFill>
              </a:rPr>
              <a:t>学習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6FD76AF-5BF6-1741-93B9-FC0ED202E54C}"/>
              </a:ext>
            </a:extLst>
          </p:cNvPr>
          <p:cNvSpPr txBox="1"/>
          <p:nvPr/>
        </p:nvSpPr>
        <p:spPr>
          <a:xfrm>
            <a:off x="1092200" y="3784600"/>
            <a:ext cx="1905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" sz="1100">
                <a:solidFill>
                  <a:srgbClr val="64748B"/>
                </a:solidFill>
              </a:rPr>
              <a:t>（</a:t>
            </a:r>
            <a:r>
              <a:rPr lang="en" altLang="ja-JP" sz="1100">
                <a:solidFill>
                  <a:srgbClr val="64748B"/>
                </a:solidFill>
              </a:rPr>
              <a:t>style_guide</a:t>
            </a:r>
            <a:r>
              <a:rPr lang="ja-JP" altLang="en-US" sz="1100">
                <a:solidFill>
                  <a:srgbClr val="64748B"/>
                </a:solidFill>
              </a:rPr>
              <a:t> 相当）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8E400B3-2D55-CC4C-A5A5-1BEBA8AD6920}"/>
              </a:ext>
            </a:extLst>
          </p:cNvPr>
          <p:cNvSpPr txBox="1"/>
          <p:nvPr/>
        </p:nvSpPr>
        <p:spPr>
          <a:xfrm>
            <a:off x="3048000" y="3568700"/>
            <a:ext cx="5486400" cy="4191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教訓「</a:t>
            </a:r>
            <a:r>
              <a:rPr lang="en" altLang="ja-JP" sz="1250">
                <a:solidFill>
                  <a:srgbClr val="2D3748"/>
                </a:solidFill>
              </a:rPr>
              <a:t>Yahoo/LME </a:t>
            </a:r>
            <a:r>
              <a:rPr lang="ja-JP" altLang="en-US" sz="1250">
                <a:solidFill>
                  <a:srgbClr val="2D3748"/>
                </a:solidFill>
              </a:rPr>
              <a:t>は限月・スナップショットでズレる→必ず外部照合」を </a:t>
            </a:r>
            <a:r>
              <a:rPr lang="en" altLang="ja-JP" sz="1250">
                <a:solidFill>
                  <a:srgbClr val="2D3748"/>
                </a:solidFill>
              </a:rPr>
              <a:t>repo </a:t>
            </a:r>
            <a:r>
              <a:rPr lang="ja-JP" altLang="en-US" sz="1250">
                <a:solidFill>
                  <a:srgbClr val="2D3748"/>
                </a:solidFill>
              </a:rPr>
              <a:t>規約に。</a:t>
            </a:r>
            <a:r>
              <a:rPr lang="en" altLang="ja-JP" sz="1250">
                <a:solidFill>
                  <a:srgbClr val="2D3748"/>
                </a:solidFill>
              </a:rPr>
              <a:t>Overfitting</a:t>
            </a:r>
            <a:r>
              <a:rPr lang="ja-JP" altLang="en-US" sz="1250">
                <a:solidFill>
                  <a:srgbClr val="2D3748"/>
                </a:solidFill>
              </a:rPr>
              <a:t>自問→</a:t>
            </a:r>
            <a:r>
              <a:rPr lang="en" altLang="ja-JP" sz="1250">
                <a:solidFill>
                  <a:srgbClr val="2D3748"/>
                </a:solidFill>
              </a:rPr>
              <a:t>YES</a:t>
            </a:r>
            <a:r>
              <a:rPr lang="ja-JP" altLang="en-US" sz="1250">
                <a:solidFill>
                  <a:srgbClr val="2D3748"/>
                </a:solidFill>
              </a:rPr>
              <a:t>で汎用化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96CE32F-BCC1-6041-BC6F-55AE20F504CC}"/>
              </a:ext>
            </a:extLst>
          </p:cNvPr>
          <p:cNvSpPr/>
          <p:nvPr/>
        </p:nvSpPr>
        <p:spPr>
          <a:xfrm>
            <a:off x="508000" y="4216400"/>
            <a:ext cx="8204200" cy="381000"/>
          </a:xfrm>
          <a:prstGeom prst="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150" b="1">
                <a:solidFill>
                  <a:srgbClr val="FFFFFF"/>
                </a:solidFill>
              </a:rPr>
              <a:t>gold_standard</a:t>
            </a:r>
            <a:r>
              <a:rPr lang="ja-JP" altLang="en" sz="1150" b="1">
                <a:solidFill>
                  <a:srgbClr val="FFFFFF"/>
                </a:solidFill>
              </a:rPr>
              <a:t>＝</a:t>
            </a:r>
            <a:r>
              <a:rPr lang="ja-JP" altLang="en-US" sz="1150" b="1">
                <a:solidFill>
                  <a:srgbClr val="FFFFFF"/>
                </a:solidFill>
              </a:rPr>
              <a:t>テスト/検証ゲート＝</a:t>
            </a:r>
            <a:r>
              <a:rPr lang="en" altLang="ja-JP" sz="1150" b="1">
                <a:solidFill>
                  <a:srgbClr val="FFFFFF"/>
                </a:solidFill>
              </a:rPr>
              <a:t>build→</a:t>
            </a:r>
            <a:r>
              <a:rPr lang="ja-JP" altLang="en-US" sz="1150" b="1">
                <a:solidFill>
                  <a:srgbClr val="FFFFFF"/>
                </a:solidFill>
              </a:rPr>
              <a:t>型→</a:t>
            </a:r>
            <a:r>
              <a:rPr lang="en" altLang="ja-JP" sz="1150" b="1">
                <a:solidFill>
                  <a:srgbClr val="FFFFFF"/>
                </a:solidFill>
              </a:rPr>
              <a:t>lint→test→</a:t>
            </a:r>
            <a:r>
              <a:rPr lang="ja-JP" altLang="en-US" sz="1150" b="1">
                <a:solidFill>
                  <a:srgbClr val="FFFFFF"/>
                </a:solidFill>
              </a:rPr>
              <a:t>実行/教師データ配信＝</a:t>
            </a:r>
            <a:r>
              <a:rPr lang="en" altLang="ja-JP" sz="1150" b="1">
                <a:solidFill>
                  <a:srgbClr val="FFFFFF"/>
                </a:solidFill>
              </a:rPr>
              <a:t>CI</a:t>
            </a:r>
            <a:r>
              <a:rPr lang="ja-JP" altLang="en" sz="1150" b="1">
                <a:solidFill>
                  <a:srgbClr val="FFFFFF"/>
                </a:solidFill>
              </a:rPr>
              <a:t>/</a:t>
            </a:r>
            <a:r>
              <a:rPr lang="ja-JP" altLang="en-US" sz="1150" b="1">
                <a:solidFill>
                  <a:srgbClr val="FFFFFF"/>
                </a:solidFill>
              </a:rPr>
              <a:t>メール</a:t>
            </a:r>
            <a:r>
              <a:rPr lang="en" altLang="ja-JP" sz="1150" b="1">
                <a:solidFill>
                  <a:srgbClr val="FFFFFF"/>
                </a:solidFill>
              </a:rPr>
              <a:t>FB</a:t>
            </a:r>
            <a:r>
              <a:rPr lang="ja-JP" altLang="en" sz="1150" b="1">
                <a:solidFill>
                  <a:srgbClr val="FFFFFF"/>
                </a:solidFill>
              </a:rPr>
              <a:t>＝</a:t>
            </a:r>
            <a:r>
              <a:rPr lang="en" altLang="ja-JP" sz="1150" b="1">
                <a:solidFill>
                  <a:srgbClr val="FFFFFF"/>
                </a:solidFill>
              </a:rPr>
              <a:t>PR </a:t>
            </a:r>
            <a:r>
              <a:rPr lang="ja-JP" altLang="en-US" sz="1150" b="1">
                <a:solidFill>
                  <a:srgbClr val="FFFFFF"/>
                </a:solidFill>
              </a:rPr>
              <a:t>レビュー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849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385036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20013D-FA1C-F440-A8C5-23237CDD4C77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自分のループを設計する ― 決める順番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4FF135-00C1-1441-A707-BEC0784102C3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>
                <a:solidFill>
                  <a:srgbClr val="64748B"/>
                </a:solidFill>
              </a:rPr>
              <a:t>この順に埋めれば"あす回せる"最小ループになる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4F65922F-6F96-174B-B7A6-89772A106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30364"/>
              </p:ext>
            </p:extLst>
          </p:nvPr>
        </p:nvGraphicFramePr>
        <p:xfrm>
          <a:off x="546100" y="1092200"/>
          <a:ext cx="8115300" cy="2629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58143292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10192595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77920471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00" b="1">
                          <a:solidFill>
                            <a:srgbClr val="FFFFFF"/>
                          </a:solidFill>
                        </a:rPr>
                        <a:t>順</a:t>
                      </a:r>
                    </a:p>
                  </a:txBody>
                  <a:tcPr marL="54864" marR="36576" marT="18288" marB="18288"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00" b="1">
                          <a:solidFill>
                            <a:srgbClr val="FFFFFF"/>
                          </a:solidFill>
                        </a:rPr>
                        <a:t>決めること</a:t>
                      </a:r>
                    </a:p>
                  </a:txBody>
                  <a:tcPr marL="54864" marR="36576" marT="18288" marB="18288"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00" b="1">
                          <a:solidFill>
                            <a:srgbClr val="FFFFFF"/>
                          </a:solidFill>
                        </a:rPr>
                        <a:t>Claude Code での実装</a:t>
                      </a:r>
                    </a:p>
                  </a:txBody>
                  <a:tcPr marL="54864" marR="36576" marT="18288" marB="18288" anchor="ctr"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1092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0">
                          <a:solidFill>
                            <a:srgbClr val="1E2761"/>
                          </a:solidFill>
                        </a:rPr>
                        <a:t>向き/不向きを判定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反復×機械検証可ならループ化（前スライド）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47945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0">
                          <a:solidFill>
                            <a:srgbClr val="1E2761"/>
                          </a:solidFill>
                        </a:rPr>
                        <a:t>合格条件を先に決める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テスト/受け入れ条件＝gold_standard。/goal の到達条件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58357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0">
                          <a:solidFill>
                            <a:srgbClr val="1E2761"/>
                          </a:solidFill>
                        </a:rPr>
                        <a:t>トリガー＋停止条件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Cron/CI/PR で起動＋回数・予算上限を同時に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52339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0">
                          <a:solidFill>
                            <a:srgbClr val="1E2761"/>
                          </a:solidFill>
                        </a:rPr>
                        <a:t>役割分担（作る≠評価）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別セッション/サブエージェント、worktree で並列隔離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2702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4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0">
                          <a:solidFill>
                            <a:srgbClr val="1E2761"/>
                          </a:solidFill>
                        </a:rPr>
                        <a:t>検証ゲート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build→test→e2e で"動かす"。通って初めて次へ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16861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0">
                          <a:solidFill>
                            <a:srgbClr val="1E2761"/>
                          </a:solidFill>
                        </a:rPr>
                        <a:t>学習＋自律度を1段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200" b="1">
                          <a:solidFill>
                            <a:srgbClr val="1E2761"/>
                          </a:solidFill>
                        </a:rPr>
                        <a:t>教訓を規約/メモリへ。承認を Lv0→1 へ1段だけ外す</a:t>
                      </a:r>
                    </a:p>
                  </a:txBody>
                  <a:tcPr marL="54864" marR="36576" marT="18288" marB="18288"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97447"/>
                  </a:ext>
                </a:extLst>
              </a:tr>
            </a:tbl>
          </a:graphicData>
        </a:graphic>
      </p:graphicFrame>
      <p:sp>
        <p:nvSpPr>
          <p:cNvPr id="6" name="角丸四角形 5">
            <a:extLst>
              <a:ext uri="{FF2B5EF4-FFF2-40B4-BE49-F238E27FC236}">
                <a16:creationId xmlns:a16="http://schemas.microsoft.com/office/drawing/2014/main" id="{36FA19AA-4F2F-5547-A86C-C674B9B238F8}"/>
              </a:ext>
            </a:extLst>
          </p:cNvPr>
          <p:cNvSpPr/>
          <p:nvPr/>
        </p:nvSpPr>
        <p:spPr>
          <a:xfrm>
            <a:off x="546100" y="3733800"/>
            <a:ext cx="8115300" cy="584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i="1">
                <a:solidFill>
                  <a:srgbClr val="2D3748"/>
                </a:solidFill>
              </a:rPr>
              <a:t>いきなり全部任せない。Lv0（読むだけ・送らない）から、合否を言語化できた分だけチェックポイントを外側へ。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0032610-D7C5-C84E-9EA9-7DE433897CB5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今日から始める </a:t>
            </a:r>
            <a:r>
              <a:rPr lang="en-US" altLang="ja-JP" sz="2800" b="1">
                <a:solidFill>
                  <a:srgbClr val="1E2761"/>
                </a:solidFill>
              </a:rPr>
              <a:t>3 </a:t>
            </a:r>
            <a:r>
              <a:rPr lang="ja-JP" altLang="en-US" sz="2800" b="1">
                <a:solidFill>
                  <a:srgbClr val="1E2761"/>
                </a:solidFill>
              </a:rPr>
              <a:t>ステップ（持ち帰り）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25A4F4-4A48-E04F-802E-8FB811AF9093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>
                <a:solidFill>
                  <a:srgbClr val="64748B"/>
                </a:solidFill>
              </a:rPr>
              <a:t>手で繰り返している作業を </a:t>
            </a:r>
            <a:r>
              <a:rPr lang="en-US" altLang="ja-JP" sz="1500">
                <a:solidFill>
                  <a:srgbClr val="64748B"/>
                </a:solidFill>
              </a:rPr>
              <a:t>1 </a:t>
            </a:r>
            <a:r>
              <a:rPr lang="ja-JP" altLang="en-US" sz="1500">
                <a:solidFill>
                  <a:srgbClr val="64748B"/>
                </a:solidFill>
              </a:rPr>
              <a:t>つ、ループにするところから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3D178AD9-943B-F54E-9CEA-CA795F127F1D}"/>
              </a:ext>
            </a:extLst>
          </p:cNvPr>
          <p:cNvSpPr/>
          <p:nvPr/>
        </p:nvSpPr>
        <p:spPr>
          <a:xfrm>
            <a:off x="546100" y="1269999"/>
            <a:ext cx="2603500" cy="1954363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FA419DBF-B986-BD4A-B2C8-DB8EE3B7D0F7}"/>
              </a:ext>
            </a:extLst>
          </p:cNvPr>
          <p:cNvSpPr/>
          <p:nvPr/>
        </p:nvSpPr>
        <p:spPr>
          <a:xfrm>
            <a:off x="1593850" y="1447800"/>
            <a:ext cx="508000" cy="5080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b="1">
                <a:solidFill>
                  <a:srgbClr val="FFFFFF"/>
                </a:solidFill>
              </a:rPr>
              <a:t>1</a:t>
            </a:r>
            <a:endParaRPr lang="ja-JP" altLang="en-US" b="1">
              <a:solidFill>
                <a:srgbClr val="FFFFFF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11D4943-0A54-E146-88E8-34CEAFBCACE0}"/>
              </a:ext>
            </a:extLst>
          </p:cNvPr>
          <p:cNvSpPr txBox="1"/>
          <p:nvPr/>
        </p:nvSpPr>
        <p:spPr>
          <a:xfrm>
            <a:off x="647700" y="2057400"/>
            <a:ext cx="24003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64748B"/>
                </a:solidFill>
              </a:rPr>
              <a:t>作業を </a:t>
            </a:r>
            <a:r>
              <a:rPr lang="en-US" altLang="ja-JP" sz="1500" b="1">
                <a:solidFill>
                  <a:srgbClr val="64748B"/>
                </a:solidFill>
              </a:rPr>
              <a:t>1 </a:t>
            </a:r>
            <a:r>
              <a:rPr lang="ja-JP" altLang="en-US" sz="1500" b="1">
                <a:solidFill>
                  <a:srgbClr val="64748B"/>
                </a:solidFill>
              </a:rPr>
              <a:t>つ選ぶ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BE57C91-ACCC-DE4C-AA43-C91C89C9258C}"/>
              </a:ext>
            </a:extLst>
          </p:cNvPr>
          <p:cNvSpPr txBox="1"/>
          <p:nvPr/>
        </p:nvSpPr>
        <p:spPr>
          <a:xfrm>
            <a:off x="698500" y="2387600"/>
            <a:ext cx="22987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おすすめは「テストが落ちる → 直す → 再テスト」の往復。合否が機械的に出る＝評価基準が最初からある。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0585FC69-8173-1A49-8847-C8281CE288D2}"/>
              </a:ext>
            </a:extLst>
          </p:cNvPr>
          <p:cNvSpPr/>
          <p:nvPr/>
        </p:nvSpPr>
        <p:spPr>
          <a:xfrm>
            <a:off x="3302000" y="1270000"/>
            <a:ext cx="2603500" cy="1954362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2998A492-CD8D-0840-971E-3BC7B61DEE78}"/>
              </a:ext>
            </a:extLst>
          </p:cNvPr>
          <p:cNvSpPr/>
          <p:nvPr/>
        </p:nvSpPr>
        <p:spPr>
          <a:xfrm>
            <a:off x="4349750" y="1447800"/>
            <a:ext cx="508000" cy="5080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b="1">
                <a:solidFill>
                  <a:srgbClr val="FFFFFF"/>
                </a:solidFill>
              </a:rPr>
              <a:t>2</a:t>
            </a:r>
            <a:endParaRPr lang="ja-JP" altLang="en-US" b="1">
              <a:solidFill>
                <a:srgbClr val="FFFFFF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3FF21F1-AFA1-DD43-B6BD-FF23A48F7571}"/>
              </a:ext>
            </a:extLst>
          </p:cNvPr>
          <p:cNvSpPr txBox="1"/>
          <p:nvPr/>
        </p:nvSpPr>
        <p:spPr>
          <a:xfrm>
            <a:off x="3403600" y="2057400"/>
            <a:ext cx="24003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64748B"/>
                </a:solidFill>
              </a:rPr>
              <a:t>停止条件を最初から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7220787-36CE-3843-B233-972E96832030}"/>
              </a:ext>
            </a:extLst>
          </p:cNvPr>
          <p:cNvSpPr txBox="1"/>
          <p:nvPr/>
        </p:nvSpPr>
        <p:spPr>
          <a:xfrm>
            <a:off x="3454400" y="2387600"/>
            <a:ext cx="22987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回数上限 ＋ 予算上限を必ず入れる。「後で」は禁物 </a:t>
            </a:r>
            <a:r>
              <a:rPr lang="en-US" altLang="ja-JP" sz="1250">
                <a:solidFill>
                  <a:srgbClr val="2D3748"/>
                </a:solidFill>
              </a:rPr>
              <a:t>― </a:t>
            </a:r>
            <a:r>
              <a:rPr lang="ja-JP" altLang="en-US" sz="1250">
                <a:solidFill>
                  <a:srgbClr val="2D3748"/>
                </a:solidFill>
              </a:rPr>
              <a:t>止め方なきループは請求書。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0C2DD44D-0DE8-3441-AF13-4920E2C30D9B}"/>
              </a:ext>
            </a:extLst>
          </p:cNvPr>
          <p:cNvSpPr/>
          <p:nvPr/>
        </p:nvSpPr>
        <p:spPr>
          <a:xfrm>
            <a:off x="6057900" y="1270000"/>
            <a:ext cx="2603500" cy="1954362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7E7CE7CF-79B4-7742-98E6-152114F1806A}"/>
              </a:ext>
            </a:extLst>
          </p:cNvPr>
          <p:cNvSpPr/>
          <p:nvPr/>
        </p:nvSpPr>
        <p:spPr>
          <a:xfrm>
            <a:off x="7105650" y="1447800"/>
            <a:ext cx="508000" cy="5080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b="1">
                <a:solidFill>
                  <a:srgbClr val="FFFFFF"/>
                </a:solidFill>
              </a:rPr>
              <a:t>3</a:t>
            </a:r>
            <a:endParaRPr lang="ja-JP" altLang="en-US" b="1">
              <a:solidFill>
                <a:srgbClr val="FFFFFF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8BF78F5-ED60-3642-BEB9-D8BB14E08B92}"/>
              </a:ext>
            </a:extLst>
          </p:cNvPr>
          <p:cNvSpPr txBox="1"/>
          <p:nvPr/>
        </p:nvSpPr>
        <p:spPr>
          <a:xfrm>
            <a:off x="6159500" y="2057400"/>
            <a:ext cx="24003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64748B"/>
                </a:solidFill>
              </a:rPr>
              <a:t>差分を毎回読む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6BFF3B1-F00E-2B49-B6F8-61008C957778}"/>
              </a:ext>
            </a:extLst>
          </p:cNvPr>
          <p:cNvSpPr txBox="1"/>
          <p:nvPr/>
        </p:nvSpPr>
        <p:spPr>
          <a:xfrm>
            <a:off x="6210300" y="2387600"/>
            <a:ext cx="22987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意図の負債を溜めない。生成が速くても、検証だけは手放さない。</a:t>
            </a:r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0EA43E5D-68E6-C143-9259-AD8FDEF3A2A0}"/>
              </a:ext>
            </a:extLst>
          </p:cNvPr>
          <p:cNvSpPr/>
          <p:nvPr/>
        </p:nvSpPr>
        <p:spPr>
          <a:xfrm>
            <a:off x="514350" y="3364302"/>
            <a:ext cx="81153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00" i="1">
                <a:solidFill>
                  <a:srgbClr val="2D3748"/>
                </a:solidFill>
              </a:rPr>
              <a:t>先輩の知恵：最初は「消さない・送らない」＝読むだけ・提案だけで回し、信頼できたら書き込みを許す。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3712ACC-B162-0949-A7F1-4502079CCEFC}"/>
              </a:ext>
            </a:extLst>
          </p:cNvPr>
          <p:cNvSpPr/>
          <p:nvPr/>
        </p:nvSpPr>
        <p:spPr>
          <a:xfrm>
            <a:off x="501650" y="4012240"/>
            <a:ext cx="8115300" cy="902659"/>
          </a:xfrm>
          <a:prstGeom prst="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50" b="1">
                <a:solidFill>
                  <a:srgbClr val="FFFFFF"/>
                </a:solidFill>
              </a:rPr>
              <a:t>一言 </a:t>
            </a:r>
            <a:r>
              <a:rPr lang="en-US" altLang="ja-JP" sz="1450" b="1" dirty="0">
                <a:solidFill>
                  <a:srgbClr val="FFFFFF"/>
                </a:solidFill>
              </a:rPr>
              <a:t>― </a:t>
            </a:r>
            <a:r>
              <a:rPr lang="ja-JP" altLang="en-US" sz="1450" b="1">
                <a:solidFill>
                  <a:srgbClr val="FFFFFF"/>
                </a:solidFill>
              </a:rPr>
              <a:t>評価基準（テスト）を先に、止め方を最初から、差分は手放さない。これだけで立派なループ。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392905749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Arial Black"/>
              </a:rPr>
              <a:t>KEY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C800"/>
                </a:solidFill>
                <a:latin typeface="Meiryo"/>
              </a:rPr>
              <a:t>「実装と検証をISSUEで繋ぐ」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持ち帰るチェック項目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42032"/>
            <a:ext cx="8229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C800"/>
                </a:solidFill>
                <a:latin typeface="Meiryo"/>
              </a:rPr>
              <a:t>□  </a:t>
            </a:r>
            <a:r>
              <a:rPr sz="1300" b="0">
                <a:solidFill>
                  <a:srgbClr val="CADCFC"/>
                </a:solidFill>
                <a:latin typeface="Meiryo"/>
              </a:rPr>
              <a:t>評価基準（テスト・受け入れ条件）を先に作る ＝ gold_standard。曖昧だとループは回らない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C800"/>
                </a:solidFill>
                <a:latin typeface="Meiryo"/>
              </a:rPr>
              <a:t>□  </a:t>
            </a:r>
            <a:r>
              <a:rPr sz="1300" b="0">
                <a:solidFill>
                  <a:srgbClr val="CADCFC"/>
                </a:solidFill>
                <a:latin typeface="Meiryo"/>
              </a:rPr>
              <a:t>止め方を最初から ― 回数・予算・進捗の停止条件をループに必ず組み込む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C800"/>
                </a:solidFill>
                <a:latin typeface="Meiryo"/>
              </a:rPr>
              <a:t>□  </a:t>
            </a:r>
            <a:r>
              <a:rPr sz="1300" b="0">
                <a:solidFill>
                  <a:srgbClr val="CADCFC"/>
                </a:solidFill>
                <a:latin typeface="Meiryo"/>
              </a:rPr>
              <a:t>実装役と検証役を分け、やりとりは ISSUE テキストに残す ― 差分は毎回読む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61104"/>
            <a:ext cx="8275320" cy="457200"/>
          </a:xfrm>
          <a:prstGeom prst="roundRect">
            <a:avLst/>
          </a:prstGeom>
          <a:solidFill>
            <a:srgbClr val="15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15968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Meiryo"/>
              </a:rPr>
              <a:t>シリーズ現在地：  </a:t>
            </a:r>
            <a:r>
              <a:rPr sz="1200" b="1">
                <a:solidFill>
                  <a:srgbClr val="FFFFFF"/>
                </a:solidFill>
                <a:latin typeface="Meiryo"/>
              </a:rPr>
              <a:t>第9回 開発へのループ応用 ✅　／　次回 第10回 ローカルLLM 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6634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CADCFC"/>
                </a:solidFill>
                <a:latin typeface="Arial"/>
              </a:rPr>
              <a:t>● ● ● ● ● ● ● ● ● 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Arial Black"/>
              </a:rPr>
              <a:t>NEXT  ▸  次回予告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731520" cy="5486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eiryo"/>
              </a:rPr>
              <a:t>第 10 回　ローカルLLM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46888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CADCFC"/>
                </a:solidFill>
                <a:latin typeface="Meiryo"/>
              </a:rPr>
              <a:t>機密・コスト・レイテンシの3観点で選ぶ ― クラウドの代替ではなく「補完」。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ADCFC"/>
                </a:solidFill>
                <a:latin typeface="Meiryo"/>
              </a:rPr>
              <a:t>シリーズ最終回。手元で動かす選択肢と、使い分けの判断軸を整理する。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800"/>
                </a:solidFill>
                <a:latin typeface="Meiryo"/>
              </a:rPr>
              <a:t>ご清聴ありがとうございました ―― 質疑応答へ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6634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CADCFC"/>
                </a:solidFill>
                <a:latin typeface="Arial"/>
              </a:rPr>
              <a:t>● ● ● ● ● ● ● ● ● 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1923429777]">
  <a:themeElements>
    <a:clrScheme name="Office">
      <a:dk1>
        <a:srgbClr val="191B0E"/>
      </a:dk1>
      <a:lt1>
        <a:srgbClr val="ECEAE0"/>
      </a:lt1>
      <a:dk2>
        <a:srgbClr val="3A3A2E"/>
      </a:dk2>
      <a:lt2>
        <a:srgbClr val="DCD9CF"/>
      </a:lt2>
      <a:accent1>
        <a:srgbClr val="897B61"/>
      </a:accent1>
      <a:accent2>
        <a:srgbClr val="8DAB8E"/>
      </a:accent2>
      <a:accent3>
        <a:srgbClr val="77A2BB"/>
      </a:accent3>
      <a:accent4>
        <a:srgbClr val="957A99"/>
      </a:accent4>
      <a:accent5>
        <a:srgbClr val="DCD9CF"/>
      </a:accent5>
      <a:accent6>
        <a:srgbClr val="6E7E63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81924381993]">
  <a:themeElements>
    <a:clrScheme name="Office">
      <a:dk1>
        <a:srgbClr val="191B0E"/>
      </a:dk1>
      <a:lt1>
        <a:srgbClr val="ECEAE0"/>
      </a:lt1>
      <a:dk2>
        <a:srgbClr val="3A3A2E"/>
      </a:dk2>
      <a:lt2>
        <a:srgbClr val="DCD9CF"/>
      </a:lt2>
      <a:accent1>
        <a:srgbClr val="897B61"/>
      </a:accent1>
      <a:accent2>
        <a:srgbClr val="8DAB8E"/>
      </a:accent2>
      <a:accent3>
        <a:srgbClr val="77A2BB"/>
      </a:accent3>
      <a:accent4>
        <a:srgbClr val="957A99"/>
      </a:accent4>
      <a:accent5>
        <a:srgbClr val="DCD9CF"/>
      </a:accent5>
      <a:accent6>
        <a:srgbClr val="6E7E63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F9FD34-723A-9B45-97BF-DD9CCF979820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9efad6d5-f46b-4c64-bb47-7c87188497c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23135</TotalTime>
  <Words>5907</Words>
  <Application>Microsoft Macintosh PowerPoint</Application>
  <PresentationFormat>画面に合わせる (16:9)</PresentationFormat>
  <Paragraphs>639</Paragraphs>
  <Slides>42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42</vt:i4>
      </vt:variant>
    </vt:vector>
  </HeadingPairs>
  <TitlesOfParts>
    <vt:vector size="47" baseType="lpstr">
      <vt:lpstr>Meiryo</vt:lpstr>
      <vt:lpstr>Arial</vt:lpstr>
      <vt:lpstr>Calibri</vt:lpstr>
      <vt:lpstr>Office Theme [1781923429777]</vt:lpstr>
      <vt:lpstr>Office Theme [1781924381993]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セミナー - 完全ガイド</dc:title>
  <dc:subject>PptxGenJS Presentation</dc:subject>
  <dc:creator>Koji</dc:creator>
  <cp:lastModifiedBy>晃司 土田</cp:lastModifiedBy>
  <cp:revision>17</cp:revision>
  <dcterms:created xsi:type="dcterms:W3CDTF">2026-03-08T02:08:26Z</dcterms:created>
  <dcterms:modified xsi:type="dcterms:W3CDTF">2026-06-25T21:46:17Z</dcterms:modified>
</cp:coreProperties>
</file>